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MEMORY · STRUCTURED EXTRACTION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600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 记忆最佳实践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48716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结构化数据抽取场景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 Agent 从一次抽取中学习，并在下一份文档中抽得更完整？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85800" y="4133088"/>
            <a:ext cx="10149840" cy="1051560"/>
          </a:xfrm>
          <a:prstGeom prst="roundRect">
            <a:avLst>
              <a:gd name="adj" fmla="val 6957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33088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核心：把 Review 中发现的遗漏模式与处理策略，转化为可复用的 Memory。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5559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496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基于真实工业文档抽取实验 · AgentCore Harness + EPISODIC Memory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85800" y="6419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结构化抽取真正难在哪里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难点不是生成合法 JSON，而是完整识别散落在不同载体中的“应该抽取的信息”。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49240" cy="3337560"/>
          </a:xfrm>
          <a:prstGeom prst="roundRect">
            <a:avLst>
              <a:gd name="adj" fmla="val 2192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6537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真实输入：正文 + 表格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94560"/>
            <a:ext cx="4983480" cy="2724912"/>
          </a:xfrm>
          <a:prstGeom prst="roundRect">
            <a:avLst>
              <a:gd name="adj" fmla="val 2685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67712"/>
            <a:ext cx="4764024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技术要求: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1. 所有尺寸单位为毫米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2. 未注公差按 GB/T 1804-m 级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3. 装配后转子应能灵活转动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序号 | 名称 | 数量 |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1 | 机座 | 1 |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| 2 | 前端盖 | 1 |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0488" y="1737360"/>
            <a:ext cx="5440680" cy="3337560"/>
          </a:xfrm>
          <a:prstGeom prst="roundRect">
            <a:avLst>
              <a:gd name="adj" fmla="val 2192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91656" y="1874520"/>
            <a:ext cx="5038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常见漏项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391656" y="2221992"/>
            <a:ext cx="5038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模型通常先抓住数值参数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91656" y="2679192"/>
            <a:ext cx="5038344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正文参数容易被识别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整张 BOM 可能被当成背景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附注与备注容易跳过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定性、流程、待确认要求不一定被视为指标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图片/OCR 内容存在不完整与冲突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32180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32180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真正的问题：Agent 如何知道自己漏了什么？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ROLE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应该在抽取回路中做什么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不是保存上一次答案，而是保存下一次任务可复用的抽取策略。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①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抽取草稿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当前文档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468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852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054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②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054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054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漏了什么？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754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138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40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③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340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可复用经验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340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形成策略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040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7424928" y="2057400"/>
            <a:ext cx="1874520" cy="1143000"/>
          </a:xfrm>
          <a:prstGeom prst="roundRect">
            <a:avLst>
              <a:gd name="adj" fmla="val 6400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626096" y="2194560"/>
            <a:ext cx="1472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④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7626096" y="2542032"/>
            <a:ext cx="1472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7626096" y="2999232"/>
            <a:ext cx="1472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session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26880" y="2350008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9710928" y="2057400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912096" y="2194560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⑤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9912096" y="2542032"/>
            <a:ext cx="1517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下一份文档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9912096" y="2999232"/>
            <a:ext cx="151790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复用经验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374904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68096" y="388620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容易漏什么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768096" y="423367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表格、附注、流程要求、图片限制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4379976" y="374904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81144" y="388620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应该检查什么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4581144" y="4233672"/>
            <a:ext cx="30266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覆盖、遗漏、格式、粒度、冲突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93024" y="3749040"/>
            <a:ext cx="3438144" cy="1417320"/>
          </a:xfrm>
          <a:prstGeom prst="roundRect">
            <a:avLst>
              <a:gd name="adj" fmla="val 516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394192" y="388620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下次怎么做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8394192" y="4233672"/>
            <a:ext cx="30358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先扫章节与表格，再按 next_actions 修订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66928" y="546811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2960" y="546811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的价值：复用 Review 得到的方法，而不是复读历史结果。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MAP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三个实验，回答三个不同问题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先判断学习信号是否有效，再生成托管 Memory，最后用留出文档验证跨 session 影响。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35181C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7452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实验一 · 学习信号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221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只看输出的抽象自省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679192"/>
            <a:ext cx="302666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问题：Agent 能否仅从自己的结果中发现真正遗漏？</a:t>
            </a:r>
            <a:endParaRPr lang="en-US" sz="1320" dirty="0"/>
          </a:p>
          <a:p>
            <a:pPr indent="0" marL="0">
              <a:buNone/>
            </a:pP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输入：已抽取结果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产物：15 条 canonical rules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观察：90 → 102，主要是拆分变细</a:t>
            </a:r>
            <a:endParaRPr lang="en-US" sz="1320" dirty="0"/>
          </a:p>
        </p:txBody>
      </p:sp>
      <p:sp>
        <p:nvSpPr>
          <p:cNvPr id="12" name="Shape 9"/>
          <p:cNvSpPr/>
          <p:nvPr/>
        </p:nvSpPr>
        <p:spPr>
          <a:xfrm>
            <a:off x="4379976" y="1737360"/>
            <a:ext cx="3429000" cy="3566160"/>
          </a:xfrm>
          <a:prstGeom prst="roundRect">
            <a:avLst>
              <a:gd name="adj" fmla="val 2133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81144" y="1874520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实验二 · Memory 生成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581144" y="2221992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 Self-review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581144" y="2679192"/>
            <a:ext cx="302666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问题：怎样产生可被 Memory System 提炼的高质量轨迹？</a:t>
            </a:r>
            <a:endParaRPr lang="en-US" sz="1320" dirty="0"/>
          </a:p>
          <a:p>
            <a:pPr indent="0" marL="0">
              <a:buNone/>
            </a:pP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Agent：原文 + 草稿自审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System：EPISODIC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产物：1 episode + 2 reflections</a:t>
            </a:r>
            <a:endParaRPr lang="en-US" sz="1320" dirty="0"/>
          </a:p>
        </p:txBody>
      </p:sp>
      <p:sp>
        <p:nvSpPr>
          <p:cNvPr id="16" name="Shape 13"/>
          <p:cNvSpPr/>
          <p:nvPr/>
        </p:nvSpPr>
        <p:spPr>
          <a:xfrm>
            <a:off x="8193024" y="1737360"/>
            <a:ext cx="3438144" cy="3566160"/>
          </a:xfrm>
          <a:prstGeom prst="roundRect">
            <a:avLst>
              <a:gd name="adj" fmla="val 2128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94192" y="18745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实验三 · 跨任务验证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394192" y="222199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留出文档开关对照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94192" y="2679192"/>
            <a:ext cx="3035808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问题：托管 Memory 是否改变下一份文档的抽取关注点？</a:t>
            </a:r>
            <a:endParaRPr lang="en-US" sz="1320" dirty="0"/>
          </a:p>
          <a:p>
            <a:pPr indent="0" marL="0">
              <a:buNone/>
            </a:pP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唯一变量：Memory 开关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结果：31 vs 11</a:t>
            </a:r>
            <a:endParaRPr lang="en-US" sz="1320" dirty="0"/>
          </a:p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主要差异：两张 BOM 的系统展开</a:t>
            </a:r>
            <a:endParaRPr lang="en-US" sz="1320" dirty="0"/>
          </a:p>
        </p:txBody>
      </p:sp>
      <p:sp>
        <p:nvSpPr>
          <p:cNvPr id="20" name="Shape 17"/>
          <p:cNvSpPr/>
          <p:nvPr/>
        </p:nvSpPr>
        <p:spPr>
          <a:xfrm>
            <a:off x="566928" y="550468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550468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主线：学习信号 → Memory 生成 → 留出文档验证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1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111556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01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2898648" y="1188720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抽象自省：只看输出能学到什么？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2926080" y="20574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先验证没有原文对照时，Agent 自己总结出的规则是否能稳定提升完整性。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127248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8408" y="3127248"/>
            <a:ext cx="10241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实验边界：这一段使用应用侧反思与规则合并，不是 AgentCore 内置 EPISODIC strategy。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1 · PROMPTS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尝试一：只看输出的抽象自省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最初的做法，是让模型从已经生成的抽取结果中总结通用规则。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373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真实反思 Prompt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94560"/>
            <a:ext cx="5029200" cy="2633472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267712"/>
            <a:ext cx="480974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你是「抽取经验提炼器」。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给你一次抽取结果，总结可复用于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同类文档的抽取规则：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每条必须可操作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只讲规则，不讲具体数值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不超过 10 条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17373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86537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真实 Consolidation Prompt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94560"/>
            <a:ext cx="5029200" cy="2633472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267712"/>
            <a:ext cx="480974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把「现有规则集 + 本轮新规则」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合并成一份规范规则集：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去重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不超过 15 条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每条必须可操作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只输出最终规则集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528523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28523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问题埋在输入里：模型只能总结“已经抽出来的内容”。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1 ·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抽象自省实际记住了什么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轮运行后，consolidation 形成一份包含 15 条规则的 canonical Memory。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1–5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设备主体识别：标题/首段的“容量+介质+设备类型”作为主体，全文统一。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整体性能归属：介质、容积、压力、温度、绝热等归“储罐整体”。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运输/交货独立：封存压力、气体、露点、封堵状态独立成条。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子系统/附件独立：增压器、安全装置、仪表、阀门、管口单独成部件。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多部件拆分：同句多个部件按部件拆分，保留完整原文。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34256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35424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6–10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535424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复合指标拆分：通径、压力、规格、数量、备注按指标分别成条。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 指标名称规范：同义属性统一；检测拆成标准、比例、技术等级、合格级别。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 管口/接口规格：保留原格式、不换算；DN 与压力等级分别抽取。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 阀门/仪表清单：规格与数量分条，附加说明另生成备注。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 材料分层：内罐、外罐、管道、阀门材料分别成条。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01584" y="1572768"/>
            <a:ext cx="3529584" cy="3730752"/>
          </a:xfrm>
          <a:prstGeom prst="roundRect">
            <a:avLst>
              <a:gd name="adj" fmla="val 2073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02752" y="1709928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规则 11–15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302752" y="2057400"/>
            <a:ext cx="3127248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 检测标准完整：标准编号、比例、技术等级、合格级别齐全；RT/PT 分条。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 工艺/结构要求：防涡、液封、双阀、清洁度、焊接结构独立抽取。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 限值符号保留：≤、≥、不少于等原样保留，范围上下限完整。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 功能/描述要求：无数值文本完整保留，不替换为空值或泛化词。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 原文溯源：保留编号和标点；OCR 错误可修特征，但原文不改。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550468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5528" y="550468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 轮抽取：90 → 93 → 95 → 102 条　|　15 条规则　|　53 个唯一原文　|　1.92 条/原文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1 · CONCLUSION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实验一结论：只看输出，发现不了整块遗漏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规则数量和输出条数都增加了，但学习信号无法看见没有进入结果的章节或表格。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78308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2024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类型 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267712"/>
            <a:ext cx="4946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源覆盖问题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24912"/>
            <a:ext cx="494690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定义：原文中出现了 X，但输出中没有 X。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整张 BOM 没抽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漏掉某个章节或附注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重复记录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字段为空或格式错误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可通过：原文 + 草稿的结构化自审发现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81928" y="1783080"/>
            <a:ext cx="5349240" cy="3474720"/>
          </a:xfrm>
          <a:prstGeom prst="roundRect">
            <a:avLst>
              <a:gd name="adj" fmla="val 2105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192024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类型 B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83096" y="2267712"/>
            <a:ext cx="49469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任务边界问题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83096" y="2724912"/>
            <a:ext cx="494690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定义：模型不知道 X 也属于抽取目标。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流程与见证要求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报告与交付文件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待确认事项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什么粒度算一条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需要：任务规范、Reviewer 或人工反馈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550468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504688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Self-review 能发现“漏了什么”；规范/Reviewer 决定“什么应该抽”。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9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111556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02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2898648" y="1188720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生成托管 Memory：让 Review 对照原文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2926080" y="20574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这一段只回答 Memory 如何生成：Harness Agent 产生结构化轨迹，Memory System 负责提炼。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127248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8408" y="3127248"/>
            <a:ext cx="10241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实验边界：源任务是 13 页液氮罐文档；结果是 1 条 episode 和 2 条 actor-level reflection。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2 · HARNESS AGENT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Agent：两阶段结构化 Self-review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两个阶段均由 Harness Agent 执行；产物写入同一 runtime session，等待 Memory System 后台提炼。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92224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· 阶段一 Prompt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121408"/>
            <a:ext cx="5074920" cy="3182112"/>
          </a:xfrm>
          <a:prstGeom prst="roundRect">
            <a:avLst>
              <a:gd name="adj" fmla="val 229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94560"/>
            <a:ext cx="4855464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先在内部形成完整抽取草稿，再审查草稿；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不要输出草稿。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"self_review": {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"coverage":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"omissions":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"format":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"granularity": {...},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  "next_actions": [...]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  }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}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6236208" y="1664208"/>
            <a:ext cx="5394960" cy="3794760"/>
          </a:xfrm>
          <a:prstGeom prst="roundRect">
            <a:avLst>
              <a:gd name="adj" fmla="val 1928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19088" y="17922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· 阶段二 Prompt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19088" y="2121408"/>
            <a:ext cx="5029200" cy="3182112"/>
          </a:xfrm>
          <a:prstGeom prst="roundRect">
            <a:avLst>
              <a:gd name="adj" fmla="val 2299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28816" y="2194560"/>
            <a:ext cx="4809744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读取原始文档和 self_review。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根据 next_actions 重新完成抽取，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并逐项复核：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coverage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omissions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format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· granularity</a:t>
            </a:r>
            <a:endParaRPr lang="en-US" sz="1120" dirty="0"/>
          </a:p>
          <a:p>
            <a:pPr indent="0" marL="0">
              <a:buNone/>
            </a:pP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只输出最终五字段 JSON。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566928" y="5650992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650992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执行主体：Harness Agent　|　产物：self_review + 最终 JSON　|　载体：同一 session events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2 · MEMORY SYSTEM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System：EPISODIC 提炼轨迹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AgentCore Memory 资源使用内置 EPISODIC strategy；后台异步处理 Harness Agent 产生的完整 session events。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Events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 + self_review + 最终 JSON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8986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33101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112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· EPISODIC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5112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Episode Extraction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5112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 turn 分析行为与结果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6418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053328" y="18288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54496" y="1965960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· EPISODIC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254496" y="2313432"/>
            <a:ext cx="1883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Consolidation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254496" y="277063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session-level episode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385048" y="2176272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8796528" y="182880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997696" y="196596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· EPISODIC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8997696" y="2313432"/>
            <a:ext cx="2432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Reflection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8997696" y="2770632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 actor-level 可复用策略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572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664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3800" dirty="0"/>
          </a:p>
        </p:txBody>
      </p:sp>
      <p:sp>
        <p:nvSpPr>
          <p:cNvPr id="29" name="Text 26"/>
          <p:cNvSpPr/>
          <p:nvPr/>
        </p:nvSpPr>
        <p:spPr>
          <a:xfrm>
            <a:off x="1664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session-level episode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001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93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3800" dirty="0"/>
          </a:p>
        </p:txBody>
      </p:sp>
      <p:sp>
        <p:nvSpPr>
          <p:cNvPr id="32" name="Text 29"/>
          <p:cNvSpPr/>
          <p:nvPr/>
        </p:nvSpPr>
        <p:spPr>
          <a:xfrm>
            <a:off x="5093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actor-level reflections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430768" y="3794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522208" y="394106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新 session</a:t>
            </a:r>
            <a:endParaRPr lang="en-US" sz="3800" dirty="0"/>
          </a:p>
        </p:txBody>
      </p:sp>
      <p:sp>
        <p:nvSpPr>
          <p:cNvPr id="35" name="Text 32"/>
          <p:cNvSpPr/>
          <p:nvPr/>
        </p:nvSpPr>
        <p:spPr>
          <a:xfrm>
            <a:off x="8522208" y="459943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自动检索并注入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Episode namespace: /episodes/{actorId}/{sessionId}　|　Reflection namespace: /episodes/{actorId}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2 · REAL MEMORY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AgentCore Memory System 实际生成的 Records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以下内容均由内置 EPISODIC strategy 异步生成，不是 Harness Agent 手工写入的规则。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64208"/>
            <a:ext cx="3657600" cy="3931920"/>
          </a:xfrm>
          <a:prstGeom prst="roundRect">
            <a:avLst>
              <a:gd name="adj" fmla="val 2000"/>
            </a:avLst>
          </a:prstGeom>
          <a:solidFill>
            <a:srgbClr val="0C34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801368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SYSTEM · EPISODE RECORD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68096" y="2148840"/>
            <a:ext cx="3255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两阶段流程设计有效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68096" y="2606040"/>
            <a:ext cx="325526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先输出 self_review 再执行修订，避免一次性处理复杂文档时遗漏问题。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 OCR 错误、章节跳号、重复表格和图片内容，分阶段结构化抽取是推荐模式。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不可完整提取的内容应显式说明限制。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453128" y="1664208"/>
            <a:ext cx="3520440" cy="3931920"/>
          </a:xfrm>
          <a:prstGeom prst="roundRect">
            <a:avLst>
              <a:gd name="adj" fmla="val 2078"/>
            </a:avLst>
          </a:prstGeom>
          <a:solidFill>
            <a:srgbClr val="2A2418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54296" y="1801368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SYSTEM · ACTOR REFLECTION 1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654296" y="2148840"/>
            <a:ext cx="3118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Two-Phase Structured Extraction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54296" y="2606040"/>
            <a:ext cx="311810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1: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coverage / omissions / format / granularity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Phase 2: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execute next_actions systematically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保留原文用于追溯。</a:t>
            </a:r>
            <a:endParaRPr lang="en-US" sz="1280" dirty="0"/>
          </a:p>
        </p:txBody>
      </p:sp>
      <p:sp>
        <p:nvSpPr>
          <p:cNvPr id="16" name="Shape 13"/>
          <p:cNvSpPr/>
          <p:nvPr/>
        </p:nvSpPr>
        <p:spPr>
          <a:xfrm>
            <a:off x="8202168" y="1664208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12331F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03336" y="1801368"/>
            <a:ext cx="3026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SYSTEM · ACTOR REFLECTION 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403336" y="2148840"/>
            <a:ext cx="3026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Inline Annotation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8403336" y="2606040"/>
            <a:ext cx="3026664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 OCR 错误或表格冲突时：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不静默丢弃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保留原文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标记冲突值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文档级限制写入 __META__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3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111556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03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2898648" y="1188720"/>
            <a:ext cx="8503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留出文档：只改变 Memory 开关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2926080" y="20574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源任务已经结束；现在换一份全新电机图纸，验证跨 session 召回是否改变抽取行为。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66928" y="3127248"/>
            <a:ext cx="11064240" cy="1508760"/>
          </a:xfrm>
          <a:prstGeom prst="roundRect">
            <a:avLst>
              <a:gd name="adj" fmla="val 4848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8408" y="3127248"/>
            <a:ext cx="10241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E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实验边界：两组目标调用配置相同；唯一变量是 Memory System 是否检索并注入 records。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3 · CONTROL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留出实验：目标端只改变 Memory 开关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目标抽取由 Harness Agent 完成；Memory System 只在 enabled 组负责自动检索并注入 records。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27632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755648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HARNESS AGENT · 目标抽取 Prompt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" y="2084832"/>
            <a:ext cx="5074920" cy="2953512"/>
          </a:xfrm>
          <a:prstGeom prst="roundRect">
            <a:avLst>
              <a:gd name="adj" fmla="val 2477"/>
            </a:avLst>
          </a:prstGeom>
          <a:solidFill>
            <a:srgbClr val="0B122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2157984"/>
            <a:ext cx="485546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根据用户文档抽取所有可识别的技术要求/参数。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每条输出：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设备主体 / 设备部件 / 指标名称 /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指标特征 / 原文。</a:t>
            </a:r>
            <a:endParaRPr lang="en-US" sz="1130" dirty="0"/>
          </a:p>
          <a:p>
            <a:pPr indent="0" marL="0">
              <a:buNone/>
            </a:pP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先在内部自审覆盖、遗漏、格式和粒度，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CFD9E4"/>
                </a:solidFill>
                <a:latin typeface="Amazon Ember Mono" pitchFamily="34" charset="0"/>
                <a:ea typeface="Amazon Ember Mono" pitchFamily="34" charset="-122"/>
                <a:cs typeface="Amazon Ember Mono" pitchFamily="34" charset="-120"/>
              </a:rPr>
              <a:t>再只输出最终合法 JSON。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236208" y="1627632"/>
            <a:ext cx="5394960" cy="3566160"/>
          </a:xfrm>
          <a:prstGeom prst="roundRect">
            <a:avLst>
              <a:gd name="adj" fmla="val 205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37376" y="1764792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控制变量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437376" y="2112264"/>
            <a:ext cx="49926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 配置相同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37376" y="2569464"/>
            <a:ext cx="4992624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同一测试文档与 system prompt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claude-sonnet-4-6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temperature=0 · maxTokens=32768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skills=[] · tools=[]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两组均使用全新 session</a:t>
            </a:r>
            <a:endParaRPr lang="en-US" sz="1330" dirty="0"/>
          </a:p>
          <a:p>
            <a:pPr indent="0" marL="0">
              <a:buNone/>
            </a:pP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组：EPISODIC retrieval enabled</a:t>
            </a:r>
            <a:endParaRPr lang="en-US" sz="1330" dirty="0"/>
          </a:p>
          <a:p>
            <a:pPr indent="0" marL="0">
              <a:buNone/>
            </a:pPr>
            <a:r>
              <a:rPr lang="en-US" sz="133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 Memory 组：Memory disabled</a:t>
            </a:r>
            <a:endParaRPr lang="en-US" sz="1330" dirty="0"/>
          </a:p>
        </p:txBody>
      </p:sp>
      <p:sp>
        <p:nvSpPr>
          <p:cNvPr id="16" name="Shape 13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执行主体：Harness Agent　|　实验变量：Memory System 是否检索并注入 source actor records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3 · KEY RESULT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15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重点结果：31 vs 11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两组都由 Harness Agent 输出；Memory 组在推理前接收了 Memory System 检索并注入的 records。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27632"/>
            <a:ext cx="443484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1773936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31 条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658368" y="243230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enabled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84648" y="1901952"/>
            <a:ext cx="1234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VS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6583680" y="1627632"/>
            <a:ext cx="4434840" cy="1234440"/>
          </a:xfrm>
          <a:prstGeom prst="roundRect">
            <a:avLst>
              <a:gd name="adj" fmla="val 5926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1773936"/>
            <a:ext cx="4251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11 条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6675120" y="2432304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disabled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090672"/>
            <a:ext cx="11064240" cy="987552"/>
          </a:xfrm>
          <a:prstGeom prst="roundRect">
            <a:avLst>
              <a:gd name="adj" fmla="val 7407"/>
            </a:avLst>
          </a:prstGeom>
          <a:solidFill>
            <a:srgbClr val="12331F"/>
          </a:solidFill>
          <a:ln w="10160">
            <a:solidFill>
              <a:srgbClr val="00E5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" y="3090672"/>
            <a:ext cx="10424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多出的 20 条主要来自两张 BOM：Memory 让 Agent 把零部件表和组件表系统展开。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66928" y="4315968"/>
            <a:ext cx="5358384" cy="1234440"/>
          </a:xfrm>
          <a:prstGeom prst="roundRect">
            <a:avLst>
              <a:gd name="adj" fmla="val 5926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4453128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组新增示例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768096" y="4800600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零部件表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" y="5257800"/>
            <a:ext cx="4956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机座 · 前端盖 · 转子 · 轴承</a:t>
            </a:r>
            <a:endParaRPr lang="en-US" sz="1320" dirty="0"/>
          </a:p>
        </p:txBody>
      </p:sp>
      <p:sp>
        <p:nvSpPr>
          <p:cNvPr id="21" name="Shape 18"/>
          <p:cNvSpPr/>
          <p:nvPr/>
        </p:nvSpPr>
        <p:spPr>
          <a:xfrm>
            <a:off x="6272784" y="4315968"/>
            <a:ext cx="5358384" cy="1234440"/>
          </a:xfrm>
          <a:prstGeom prst="roundRect">
            <a:avLst>
              <a:gd name="adj" fmla="val 5926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73952" y="4453128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E500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组新增示例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6473952" y="4800600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组件表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473952" y="5257800"/>
            <a:ext cx="4956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2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壳体组件 · 法兰盘组件 · 散热器组件</a:t>
            </a:r>
            <a:endParaRPr lang="en-US" sz="132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FF6A3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22960" y="562356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6A3D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人眼检查：新增条目基本有原文依据；结论是覆盖关注点扩大，不是“质量提升 3 倍”。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EXPERIMENT SYNTHESIS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三个实验合起来，结论才完整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抽象自省、Memory 生成和留出验证是三项独立实验，不是一个连续的“抽取方法二”。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64208"/>
          <a:ext cx="11064240" cy="3566160"/>
        </p:xfrm>
        <a:graphic>
          <a:graphicData uri="http://schemas.openxmlformats.org/drawingml/2006/table">
            <a:tbl>
              <a:tblPr/>
              <a:tblGrid>
                <a:gridCol w="1691640"/>
                <a:gridCol w="3063240"/>
                <a:gridCol w="3154680"/>
                <a:gridCol w="31546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实验一 · 学习信号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实验二 · Memory 生成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实验三 · 留出验证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3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只看输出能学到什么？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怎样产生可提炼轨迹？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 是否改变下一任务？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执行主体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应用侧 LLM 反思/合并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 Agent + Memory System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 Agent；Memory 开关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输入/变量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只有已抽取结果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+ 草稿 + self_review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同配置；只改变 Memory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实际产物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条 canonical rules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episode + 2 reflections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 条 vs 11 条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6A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90→102，主要拆分变细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形成覆盖/遗漏处理方法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00E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两张 BOM 被系统展开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结论边界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看不见整块遗漏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18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证明托管 Memory 可生成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34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CFD9E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证明关注点发生变化</a:t>
                      </a:r>
                      <a:endParaRPr lang="en-US" sz="12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E3B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1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22960" y="5440680"/>
            <a:ext cx="10552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统一结论：原文驱动的 Review 产生了可复用 Memory，并在留出文档上把 BOM 覆盖从零散变为系统展开。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1E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eft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6304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0" y="3657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BEST PRACTICES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66928" y="6473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C7E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亚马逊云科技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430000" y="64465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6A8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347472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结构化数据抽取的 Memory 最佳实践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00584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Memory 设计成可验证的学习回路，而不是无限累积的历史上下文。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66928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1773936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316736" y="171907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 · Review 看原文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16736" y="20391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不要只对输出做抽象总结。</a:t>
            </a:r>
            <a:endParaRPr lang="en-US" sz="1170" dirty="0"/>
          </a:p>
        </p:txBody>
      </p:sp>
      <p:sp>
        <p:nvSpPr>
          <p:cNvPr id="12" name="Shape 9"/>
          <p:cNvSpPr/>
          <p:nvPr/>
        </p:nvSpPr>
        <p:spPr>
          <a:xfrm>
            <a:off x="6236208" y="1600200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1773936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986016" y="171907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 · 输出 Artifact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986016" y="203911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coverage / omissions / format / granularity。</a:t>
            </a:r>
            <a:endParaRPr lang="en-US" sz="1170" dirty="0"/>
          </a:p>
        </p:txBody>
      </p:sp>
      <p:sp>
        <p:nvSpPr>
          <p:cNvPr id="16" name="Shape 13"/>
          <p:cNvSpPr/>
          <p:nvPr/>
        </p:nvSpPr>
        <p:spPr>
          <a:xfrm>
            <a:off x="566928" y="2633472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2807208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316736" y="27523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Agent · 产出动作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316736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生成明确、可执行的 next_actions。</a:t>
            </a:r>
            <a:endParaRPr lang="en-US" sz="1170" dirty="0"/>
          </a:p>
        </p:txBody>
      </p:sp>
      <p:sp>
        <p:nvSpPr>
          <p:cNvPr id="20" name="Shape 17"/>
          <p:cNvSpPr/>
          <p:nvPr/>
        </p:nvSpPr>
        <p:spPr>
          <a:xfrm>
            <a:off x="6236208" y="2633472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0" y="2807208"/>
            <a:ext cx="438912" cy="438912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986016" y="275234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任务设计 · 区分问题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986016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源覆盖可自审；任务边界需要规范或 Reviewer。</a:t>
            </a:r>
            <a:endParaRPr lang="en-US" sz="1170" dirty="0"/>
          </a:p>
        </p:txBody>
      </p:sp>
      <p:sp>
        <p:nvSpPr>
          <p:cNvPr id="24" name="Shape 21"/>
          <p:cNvSpPr/>
          <p:nvPr/>
        </p:nvSpPr>
        <p:spPr>
          <a:xfrm>
            <a:off x="566928" y="3666744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3840480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1316736" y="378561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内容 · 保存方法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1316736" y="4105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描述何时适用、检查什么、避免什么，不保存答案。</a:t>
            </a:r>
            <a:endParaRPr lang="en-US" sz="1170" dirty="0"/>
          </a:p>
        </p:txBody>
      </p:sp>
      <p:sp>
        <p:nvSpPr>
          <p:cNvPr id="28" name="Shape 25"/>
          <p:cNvSpPr/>
          <p:nvPr/>
        </p:nvSpPr>
        <p:spPr>
          <a:xfrm>
            <a:off x="6236208" y="3666744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0" y="3840480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986016" y="378561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System · 区分 Records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986016" y="410565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Episode 记录一次任务；Reflection 沉淀跨任务方法。</a:t>
            </a:r>
            <a:endParaRPr lang="en-US" sz="1170" dirty="0"/>
          </a:p>
        </p:txBody>
      </p:sp>
      <p:sp>
        <p:nvSpPr>
          <p:cNvPr id="32" name="Shape 29"/>
          <p:cNvSpPr/>
          <p:nvPr/>
        </p:nvSpPr>
        <p:spPr>
          <a:xfrm>
            <a:off x="566928" y="4700016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31520" y="4873752"/>
            <a:ext cx="438912" cy="438912"/>
          </a:xfrm>
          <a:prstGeom prst="ellipse">
            <a:avLst/>
          </a:prstGeom>
          <a:solidFill>
            <a:srgbClr val="FF6A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7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1316736" y="48188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Harness 配置 · 控制召回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1316736" y="5138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 topK、清理噪声、避免长 episode 撑爆上下文。</a:t>
            </a:r>
            <a:endParaRPr lang="en-US" sz="1170" dirty="0"/>
          </a:p>
        </p:txBody>
      </p:sp>
      <p:sp>
        <p:nvSpPr>
          <p:cNvPr id="36" name="Shape 33"/>
          <p:cNvSpPr/>
          <p:nvPr/>
        </p:nvSpPr>
        <p:spPr>
          <a:xfrm>
            <a:off x="6236208" y="4700016"/>
            <a:ext cx="5394960" cy="868680"/>
          </a:xfrm>
          <a:prstGeom prst="roundRect">
            <a:avLst>
              <a:gd name="adj" fmla="val 8421"/>
            </a:avLst>
          </a:prstGeom>
          <a:solidFill>
            <a:srgbClr val="1C2740"/>
          </a:solidFill>
          <a:ln w="10160">
            <a:solidFill>
              <a:srgbClr val="2E3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0" y="4873752"/>
            <a:ext cx="438912" cy="438912"/>
          </a:xfrm>
          <a:prstGeom prst="ellipse">
            <a:avLst/>
          </a:prstGeom>
          <a:solidFill>
            <a:srgbClr val="0073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8</a:t>
            </a:r>
            <a:endParaRPr lang="en-US" sz="1500" dirty="0"/>
          </a:p>
        </p:txBody>
      </p:sp>
      <p:sp>
        <p:nvSpPr>
          <p:cNvPr id="38" name="Text 35"/>
          <p:cNvSpPr/>
          <p:nvPr/>
        </p:nvSpPr>
        <p:spPr>
          <a:xfrm>
            <a:off x="6986016" y="48188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 · 人工校准</a:t>
            </a:r>
            <a:endParaRPr lang="en-US" sz="1450" dirty="0"/>
          </a:p>
        </p:txBody>
      </p:sp>
      <p:sp>
        <p:nvSpPr>
          <p:cNvPr id="39" name="Text 36"/>
          <p:cNvSpPr/>
          <p:nvPr/>
        </p:nvSpPr>
        <p:spPr>
          <a:xfrm>
            <a:off x="6986016" y="513892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70" dirty="0">
                <a:solidFill>
                  <a:srgbClr val="CFD9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分别检查忠实性、完整性、粒度与过度抽取。</a:t>
            </a:r>
            <a:endParaRPr lang="en-US" sz="1170" dirty="0"/>
          </a:p>
        </p:txBody>
      </p:sp>
      <p:sp>
        <p:nvSpPr>
          <p:cNvPr id="40" name="Shape 37"/>
          <p:cNvSpPr/>
          <p:nvPr/>
        </p:nvSpPr>
        <p:spPr>
          <a:xfrm>
            <a:off x="1664208" y="5650992"/>
            <a:ext cx="8869680" cy="502920"/>
          </a:xfrm>
          <a:prstGeom prst="roundRect">
            <a:avLst>
              <a:gd name="adj" fmla="val 14545"/>
            </a:avLst>
          </a:prstGeom>
          <a:solidFill>
            <a:srgbClr val="0B1220"/>
          </a:solidFill>
          <a:ln w="10160">
            <a:solidFill>
              <a:srgbClr val="42B4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920240" y="5650992"/>
            <a:ext cx="8357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42B4FF"/>
                </a:solidFill>
                <a:latin typeface="Amazon Ember Display" pitchFamily="34" charset="0"/>
                <a:ea typeface="Amazon Ember Display" pitchFamily="34" charset="-122"/>
                <a:cs typeface="Amazon Ember Display" pitchFamily="34" charset="-120"/>
              </a:rPr>
              <a:t>Memory 的价值不是记住历史答案，而是复用经过 Review 得到的抽取策略。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mazon Ember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亚马逊云科技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记忆最佳实践</dc:title>
  <dc:subject>Agent memory best practices for structured data extraction</dc:subject>
  <dc:creator>Amazon Web Services</dc:creator>
  <cp:lastModifiedBy>Amazon Web Services</cp:lastModifiedBy>
  <cp:revision>1</cp:revision>
  <dcterms:created xsi:type="dcterms:W3CDTF">2026-09-11T15:26:09Z</dcterms:created>
  <dcterms:modified xsi:type="dcterms:W3CDTF">2026-09-11T15:26:09Z</dcterms:modified>
</cp:coreProperties>
</file>