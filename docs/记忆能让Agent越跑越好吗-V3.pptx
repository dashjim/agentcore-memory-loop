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本次汇报讨论一个具体问题：在结构化数据抽取场景中，怎样设计 Harness Agent 的执行轨迹，才能让 AgentCore Memory System 形成可复用的经验，并在新文档中发挥作用。
本次实验包含两个连续环节：
• 实验一验证 Memory 如何形成：Application/Orchestrator 顺序调用 Harness Agent 完成两阶段结构化 Self-review；AgentCore Memory System 使用内置 EPISODIC strategy，从 source session events 中生成 session-level episode 和 actor-level reflection records。
• 实验二验证 Memory 如何使用：Application/Orchestrator 在留出文档上控制 Retrieval 开关；AgentCore Harness 只在 Memory 组把检索到的 EPISODIC records 注入目标 Harness Agent 的新 session。
最终观察是：目标 Harness Agent 在接收 Memory 上下文后输出 31 条记录；未接收 Memory 时输出 11 条。新增内容主要来自图纸中的两张 BOM。
过渡： 在解释这个结果之前，先明确结构化抽取真正困难的地方。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Agent 生成合法 JSON 并不困难，真正困难的是完整覆盖原文。
工业文档的信息可能分散在正文、技术要求、BOM 表格、附注、图纸说明和 OCR 结果中。Harness Agent 往往优先识别明显的参数和数值，却可能把整张 BOM、某个章节或图片区域当成背景材料。
因此，Harness Agent 输出的 JSON 即使格式正确，也可能只覆盖技术要求，没有覆盖表格中的零部件和组件。
这个问题涉及四类责任：
• Harness Agent 负责阅读当前文档、形成抽取草稿、执行 Self-review、修订并输出最终 JSON。
• Application/Orchestrator 负责调用顺序、session 管理、模型配置、Memory 开关和实验控制。
• AgentCore Memory System 负责 event storage、托管 Extraction、Consolidation、Reflection 和 Retrieval。
• Reviewer/Human 负责对照原文判断忠实性、完整性、粒度和业务边界。
核心挑战不是“是否生成了 JSON”，而是“Harness Agent 如何发现自己漏了什么，以及 AgentCore Memory System 如何把有效的 Review 轨迹转化为后续任务可复用的方法”。
过渡： 下一页用一条端到端责任链说明四个主体如何协作。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整套实验应按以下责任链理解：
1. 源文档提交： Application/Orchestrator 为 source actor 创建 source session，并把 13 页液氮罐技术要求、抽取指令和运行配置提交给 Harness Agent。
2. 两阶段 Self-review： Application/Orchestrator 顺序发起两次调用；Harness Agent 第一阶段对照原文形成结构化 self_review 和 next_actions，第二阶段根据 next_actions 修订并输出最终 JSON。
3. Event Storage： AgentCore Memory System 按 actor/session 保存源文档输入、结构化 self_review、修订请求和最终输出等 raw events。
4. EPISODIC 处理： AgentCore Memory System 使用内置 EPISODIC strategy，异步执行 Extraction、Consolidation 和 Reflection，生成 session-level episode 与 actor-level reflection records。
5. 目标任务 Retrieval： Application/Orchestrator 使用同一 actor 创建新的 target session；AgentCore Memory System 按 actor 检索相关 EPISODIC records。
6. 上下文注入与抽取： AgentCore Harness 把 Retrieval 返回的 records 注入目标 Harness Agent 的上下文；目标 Harness Agent 依据当前留出文档完成抽取、自审和最终输出。
7. 结果评审： Reviewer/Human 对照目标原文评判新增记录是否有依据，以及拆分粒度是否符合业务要求。
这条链路中，Harness Agent 负责业务推理，Application/Orchestrator 负责实验编排，AgentCore Memory System 负责托管记忆处理，AgentCore Harness 负责 Retrieval 结果的上下文注入，Reviewer/Human 负责质量判断。
过渡： 为了分别验证 Memory 的生成和使用，我们把责任链拆成两项边界清晰的实验。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实验一：源任务生成托管 EPISODIC Records。
Application/Orchestrator 把 13 页液氮罐技术要求提交给 Harness Agent，并顺序组织两阶段结构化 Self-review。AgentCore Memory System 保存 source session events，再使用内置 EPISODIC strategy 执行 Extraction、Consolidation 和 Reflection。
实验一回答两个问题：
• Harness Agent 应留下怎样的 Review 与修订轨迹？
• AgentCore Memory System 能否从该轨迹中形成可检索的 session-level episode 和 actor-level reflection records？
实验二：留出文档 Retrieval 开关对照。
Application/Orchestrator 为 Memory 组和 No Memory 组分别创建全新 target session，并保持目标文档、system prompt、模型参数及工具配置一致。唯一变量是 AgentCore Memory System 是否执行 Retrieval，以及 AgentCore Harness 是否向目标 Harness Agent 注入检索 records。
实验二回答一个问题：
• 相同目标任务中，接收 EPISODIC records 是否会改变目标 Harness Agent 的抽取覆盖范围？
实验一产生 Memory，实验二使用并验证 Memory。两个实验前后衔接，但证据边界不同。
过渡： 先进入实验一，观察 source session 如何形成可被托管 Memory 处理的轨迹。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实验一的 source document 是 13 页液氮罐技术要求，source actor 是 ep-review-1789102186。
三个主体承担不同责任：
• Application/Orchestrator 创建 source session，顺序发起两阶段调用，并保证原文、self_review、next_actions 和最终 JSON 位于连续的任务轨迹中。
• Harness Agent 阅读源文档、形成内部抽取草稿、对照原文执行结构化 Self-review，并根据 Review 结果完成修订。
• AgentCore Memory System 保存 source session events，并使用内置 EPISODIC strategy 异步提炼 records。
实验一不是让 AgentCore Memory System 直接抽取液氮罐业务字段。业务抽取、自审和修订均由 Harness Agent 执行；托管 Memory 处理发生在这些 events 已形成之后。
实验一的成功标准也不是输出记录越多越好，而是 source session 是否形成了明确的“原文输入、Review 发现、修订动作、最终结果”证据链，以及 AgentCore Memory System 是否据此生成了可检索 records。
过渡： 下一页展开 Application/Orchestrator 和 Harness Agent 如何共同完成两阶段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第一阶段由 Application/Orchestrator 发起，由 Harness Agent 执行。
Application/Orchestrator 向 Harness Agent 提供 13 页源文档和第一阶段指令。Harness Agent 在内部形成抽取草稿，并对照原文检查：
• coverage：正文、表格、附注和图示区域是否得到覆盖；
• omissions：是否遗漏章节、参数、组件或限制条件；
• format：最终结构是否满足字段和 JSON 约束；
• granularity：内容是否存在不合理合并或过度拆分。
第一阶段的可观察产物是结构化 self_review 与可执行的 next_actions，而不是最终 JSON。
第二阶段仍由 Application/Orchestrator 发起，并由同一 source session 中的 Harness Agent 执行。Application/Orchestrator 把源文档、self_review.next_actions 和最终输出约束提交给 Harness Agent；Harness Agent 逐项落实修订动作并输出最终 JSON。
Harness Agent 负责 Review 内容和业务修订；Application/Orchestrator 负责调用顺序、输入连续性和输出门控。AgentCore Memory System 在这两个阶段只保存 events，不负责生成 self_review 或最终业务 JSON。
过渡： source session 形成完整轨迹后，处理主体切换为 AgentCore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AgentCore Memory System 使用的是内置 EPISODIC strategy，处理分为以下阶段：
1. Event Storage： AgentCore Memory System 按 actor/session 保存 Application/Orchestrator 与 Harness Agent 交互形成的 raw events。
2. Extraction： AgentCore Memory System 从 source session events 中识别值得保留的任务过程、Review 发现、修订动作和结果。
3. Consolidation： AgentCore Memory System 把当前 source session 的关键过程整理为 session-level episode，作用域为当前 actor/session，namespace 为 /episodes/{actorId}/{sessionId}。
4. Reflection： AgentCore Memory System 从 episode 中抽象跨 session 可复用的方法，形成 actor-level reflection records，作用域为当前 actor，namespace 为 /episodes/{actorId}。
当实验二的新 target session 开始时：
5. Retrieval： AgentCore Memory System 按 source actor 检索相关 session-level episode 和 actor-level reflection records。
6. Injection： AgentCore Harness 把 Retrieval 返回的 records 放入目标 Harness Agent 的新 session 上下文。
7. Target reasoning： 目标 Harness Agent 使用当前留出文档、抽取指令和注入的方法性 Memory 完成抽取与内部自审。
EPISODIC 处理是异步的，短 session 不保证一定生成 records。本次 source session 包含完整的原文、Review、修订和结果轨迹，最终形成了可检索记录。
过渡： 下一页展示 AgentCore Memory System 实际生成的 record 数量、类型、作用域和内容。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AgentCore Memory System 使用内置 EPISODIC strategy，从 source session 中实际生成了：
• 1 条 session-level episode： 由 Consolidation 阶段形成，作用域是 actor ep-review-1789102186 的当前 source session。
• 2 条 actor-level reflections： 由 Reflection 阶段形成，作用域是 actor ep-review-1789102186，可供该 actor 的后续新 session 检索。
session-level episode 主要总结本次任务发生了什么：Harness Agent 使用两阶段流程，先输出结构化 self_review，再根据 next_actions 修订；面对 OCR 错误、章节跳号、重复表格和图片内容限制时，Harness Agent 应显式处理并保留可追溯信息。
两条 actor-level reflections 主要抽象未来可复用的方法：
• Harness Agent 应系统检查 coverage、omissions、format 和 granularity，再执行明确的 next_actions。
• Harness Agent 应保留原文供 Reviewer/Human 追溯；遇到冲突或无法完整结构化的内容时，Harness Agent 不应静默丢弃信息。
这些 records 的生成主体是 AgentCore Memory System。Harness Agent 提供 source session 行为轨迹，Application/Orchestrator 提供运行编排，Reviewer/Human 没有参与 record 生成。
实验一只证明托管 EPISODIC records 已经形成，还不能单独证明它们改善了新文档的抽取效果。
过渡： 实验二把这组 records 带到一份留出文档，通过 Retrieval 开关隔离其影响。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实验二的目标文档是一页电机图纸“2477080009简图-8.16”。Application/Orchestrator 为 Memory 组和 No Memory 组分别创建全新的 target session。
Memory 组的责任链是：
1. Application/Orchestrator 使用 extractor_ep_review 和 actor ep-review-1789102186 发起 target session。
2. AgentCore Memory System 在 Retrieval 阶段按 actor 检索实验一形成的 EPISODIC records。
3. AgentCore Harness 把 Retrieval 返回的方法性 records 注入目标 Harness Agent 的上下文。
4. 目标 Harness Agent 阅读目标文档和 Memory 上下文，执行抽取、内部自审并输出最终 JSON。
No Memory 组的责任链是：
1. Application/Orchestrator 使用 extractor_ep_review_nomem 发起另一条全新 target session。
2. Application/Orchestrator 禁用 Harness Memory 配置，因此 AgentCore Memory System 不执行目标端 Retrieval，AgentCore Harness 不注入历史 records。
3. 目标 Harness Agent 只依据目标文档和相同抽取指令完成抽取、内部自审并输出最终 JSON。
Reviewer/Human 仅在两组输出完成后进行人工核对，不参与实验一的 Memory 形成过程，也不向实验二的目标 Harness Agent 提供反馈。
过渡： 为了把目标输出差异归因于 Retrieval 和 Injection，下一页逐项说明控制变量。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两组目标抽取都由 Harness Agent 执行。Application/Orchestrator 保持以下条件一致：
• 相同目标文档：一页电机图纸“2477080009简图-8.16”；
• 相同 invocation-level system prompt；
• 相同模型：claude-sonnet-4-6；
• 相同 temperature=0；
• 相同 maxTokens=32768；
• 两组均禁用 Skill 和 tools；
• 两组分别使用全新 target session；
• 两组 Harness Agent 均执行单次抽取，并在内部自审后输出最终 JSON。
唯一变量是托管 Memory 链路：
• Memory 组中，AgentCore Memory System 执行 EPISODIC Retrieval，AgentCore Harness 把返回 records 注入目标 Harness Agent 上下文。
• No Memory 组中，Application/Orchestrator 禁用 Memory；AgentCore Memory System 不执行目标端 Retrieval，AgentCore Harness 不注入历史 records。
Application/Orchestrator 负责记录两组最终输出及记录条数；Reviewer/Human 负责对照目标原文检查新增记录是否有依据。记录条数是行为观察，不是自动质量分数。
过渡： 在这些控制条件下，核心结果是目标 Harness Agent 是否开始系统覆盖两张 BOM。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这是整套实验最重要的结果。
首次运行中：
• Memory 组的目标 Harness Agent 输出 31 条记录。
• No Memory 组的目标 Harness Agent 输出 11 条记录。
这两个数字由 Application/Orchestrator 从两组最终 JSON 中统计。它们表示记录数量，不表示质量分数，因此不能表述为“质量提升三倍”。
真正关键的差异来自内容覆盖：
• Memory 组中，AgentCore Memory System 检索实验一形成的方法性 EPISODIC records，AgentCore Harness 把 records 注入目标 Harness Agent 上下文；目标 Harness Agent 随后系统展开了图纸中的两张 BOM。
• No Memory 组中，目标 Harness Agent 主要关注标题栏和技术要求，只零散抽取少量数量信息，没有同样系统地展开两张 BOM。
Memory 组新增的约 20 条记录主要包括机座、前端盖、转子、轴承、壳体组件、法兰盘组件和散热器组件等零部件与组件。
Reviewer/Human 对照目标图纸后认为，这些新增条目基本能够在两张 BOM 中找到原文依据，并非明显臆造。但 Reviewer/Human 仍需判断每个零部件是否属于最终业务边界，以及拆分粒度是否符合实际使用要求。
本页能够支持的准确结论是：在这份留出文档上，目标 Harness Agent 接收方法性 EPISODIC records 后，改变了对“什么值得结构化”的判断，输出从 11 条变为 31 条，新增内容主要来自两张 BOM。
过渡： 下一页把 Memory 的生成证据和目标端的行为证据连接起来，同时明确结论边界。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两项实验构成一条连续证据链：
1. Application/Orchestrator 在源任务中顺序调用 Harness Agent，形成“原文输入、结构化 Self-review、修订动作、最终 JSON”的完整 source session 轨迹。
2. AgentCore Memory System 使用内置 EPISODIC strategy，从 source session events 中生成 1 条 session-level episode 和 2 条 actor-level reflection records。
3. 在留出文档的 Memory 组中，AgentCore Memory System 按 actor 检索这些 records，AgentCore Harness 将 records 注入新的目标 Harness Agent session。
4. 在相同目标任务与运行配置下，Memory 组的目标 Harness Agent 输出 31 条，No Memory 组输出 11 条；新增内容主要来自两张 BOM。
5. Reviewer/Human 对照原文后确认新增条目基本有原文依据，但仍保留业务边界和拆分粒度的人工判断。
两项实验共同支持以下结论：
• 高质量 Memory 的前提是 Harness Agent 在 source session 中留下清晰、可执行、可追溯的 Review 与修订轨迹。
• AgentCore Memory System 的内置 EPISODIC strategy 能把该轨迹提炼为跨 session 可检索的方法性 records。
• AgentCore Harness 把 Retrieval records 注入目标 Harness Agent 后，Memory 上下文可以改变目标 Harness Agent 的覆盖重点。
• 本次证据来自单个 source document 和单个留出文档，能够证明行为差异，不能直接证明普遍的质量提升或跨领域泛化。
• AgentCore Memory System 不能替代 Reviewer/Human 定义任务边界，也不能用记录条数替代忠实性、完整性和粒度评审。
过渡： 最后一页把这条证据链收敛为可以复用的工程实践。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第一，Application/Orchestrator 应把 source task 设计为明确的两阶段调用，确保原文、结构化 self_review、next_actions 和最终 JSON 在同一 source session 中形成连续轨迹。
第二，Harness Agent 的 Self-review 必须同时依据当前原文和内部草稿。Harness Agent 应固定检查 coverage、omissions、format 和 granularity，再根据明确的 next_actions 修订最终 JSON。
第三，AgentCore Memory System 使用内置 EPISODIC strategy 时，团队应分别观察 Event Storage、Extraction、Consolidation、Reflection 和 Retrieval，并明确 raw event、session-level episode 与 actor-level reflection 的作用域。
第四，后续任务开始时，AgentCore Memory System 负责按 actor 执行 Retrieval；AgentCore Harness 负责把返回 records 注入新的目标 Harness Agent session；目标 Harness Agent 仍必须依据当前文档原文完成抽取，不能复制历史业务答案。
第五，Application/Orchestrator 应在对照实验中控制 actor、target session、prompt、模型参数、tools、Skill 和 Memory 开关，避免把编排差异误判为 Memory 效果。
第六，Reviewer/Human 应分别检查忠实性、完整性、粒度、过度抽取和业务边界，不能把 Memory 数量或输出记录数量直接当作质量分数。
最终 takeaway 是：
Harness Agent 负责产生高质量 Review 与修订轨迹；AgentCore Memory System 负责使用 EPISODIC strategy 提炼并检索方法性 records；AgentCore Harness 负责把检索 records 注入新的 Harness Agent session；Reviewer/Human 负责判断这些方法是否真正改善业务结果。
过渡（收束）： 本次最重要的证据不是 Memory 中保存了多少文字，而是同一留出任务中，接收方法性 EPISODIC records 的目标 Harness Agent 系统覆盖了两张 BOM，并输出 31 条；未接收 Memory 的目标 Harness Agent 输出 11 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85800" y="1097280"/>
            <a:ext cx="10058400" cy="347472"/>
          </a:xfrm>
          <a:prstGeom prst="rect">
            <a:avLst/>
          </a:prstGeom>
          <a:noFill/>
          <a:ln/>
        </p:spPr>
        <p:txBody>
          <a:bodyPr wrap="square" lIns="0" tIns="0" rIns="0" bIns="0" rtlCol="0" anchor="ctr"/>
          <a:lstStyle/>
          <a:p>
            <a:pPr indent="0" marL="0">
              <a:buNone/>
            </a:pPr>
            <a:r>
              <a:rPr lang="en-US" sz="1400" b="1" spc="300" kern="0" dirty="0">
                <a:solidFill>
                  <a:srgbClr val="42B4FF"/>
                </a:solidFill>
                <a:latin typeface="Amazon Ember Display" pitchFamily="34" charset="0"/>
                <a:ea typeface="Amazon Ember Display" pitchFamily="34" charset="-122"/>
                <a:cs typeface="Amazon Ember Display" pitchFamily="34" charset="-120"/>
              </a:rPr>
              <a:t>AGENTCORE MEMORY · STRUCTURED EXTRACTION</a:t>
            </a:r>
            <a:endParaRPr lang="en-US" sz="1400" dirty="0"/>
          </a:p>
        </p:txBody>
      </p:sp>
      <p:sp>
        <p:nvSpPr>
          <p:cNvPr id="4" name="Text 1"/>
          <p:cNvSpPr/>
          <p:nvPr/>
        </p:nvSpPr>
        <p:spPr>
          <a:xfrm>
            <a:off x="658368" y="1600200"/>
            <a:ext cx="10698480" cy="777240"/>
          </a:xfrm>
          <a:prstGeom prst="rect">
            <a:avLst/>
          </a:prstGeom>
          <a:noFill/>
          <a:ln/>
        </p:spPr>
        <p:txBody>
          <a:bodyPr wrap="square" lIns="0" tIns="0" rIns="0" bIns="0" rtlCol="0" anchor="ctr"/>
          <a:lstStyle/>
          <a:p>
            <a:pPr indent="0" marL="0">
              <a:buNone/>
            </a:pPr>
            <a:r>
              <a:rPr lang="en-US" sz="4600" b="1" dirty="0">
                <a:solidFill>
                  <a:srgbClr val="FFFFFF"/>
                </a:solidFill>
                <a:latin typeface="Amazon Ember Display" pitchFamily="34" charset="0"/>
                <a:ea typeface="Amazon Ember Display" pitchFamily="34" charset="-122"/>
                <a:cs typeface="Amazon Ember Display" pitchFamily="34" charset="-120"/>
              </a:rPr>
              <a:t>Agent 记忆最佳实践</a:t>
            </a:r>
            <a:endParaRPr lang="en-US" sz="4600" dirty="0"/>
          </a:p>
        </p:txBody>
      </p:sp>
      <p:sp>
        <p:nvSpPr>
          <p:cNvPr id="5" name="Text 2"/>
          <p:cNvSpPr/>
          <p:nvPr/>
        </p:nvSpPr>
        <p:spPr>
          <a:xfrm>
            <a:off x="685800" y="2487168"/>
            <a:ext cx="10424160" cy="566928"/>
          </a:xfrm>
          <a:prstGeom prst="rect">
            <a:avLst/>
          </a:prstGeom>
          <a:noFill/>
          <a:ln/>
        </p:spPr>
        <p:txBody>
          <a:bodyPr wrap="square" lIns="0" tIns="0" rIns="0" bIns="0" rtlCol="0" anchor="ctr"/>
          <a:lstStyle/>
          <a:p>
            <a:pPr indent="0" marL="0">
              <a:buNone/>
            </a:pPr>
            <a:r>
              <a:rPr lang="en-US" sz="2800" b="1" dirty="0">
                <a:solidFill>
                  <a:srgbClr val="42B4FF"/>
                </a:solidFill>
                <a:latin typeface="Amazon Ember Display" pitchFamily="34" charset="0"/>
                <a:ea typeface="Amazon Ember Display" pitchFamily="34" charset="-122"/>
                <a:cs typeface="Amazon Ember Display" pitchFamily="34" charset="-120"/>
              </a:rPr>
              <a:t>结构化数据抽取场景</a:t>
            </a:r>
            <a:endParaRPr lang="en-US" sz="2800" dirty="0"/>
          </a:p>
        </p:txBody>
      </p:sp>
      <p:sp>
        <p:nvSpPr>
          <p:cNvPr id="6" name="Text 3"/>
          <p:cNvSpPr/>
          <p:nvPr/>
        </p:nvSpPr>
        <p:spPr>
          <a:xfrm>
            <a:off x="685800" y="3429000"/>
            <a:ext cx="10332720" cy="457200"/>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怎样让 Harness Agent 从一次抽取中学习，并在下一份文档中抽得更完整？</a:t>
            </a:r>
            <a:endParaRPr lang="en-US" sz="1800" dirty="0"/>
          </a:p>
        </p:txBody>
      </p:sp>
      <p:sp>
        <p:nvSpPr>
          <p:cNvPr id="7" name="Shape 4"/>
          <p:cNvSpPr/>
          <p:nvPr/>
        </p:nvSpPr>
        <p:spPr>
          <a:xfrm>
            <a:off x="685800" y="4133088"/>
            <a:ext cx="10149840" cy="1051560"/>
          </a:xfrm>
          <a:prstGeom prst="roundRect">
            <a:avLst>
              <a:gd name="adj" fmla="val 6957"/>
            </a:avLst>
          </a:prstGeom>
          <a:solidFill>
            <a:srgbClr val="1C2740"/>
          </a:solidFill>
          <a:ln w="10160">
            <a:solidFill>
              <a:srgbClr val="2E3B57"/>
            </a:solidFill>
            <a:prstDash val="solid"/>
          </a:ln>
        </p:spPr>
      </p:sp>
      <p:sp>
        <p:nvSpPr>
          <p:cNvPr id="8" name="Text 5"/>
          <p:cNvSpPr/>
          <p:nvPr/>
        </p:nvSpPr>
        <p:spPr>
          <a:xfrm>
            <a:off x="914400" y="4133088"/>
            <a:ext cx="9692640" cy="1051560"/>
          </a:xfrm>
          <a:prstGeom prst="rect">
            <a:avLst/>
          </a:prstGeom>
          <a:noFill/>
          <a:ln/>
        </p:spPr>
        <p:txBody>
          <a:bodyPr wrap="square" lIns="0" tIns="0" rIns="0" bIns="0" rtlCol="0" anchor="ctr"/>
          <a:lstStyle/>
          <a:p>
            <a:pPr algn="ctr" indent="0" marL="0">
              <a:buNone/>
            </a:pPr>
            <a:r>
              <a:rPr lang="en-US" sz="2000" b="1" dirty="0">
                <a:solidFill>
                  <a:srgbClr val="FFFFFF"/>
                </a:solidFill>
                <a:latin typeface="Amazon Ember Display" pitchFamily="34" charset="0"/>
                <a:ea typeface="Amazon Ember Display" pitchFamily="34" charset="-122"/>
                <a:cs typeface="Amazon Ember Display" pitchFamily="34" charset="-120"/>
              </a:rPr>
              <a:t>核心：Harness Agent 产出 Review 轨迹；AgentCore Memory System 把轨迹提炼为可复用 Records。</a:t>
            </a:r>
            <a:endParaRPr lang="en-US" sz="2000" dirty="0"/>
          </a:p>
        </p:txBody>
      </p:sp>
      <p:sp>
        <p:nvSpPr>
          <p:cNvPr id="9" name="Text 6"/>
          <p:cNvSpPr/>
          <p:nvPr/>
        </p:nvSpPr>
        <p:spPr>
          <a:xfrm>
            <a:off x="685800" y="5559552"/>
            <a:ext cx="10424160" cy="320040"/>
          </a:xfrm>
          <a:prstGeom prst="rect">
            <a:avLst/>
          </a:prstGeom>
          <a:noFill/>
          <a:ln/>
        </p:spPr>
        <p:txBody>
          <a:bodyPr wrap="square" lIns="0" tIns="0" rIns="0" bIns="0" rtlCol="0" anchor="ctr"/>
          <a:lstStyle/>
          <a:p>
            <a:pPr indent="0" marL="0">
              <a:buNone/>
            </a:pPr>
            <a:r>
              <a:rPr lang="en-US" sz="1200" dirty="0">
                <a:solidFill>
                  <a:srgbClr val="8496A8"/>
                </a:solidFill>
                <a:latin typeface="Microsoft YaHei" pitchFamily="34" charset="0"/>
                <a:ea typeface="Microsoft YaHei" pitchFamily="34" charset="-122"/>
                <a:cs typeface="Microsoft YaHei" pitchFamily="34" charset="-120"/>
              </a:rPr>
              <a:t>基于真实工业文档实验 · Application 编排 + Harness Agent 抽取 + AgentCore Memory EPISODIC</a:t>
            </a:r>
            <a:endParaRPr lang="en-US" sz="1200" dirty="0"/>
          </a:p>
        </p:txBody>
      </p:sp>
      <p:sp>
        <p:nvSpPr>
          <p:cNvPr id="10" name="Text 7"/>
          <p:cNvSpPr/>
          <p:nvPr/>
        </p:nvSpPr>
        <p:spPr>
          <a:xfrm>
            <a:off x="685800" y="6419088"/>
            <a:ext cx="2743200" cy="256032"/>
          </a:xfrm>
          <a:prstGeom prst="rect">
            <a:avLst/>
          </a:prstGeom>
          <a:noFill/>
          <a:ln/>
        </p:spPr>
        <p:txBody>
          <a:bodyPr wrap="square" lIns="0" tIns="0" rIns="0" bIns="0" rtlCol="0" anchor="ctr"/>
          <a:lstStyle/>
          <a:p>
            <a:pPr indent="0" marL="0">
              <a:buNone/>
            </a:pPr>
            <a:r>
              <a:rPr lang="en-US" sz="12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THE CHALLENGE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的结构化抽取难点</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Harness Agent 生成合法 JSON 并不难；难点是完整识别散落在不同载体中的目标信息。</a:t>
            </a:r>
            <a:endParaRPr lang="en-US" sz="1400" dirty="0"/>
          </a:p>
        </p:txBody>
      </p:sp>
      <p:sp>
        <p:nvSpPr>
          <p:cNvPr id="8" name="Shape 5"/>
          <p:cNvSpPr/>
          <p:nvPr/>
        </p:nvSpPr>
        <p:spPr>
          <a:xfrm>
            <a:off x="566928" y="1737360"/>
            <a:ext cx="5349240" cy="3337560"/>
          </a:xfrm>
          <a:prstGeom prst="roundRect">
            <a:avLst>
              <a:gd name="adj" fmla="val 2192"/>
            </a:avLst>
          </a:prstGeom>
          <a:solidFill>
            <a:srgbClr val="1C2740"/>
          </a:solidFill>
          <a:ln w="10160">
            <a:solidFill>
              <a:srgbClr val="2E3B57"/>
            </a:solidFill>
            <a:prstDash val="solid"/>
          </a:ln>
        </p:spPr>
      </p:sp>
      <p:sp>
        <p:nvSpPr>
          <p:cNvPr id="9" name="Text 6"/>
          <p:cNvSpPr/>
          <p:nvPr/>
        </p:nvSpPr>
        <p:spPr>
          <a:xfrm>
            <a:off x="749808" y="1865376"/>
            <a:ext cx="498348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提供的真实输入</a:t>
            </a:r>
            <a:endParaRPr lang="en-US" sz="1150" dirty="0"/>
          </a:p>
        </p:txBody>
      </p:sp>
      <p:sp>
        <p:nvSpPr>
          <p:cNvPr id="10" name="Shape 7"/>
          <p:cNvSpPr/>
          <p:nvPr/>
        </p:nvSpPr>
        <p:spPr>
          <a:xfrm>
            <a:off x="749808" y="2194560"/>
            <a:ext cx="4983480" cy="2724912"/>
          </a:xfrm>
          <a:prstGeom prst="roundRect">
            <a:avLst>
              <a:gd name="adj" fmla="val 2685"/>
            </a:avLst>
          </a:prstGeom>
          <a:solidFill>
            <a:srgbClr val="0B1220"/>
          </a:solidFill>
          <a:ln w="10160">
            <a:solidFill>
              <a:srgbClr val="2E3B57"/>
            </a:solidFill>
            <a:prstDash val="solid"/>
          </a:ln>
        </p:spPr>
      </p:sp>
      <p:sp>
        <p:nvSpPr>
          <p:cNvPr id="11" name="Text 8"/>
          <p:cNvSpPr/>
          <p:nvPr/>
        </p:nvSpPr>
        <p:spPr>
          <a:xfrm>
            <a:off x="859536" y="2267712"/>
            <a:ext cx="4764024" cy="2587752"/>
          </a:xfrm>
          <a:prstGeom prst="rect">
            <a:avLst/>
          </a:prstGeom>
          <a:noFill/>
          <a:ln/>
        </p:spPr>
        <p:txBody>
          <a:bodyPr wrap="square" lIns="0" tIns="0" rIns="0" bIns="0" rtlCol="0" anchor="t"/>
          <a:lstStyle/>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技术要求:</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1. 所有尺寸单位为毫米</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2. 未注公差按 GB/T 1804-m 级</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3. 装配后转子应能灵活转动</a:t>
            </a:r>
            <a:endParaRPr lang="en-US" sz="1150" dirty="0"/>
          </a:p>
          <a:p>
            <a:pPr indent="0" marL="0">
              <a:buNone/>
            </a:pP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序号 | 名称 | 数量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1 | 机座 | 1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2 | 前端盖 | 1 |</a:t>
            </a:r>
            <a:endParaRPr lang="en-US" sz="1150" dirty="0"/>
          </a:p>
        </p:txBody>
      </p:sp>
      <p:sp>
        <p:nvSpPr>
          <p:cNvPr id="12" name="Shape 9"/>
          <p:cNvSpPr/>
          <p:nvPr/>
        </p:nvSpPr>
        <p:spPr>
          <a:xfrm>
            <a:off x="6190488" y="1737360"/>
            <a:ext cx="5440680" cy="3337560"/>
          </a:xfrm>
          <a:prstGeom prst="roundRect">
            <a:avLst>
              <a:gd name="adj" fmla="val 2192"/>
            </a:avLst>
          </a:prstGeom>
          <a:solidFill>
            <a:srgbClr val="35181C"/>
          </a:solidFill>
          <a:ln w="10160">
            <a:solidFill>
              <a:srgbClr val="2E3B57"/>
            </a:solidFill>
            <a:prstDash val="solid"/>
          </a:ln>
        </p:spPr>
      </p:sp>
      <p:sp>
        <p:nvSpPr>
          <p:cNvPr id="13" name="Text 10"/>
          <p:cNvSpPr/>
          <p:nvPr/>
        </p:nvSpPr>
        <p:spPr>
          <a:xfrm>
            <a:off x="6391656" y="1874520"/>
            <a:ext cx="503834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HARNESS AGENT · 常见漏项</a:t>
            </a:r>
            <a:endParaRPr lang="en-US" sz="1150" dirty="0"/>
          </a:p>
        </p:txBody>
      </p:sp>
      <p:sp>
        <p:nvSpPr>
          <p:cNvPr id="14" name="Text 11"/>
          <p:cNvSpPr/>
          <p:nvPr/>
        </p:nvSpPr>
        <p:spPr>
          <a:xfrm>
            <a:off x="6391656" y="2221992"/>
            <a:ext cx="503834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Harness Agent 通常先抓住数值参数</a:t>
            </a:r>
            <a:endParaRPr lang="en-US" sz="1700" dirty="0"/>
          </a:p>
        </p:txBody>
      </p:sp>
      <p:sp>
        <p:nvSpPr>
          <p:cNvPr id="15" name="Text 12"/>
          <p:cNvSpPr/>
          <p:nvPr/>
        </p:nvSpPr>
        <p:spPr>
          <a:xfrm>
            <a:off x="6391656" y="2679192"/>
            <a:ext cx="5038344" cy="2267712"/>
          </a:xfrm>
          <a:prstGeom prst="rect">
            <a:avLst/>
          </a:prstGeom>
          <a:noFill/>
          <a:ln/>
        </p:spPr>
        <p:txBody>
          <a:bodyPr wrap="square" lIns="0" tIns="0" rIns="0" bIns="0" rtlCol="0" anchor="t"/>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 正文参数容易被识别</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整张 BOM 可能被当成背景</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附注与备注容易跳过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定性、流程、待确认要求不一定被视为指标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图片/OCR 内容存在不完整与冲突</a:t>
            </a:r>
            <a:endParaRPr lang="en-US" sz="1400" dirty="0"/>
          </a:p>
        </p:txBody>
      </p:sp>
      <p:sp>
        <p:nvSpPr>
          <p:cNvPr id="16" name="Shape 13"/>
          <p:cNvSpPr/>
          <p:nvPr/>
        </p:nvSpPr>
        <p:spPr>
          <a:xfrm>
            <a:off x="566928" y="5321808"/>
            <a:ext cx="11064240" cy="777240"/>
          </a:xfrm>
          <a:prstGeom prst="roundRect">
            <a:avLst>
              <a:gd name="adj" fmla="val 9412"/>
            </a:avLst>
          </a:prstGeom>
          <a:solidFill>
            <a:srgbClr val="0B1220"/>
          </a:solidFill>
          <a:ln w="10160">
            <a:solidFill>
              <a:srgbClr val="FF6A3D"/>
            </a:solidFill>
            <a:prstDash val="solid"/>
          </a:ln>
        </p:spPr>
      </p:sp>
      <p:sp>
        <p:nvSpPr>
          <p:cNvPr id="17" name="Text 14"/>
          <p:cNvSpPr/>
          <p:nvPr/>
        </p:nvSpPr>
        <p:spPr>
          <a:xfrm>
            <a:off x="822960" y="5321808"/>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真正的问题：Harness Agent 如何发现自己的源覆盖遗漏？</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MEMORY ROLE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3</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端到端抽取回路：每一步由谁执行</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负责调用与实验控制；Harness Agent 负责抽取与自审；Memory System 负责 EPISODIC 处理与跨 session 召回。</a:t>
            </a:r>
            <a:endParaRPr lang="en-US" sz="1400" dirty="0"/>
          </a:p>
        </p:txBody>
      </p:sp>
      <p:sp>
        <p:nvSpPr>
          <p:cNvPr id="8" name="Shape 5"/>
          <p:cNvSpPr/>
          <p:nvPr/>
        </p:nvSpPr>
        <p:spPr>
          <a:xfrm>
            <a:off x="566928" y="1755648"/>
            <a:ext cx="1874520" cy="1600200"/>
          </a:xfrm>
          <a:prstGeom prst="roundRect">
            <a:avLst>
              <a:gd name="adj" fmla="val 4571"/>
            </a:avLst>
          </a:prstGeom>
          <a:solidFill>
            <a:srgbClr val="1C2740"/>
          </a:solidFill>
          <a:ln w="10160">
            <a:solidFill>
              <a:srgbClr val="2E3B57"/>
            </a:solidFill>
            <a:prstDash val="solid"/>
          </a:ln>
        </p:spPr>
      </p:sp>
      <p:sp>
        <p:nvSpPr>
          <p:cNvPr id="9" name="Text 6"/>
          <p:cNvSpPr/>
          <p:nvPr/>
        </p:nvSpPr>
        <p:spPr>
          <a:xfrm>
            <a:off x="768096"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① APPLICATION</a:t>
            </a:r>
            <a:endParaRPr lang="en-US" sz="1150" dirty="0"/>
          </a:p>
        </p:txBody>
      </p:sp>
      <p:sp>
        <p:nvSpPr>
          <p:cNvPr id="10" name="Text 7"/>
          <p:cNvSpPr/>
          <p:nvPr/>
        </p:nvSpPr>
        <p:spPr>
          <a:xfrm>
            <a:off x="768096"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启动源任务</a:t>
            </a:r>
            <a:endParaRPr lang="en-US" sz="1500" dirty="0"/>
          </a:p>
        </p:txBody>
      </p:sp>
      <p:sp>
        <p:nvSpPr>
          <p:cNvPr id="11" name="Text 8"/>
          <p:cNvSpPr/>
          <p:nvPr/>
        </p:nvSpPr>
        <p:spPr>
          <a:xfrm>
            <a:off x="768096"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向 Harness Agent 提交源文档与抽取 Prompt</a:t>
            </a:r>
            <a:endParaRPr lang="en-US" sz="1120" dirty="0"/>
          </a:p>
        </p:txBody>
      </p:sp>
      <p:sp>
        <p:nvSpPr>
          <p:cNvPr id="12" name="Text 9"/>
          <p:cNvSpPr/>
          <p:nvPr/>
        </p:nvSpPr>
        <p:spPr>
          <a:xfrm>
            <a:off x="24414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2770632" y="1755648"/>
            <a:ext cx="1874520" cy="1600200"/>
          </a:xfrm>
          <a:prstGeom prst="roundRect">
            <a:avLst>
              <a:gd name="adj" fmla="val 4571"/>
            </a:avLst>
          </a:prstGeom>
          <a:solidFill>
            <a:srgbClr val="0C3440"/>
          </a:solidFill>
          <a:ln w="10160">
            <a:solidFill>
              <a:srgbClr val="2E3B57"/>
            </a:solidFill>
            <a:prstDash val="solid"/>
          </a:ln>
        </p:spPr>
      </p:sp>
      <p:sp>
        <p:nvSpPr>
          <p:cNvPr id="14" name="Text 11"/>
          <p:cNvSpPr/>
          <p:nvPr/>
        </p:nvSpPr>
        <p:spPr>
          <a:xfrm>
            <a:off x="2971800"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② HARNESS AGENT</a:t>
            </a:r>
            <a:endParaRPr lang="en-US" sz="1150" dirty="0"/>
          </a:p>
        </p:txBody>
      </p:sp>
      <p:sp>
        <p:nvSpPr>
          <p:cNvPr id="15" name="Text 12"/>
          <p:cNvSpPr/>
          <p:nvPr/>
        </p:nvSpPr>
        <p:spPr>
          <a:xfrm>
            <a:off x="2971800"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抽取 + Self-review</a:t>
            </a:r>
            <a:endParaRPr lang="en-US" sz="1500" dirty="0"/>
          </a:p>
        </p:txBody>
      </p:sp>
      <p:sp>
        <p:nvSpPr>
          <p:cNvPr id="16" name="Text 13"/>
          <p:cNvSpPr/>
          <p:nvPr/>
        </p:nvSpPr>
        <p:spPr>
          <a:xfrm>
            <a:off x="2971800"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产出 self_review、next_actions 与最终 JSON</a:t>
            </a:r>
            <a:endParaRPr lang="en-US" sz="1120" dirty="0"/>
          </a:p>
        </p:txBody>
      </p:sp>
      <p:sp>
        <p:nvSpPr>
          <p:cNvPr id="17" name="Text 14"/>
          <p:cNvSpPr/>
          <p:nvPr/>
        </p:nvSpPr>
        <p:spPr>
          <a:xfrm>
            <a:off x="4645152"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4974336" y="1755648"/>
            <a:ext cx="1874520" cy="1600200"/>
          </a:xfrm>
          <a:prstGeom prst="roundRect">
            <a:avLst>
              <a:gd name="adj" fmla="val 4571"/>
            </a:avLst>
          </a:prstGeom>
          <a:solidFill>
            <a:srgbClr val="2A2418"/>
          </a:solidFill>
          <a:ln w="10160">
            <a:solidFill>
              <a:srgbClr val="2E3B57"/>
            </a:solidFill>
            <a:prstDash val="solid"/>
          </a:ln>
        </p:spPr>
      </p:sp>
      <p:sp>
        <p:nvSpPr>
          <p:cNvPr id="19" name="Text 16"/>
          <p:cNvSpPr/>
          <p:nvPr/>
        </p:nvSpPr>
        <p:spPr>
          <a:xfrm>
            <a:off x="5175504" y="1892808"/>
            <a:ext cx="147218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③ MEMORY SYSTEM</a:t>
            </a:r>
            <a:endParaRPr lang="en-US" sz="1150" dirty="0"/>
          </a:p>
        </p:txBody>
      </p:sp>
      <p:sp>
        <p:nvSpPr>
          <p:cNvPr id="20" name="Text 17"/>
          <p:cNvSpPr/>
          <p:nvPr/>
        </p:nvSpPr>
        <p:spPr>
          <a:xfrm>
            <a:off x="5175504"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EPISODIC 处理</a:t>
            </a:r>
            <a:endParaRPr lang="en-US" sz="1500" dirty="0"/>
          </a:p>
        </p:txBody>
      </p:sp>
      <p:sp>
        <p:nvSpPr>
          <p:cNvPr id="21" name="Text 18"/>
          <p:cNvSpPr/>
          <p:nvPr/>
        </p:nvSpPr>
        <p:spPr>
          <a:xfrm>
            <a:off x="5175504" y="2697480"/>
            <a:ext cx="1472184" cy="530352"/>
          </a:xfrm>
          <a:prstGeom prst="rect">
            <a:avLst/>
          </a:prstGeom>
          <a:noFill/>
          <a:ln/>
        </p:spPr>
        <p:txBody>
          <a:bodyPr wrap="square" lIns="0" tIns="0" rIns="0" bIns="0" rtlCol="0" anchor="t"/>
          <a:lstStyle/>
          <a:p>
            <a:pPr indent="0" marL="0">
              <a:buNone/>
            </a:pPr>
            <a:r>
              <a:rPr lang="en-US" sz="1080" dirty="0">
                <a:solidFill>
                  <a:srgbClr val="CFD9E4"/>
                </a:solidFill>
                <a:latin typeface="Microsoft YaHei" pitchFamily="34" charset="0"/>
                <a:ea typeface="Microsoft YaHei" pitchFamily="34" charset="-122"/>
                <a:cs typeface="Microsoft YaHei" pitchFamily="34" charset="-120"/>
              </a:rPr>
              <a:t>Event Storage → Extraction → Consolidation → Reflection</a:t>
            </a:r>
            <a:endParaRPr lang="en-US" sz="1080" dirty="0"/>
          </a:p>
        </p:txBody>
      </p:sp>
      <p:sp>
        <p:nvSpPr>
          <p:cNvPr id="22" name="Text 19"/>
          <p:cNvSpPr/>
          <p:nvPr/>
        </p:nvSpPr>
        <p:spPr>
          <a:xfrm>
            <a:off x="6848856"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7178040" y="1755648"/>
            <a:ext cx="1874520" cy="1600200"/>
          </a:xfrm>
          <a:prstGeom prst="roundRect">
            <a:avLst>
              <a:gd name="adj" fmla="val 4571"/>
            </a:avLst>
          </a:prstGeom>
          <a:solidFill>
            <a:srgbClr val="12331F"/>
          </a:solidFill>
          <a:ln w="10160">
            <a:solidFill>
              <a:srgbClr val="2E3B57"/>
            </a:solidFill>
            <a:prstDash val="solid"/>
          </a:ln>
        </p:spPr>
      </p:sp>
      <p:sp>
        <p:nvSpPr>
          <p:cNvPr id="24" name="Text 21"/>
          <p:cNvSpPr/>
          <p:nvPr/>
        </p:nvSpPr>
        <p:spPr>
          <a:xfrm>
            <a:off x="7379208" y="1892808"/>
            <a:ext cx="147218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④ AGENTCORE HARNESS</a:t>
            </a:r>
            <a:endParaRPr lang="en-US" sz="1150" dirty="0"/>
          </a:p>
        </p:txBody>
      </p:sp>
      <p:sp>
        <p:nvSpPr>
          <p:cNvPr id="25" name="Text 22"/>
          <p:cNvSpPr/>
          <p:nvPr/>
        </p:nvSpPr>
        <p:spPr>
          <a:xfrm>
            <a:off x="7379208" y="2240280"/>
            <a:ext cx="1472184" cy="384048"/>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调用 Retrieval + 注入</a:t>
            </a:r>
            <a:endParaRPr lang="en-US" sz="1450" dirty="0"/>
          </a:p>
        </p:txBody>
      </p:sp>
      <p:sp>
        <p:nvSpPr>
          <p:cNvPr id="26" name="Text 23"/>
          <p:cNvSpPr/>
          <p:nvPr/>
        </p:nvSpPr>
        <p:spPr>
          <a:xfrm>
            <a:off x="7379208" y="2697480"/>
            <a:ext cx="1472184" cy="530352"/>
          </a:xfrm>
          <a:prstGeom prst="rect">
            <a:avLst/>
          </a:prstGeom>
          <a:noFill/>
          <a:ln/>
        </p:spPr>
        <p:txBody>
          <a:bodyPr wrap="square" lIns="0" tIns="0" rIns="0" bIns="0" rtlCol="0" anchor="t"/>
          <a:lstStyle/>
          <a:p>
            <a:pPr indent="0" marL="0">
              <a:buNone/>
            </a:pPr>
            <a:r>
              <a:rPr lang="en-US" sz="1080" dirty="0">
                <a:solidFill>
                  <a:srgbClr val="CFD9E4"/>
                </a:solidFill>
                <a:latin typeface="Microsoft YaHei" pitchFamily="34" charset="0"/>
                <a:ea typeface="Microsoft YaHei" pitchFamily="34" charset="-122"/>
                <a:cs typeface="Microsoft YaHei" pitchFamily="34" charset="-120"/>
              </a:rPr>
              <a:t>调用 Memory System 检索 actor records，并注入新 session</a:t>
            </a:r>
            <a:endParaRPr lang="en-US" sz="1080" dirty="0"/>
          </a:p>
        </p:txBody>
      </p:sp>
      <p:sp>
        <p:nvSpPr>
          <p:cNvPr id="27" name="Text 24"/>
          <p:cNvSpPr/>
          <p:nvPr/>
        </p:nvSpPr>
        <p:spPr>
          <a:xfrm>
            <a:off x="9052560"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8" name="Shape 25"/>
          <p:cNvSpPr/>
          <p:nvPr/>
        </p:nvSpPr>
        <p:spPr>
          <a:xfrm>
            <a:off x="9381744" y="1755648"/>
            <a:ext cx="1874520" cy="1600200"/>
          </a:xfrm>
          <a:prstGeom prst="roundRect">
            <a:avLst>
              <a:gd name="adj" fmla="val 4571"/>
            </a:avLst>
          </a:prstGeom>
          <a:solidFill>
            <a:srgbClr val="1C2740"/>
          </a:solidFill>
          <a:ln w="10160">
            <a:solidFill>
              <a:srgbClr val="2E3B57"/>
            </a:solidFill>
            <a:prstDash val="solid"/>
          </a:ln>
        </p:spPr>
      </p:sp>
      <p:sp>
        <p:nvSpPr>
          <p:cNvPr id="29" name="Text 26"/>
          <p:cNvSpPr/>
          <p:nvPr/>
        </p:nvSpPr>
        <p:spPr>
          <a:xfrm>
            <a:off x="9582912"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⑤ HARNESS AGENT</a:t>
            </a:r>
            <a:endParaRPr lang="en-US" sz="1150" dirty="0"/>
          </a:p>
        </p:txBody>
      </p:sp>
      <p:sp>
        <p:nvSpPr>
          <p:cNvPr id="30" name="Text 27"/>
          <p:cNvSpPr/>
          <p:nvPr/>
        </p:nvSpPr>
        <p:spPr>
          <a:xfrm>
            <a:off x="9582912"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执行目标抽取</a:t>
            </a:r>
            <a:endParaRPr lang="en-US" sz="1500" dirty="0"/>
          </a:p>
        </p:txBody>
      </p:sp>
      <p:sp>
        <p:nvSpPr>
          <p:cNvPr id="31" name="Text 28"/>
          <p:cNvSpPr/>
          <p:nvPr/>
        </p:nvSpPr>
        <p:spPr>
          <a:xfrm>
            <a:off x="9582912"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读取新文档与注入的 Records，输出最终 JSON</a:t>
            </a:r>
            <a:endParaRPr lang="en-US" sz="1120" dirty="0"/>
          </a:p>
        </p:txBody>
      </p:sp>
      <p:sp>
        <p:nvSpPr>
          <p:cNvPr id="32" name="Shape 29"/>
          <p:cNvSpPr/>
          <p:nvPr/>
        </p:nvSpPr>
        <p:spPr>
          <a:xfrm>
            <a:off x="566928" y="3794760"/>
            <a:ext cx="3429000" cy="1298448"/>
          </a:xfrm>
          <a:prstGeom prst="roundRect">
            <a:avLst>
              <a:gd name="adj" fmla="val 5634"/>
            </a:avLst>
          </a:prstGeom>
          <a:solidFill>
            <a:srgbClr val="1C2740"/>
          </a:solidFill>
          <a:ln w="10160">
            <a:solidFill>
              <a:srgbClr val="2E3B57"/>
            </a:solidFill>
            <a:prstDash val="solid"/>
          </a:ln>
        </p:spPr>
      </p:sp>
      <p:sp>
        <p:nvSpPr>
          <p:cNvPr id="33" name="Text 30"/>
          <p:cNvSpPr/>
          <p:nvPr/>
        </p:nvSpPr>
        <p:spPr>
          <a:xfrm>
            <a:off x="768096" y="3931920"/>
            <a:ext cx="3026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源任务产物 · HARNESS AGENT</a:t>
            </a:r>
            <a:endParaRPr lang="en-US" sz="1150" dirty="0"/>
          </a:p>
        </p:txBody>
      </p:sp>
      <p:sp>
        <p:nvSpPr>
          <p:cNvPr id="34" name="Text 31"/>
          <p:cNvSpPr/>
          <p:nvPr/>
        </p:nvSpPr>
        <p:spPr>
          <a:xfrm>
            <a:off x="768096" y="4279392"/>
            <a:ext cx="3026664"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self_review + next_actions + 最终 JSON</a:t>
            </a:r>
            <a:endParaRPr lang="en-US" sz="1300" dirty="0"/>
          </a:p>
        </p:txBody>
      </p:sp>
      <p:sp>
        <p:nvSpPr>
          <p:cNvPr id="35" name="Shape 32"/>
          <p:cNvSpPr/>
          <p:nvPr/>
        </p:nvSpPr>
        <p:spPr>
          <a:xfrm>
            <a:off x="4379976" y="3794760"/>
            <a:ext cx="3429000" cy="1298448"/>
          </a:xfrm>
          <a:prstGeom prst="roundRect">
            <a:avLst>
              <a:gd name="adj" fmla="val 5634"/>
            </a:avLst>
          </a:prstGeom>
          <a:solidFill>
            <a:srgbClr val="1C2740"/>
          </a:solidFill>
          <a:ln w="10160">
            <a:solidFill>
              <a:srgbClr val="2E3B57"/>
            </a:solidFill>
            <a:prstDash val="solid"/>
          </a:ln>
        </p:spPr>
      </p:sp>
      <p:sp>
        <p:nvSpPr>
          <p:cNvPr id="36" name="Text 33"/>
          <p:cNvSpPr/>
          <p:nvPr/>
        </p:nvSpPr>
        <p:spPr>
          <a:xfrm>
            <a:off x="4581144" y="3931920"/>
            <a:ext cx="3026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托管记录 · MEMORY SYSTEM</a:t>
            </a:r>
            <a:endParaRPr lang="en-US" sz="1150" dirty="0"/>
          </a:p>
        </p:txBody>
      </p:sp>
      <p:sp>
        <p:nvSpPr>
          <p:cNvPr id="37" name="Text 34"/>
          <p:cNvSpPr/>
          <p:nvPr/>
        </p:nvSpPr>
        <p:spPr>
          <a:xfrm>
            <a:off x="4581144" y="4279392"/>
            <a:ext cx="3026664"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1 session-level episode + actor-level reflections</a:t>
            </a:r>
            <a:endParaRPr lang="en-US" sz="1300" dirty="0"/>
          </a:p>
        </p:txBody>
      </p:sp>
      <p:sp>
        <p:nvSpPr>
          <p:cNvPr id="38" name="Shape 35"/>
          <p:cNvSpPr/>
          <p:nvPr/>
        </p:nvSpPr>
        <p:spPr>
          <a:xfrm>
            <a:off x="8193024" y="3794760"/>
            <a:ext cx="3438144" cy="1298448"/>
          </a:xfrm>
          <a:prstGeom prst="roundRect">
            <a:avLst>
              <a:gd name="adj" fmla="val 5634"/>
            </a:avLst>
          </a:prstGeom>
          <a:solidFill>
            <a:srgbClr val="1C2740"/>
          </a:solidFill>
          <a:ln w="10160">
            <a:solidFill>
              <a:srgbClr val="2E3B57"/>
            </a:solidFill>
            <a:prstDash val="solid"/>
          </a:ln>
        </p:spPr>
      </p:sp>
      <p:sp>
        <p:nvSpPr>
          <p:cNvPr id="39" name="Text 36"/>
          <p:cNvSpPr/>
          <p:nvPr/>
        </p:nvSpPr>
        <p:spPr>
          <a:xfrm>
            <a:off x="8394192" y="3931920"/>
            <a:ext cx="303580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目标任务产物 · HARNESS AGENT</a:t>
            </a:r>
            <a:endParaRPr lang="en-US" sz="1150" dirty="0"/>
          </a:p>
        </p:txBody>
      </p:sp>
      <p:sp>
        <p:nvSpPr>
          <p:cNvPr id="40" name="Text 37"/>
          <p:cNvSpPr/>
          <p:nvPr/>
        </p:nvSpPr>
        <p:spPr>
          <a:xfrm>
            <a:off x="8394192" y="4279392"/>
            <a:ext cx="3035808"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Memory enabled / disabled 两组最终 JSON</a:t>
            </a:r>
            <a:endParaRPr lang="en-US" sz="1300" dirty="0"/>
          </a:p>
        </p:txBody>
      </p:sp>
      <p:sp>
        <p:nvSpPr>
          <p:cNvPr id="41" name="Shape 38"/>
          <p:cNvSpPr/>
          <p:nvPr/>
        </p:nvSpPr>
        <p:spPr>
          <a:xfrm>
            <a:off x="566928" y="5376672"/>
            <a:ext cx="11064240" cy="777240"/>
          </a:xfrm>
          <a:prstGeom prst="roundRect">
            <a:avLst>
              <a:gd name="adj" fmla="val 9412"/>
            </a:avLst>
          </a:prstGeom>
          <a:solidFill>
            <a:srgbClr val="0B1220"/>
          </a:solidFill>
          <a:ln w="10160">
            <a:solidFill>
              <a:srgbClr val="42B4FF"/>
            </a:solidFill>
            <a:prstDash val="solid"/>
          </a:ln>
        </p:spPr>
      </p:sp>
      <p:sp>
        <p:nvSpPr>
          <p:cNvPr id="42" name="Text 39"/>
          <p:cNvSpPr/>
          <p:nvPr/>
        </p:nvSpPr>
        <p:spPr>
          <a:xfrm>
            <a:off x="822960" y="5376672"/>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端到端链路：Application 调用 → Harness Agent 产轨迹 → Memory System 提炼/检索 → AgentCore Harness 注入</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MAP</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4</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两项实验：先生成 Records，再验证跨 session 效果</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实验一构造高质量源任务轨迹并生成托管 EPISODIC Records；实验二只切换 Retrieval 链路验证目标任务差异。</a:t>
            </a:r>
            <a:endParaRPr lang="en-US" sz="1400" dirty="0"/>
          </a:p>
        </p:txBody>
      </p:sp>
      <p:sp>
        <p:nvSpPr>
          <p:cNvPr id="8" name="Shape 5"/>
          <p:cNvSpPr/>
          <p:nvPr/>
        </p:nvSpPr>
        <p:spPr>
          <a:xfrm>
            <a:off x="566928" y="1755648"/>
            <a:ext cx="5349240" cy="3520440"/>
          </a:xfrm>
          <a:prstGeom prst="roundRect">
            <a:avLst>
              <a:gd name="adj" fmla="val 2078"/>
            </a:avLst>
          </a:prstGeom>
          <a:solidFill>
            <a:srgbClr val="0C3440"/>
          </a:solidFill>
          <a:ln w="10160">
            <a:solidFill>
              <a:srgbClr val="2E3B57"/>
            </a:solidFill>
            <a:prstDash val="solid"/>
          </a:ln>
        </p:spPr>
      </p:sp>
      <p:sp>
        <p:nvSpPr>
          <p:cNvPr id="9" name="Text 6"/>
          <p:cNvSpPr/>
          <p:nvPr/>
        </p:nvSpPr>
        <p:spPr>
          <a:xfrm>
            <a:off x="768096" y="1892808"/>
            <a:ext cx="494690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实验一 · EPISODIC RECORDS 生成</a:t>
            </a:r>
            <a:endParaRPr lang="en-US" sz="1150" dirty="0"/>
          </a:p>
        </p:txBody>
      </p:sp>
      <p:sp>
        <p:nvSpPr>
          <p:cNvPr id="10" name="Text 7"/>
          <p:cNvSpPr/>
          <p:nvPr/>
        </p:nvSpPr>
        <p:spPr>
          <a:xfrm>
            <a:off x="768096" y="2240280"/>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Harness Agent 产轨迹；Memory System 提炼</a:t>
            </a:r>
            <a:endParaRPr lang="en-US" sz="1700" dirty="0"/>
          </a:p>
        </p:txBody>
      </p:sp>
      <p:sp>
        <p:nvSpPr>
          <p:cNvPr id="11" name="Text 8"/>
          <p:cNvSpPr/>
          <p:nvPr/>
        </p:nvSpPr>
        <p:spPr>
          <a:xfrm>
            <a:off x="768096" y="2697480"/>
            <a:ext cx="4946904" cy="2450592"/>
          </a:xfrm>
          <a:prstGeom prst="rect">
            <a:avLst/>
          </a:prstGeom>
          <a:noFill/>
          <a:ln/>
        </p:spPr>
        <p:txBody>
          <a:bodyPr wrap="square" lIns="0" tIns="0" rIns="0" bIns="0" rtlCol="0" anchor="t"/>
          <a:lstStyle/>
          <a:p>
            <a:pPr indent="0" marL="0">
              <a:buNone/>
            </a:pPr>
            <a:r>
              <a:rPr lang="en-US" sz="1250" dirty="0">
                <a:solidFill>
                  <a:srgbClr val="CFD9E4"/>
                </a:solidFill>
                <a:latin typeface="Microsoft YaHei" pitchFamily="34" charset="0"/>
                <a:ea typeface="Microsoft YaHei" pitchFamily="34" charset="-122"/>
                <a:cs typeface="Microsoft YaHei" pitchFamily="34" charset="-120"/>
              </a:rPr>
              <a:t>Application：顺序调用两阶段</a:t>
            </a:r>
            <a:endParaRPr lang="en-US" sz="1250" dirty="0"/>
          </a:p>
          <a:p>
            <a:pPr indent="0" marL="0">
              <a:buNone/>
            </a:pPr>
            <a:r>
              <a:rPr lang="en-US" sz="1250" dirty="0">
                <a:solidFill>
                  <a:srgbClr val="CFD9E4"/>
                </a:solidFill>
                <a:latin typeface="Microsoft YaHei" pitchFamily="34" charset="0"/>
                <a:ea typeface="Microsoft YaHei" pitchFamily="34" charset="-122"/>
                <a:cs typeface="Microsoft YaHei" pitchFamily="34" charset="-120"/>
              </a:rPr>
              <a:t>Harness Agent：原文 → self_review → 最终 JSON</a:t>
            </a:r>
            <a:endParaRPr lang="en-US" sz="1250" dirty="0"/>
          </a:p>
          <a:p>
            <a:pPr indent="0" marL="0">
              <a:buNone/>
            </a:pPr>
            <a:r>
              <a:rPr lang="en-US" sz="1250" dirty="0">
                <a:solidFill>
                  <a:srgbClr val="CFD9E4"/>
                </a:solidFill>
                <a:latin typeface="Microsoft YaHei" pitchFamily="34" charset="0"/>
                <a:ea typeface="Microsoft YaHei" pitchFamily="34" charset="-122"/>
                <a:cs typeface="Microsoft YaHei" pitchFamily="34" charset="-120"/>
              </a:rPr>
              <a:t>Memory System：Event Storage → Extraction → Consolidation → Reflection</a:t>
            </a:r>
            <a:endParaRPr lang="en-US" sz="1250" dirty="0"/>
          </a:p>
          <a:p>
            <a:pPr indent="0" marL="0">
              <a:buNone/>
            </a:pPr>
            <a:endParaRPr lang="en-US" sz="1250" dirty="0"/>
          </a:p>
          <a:p>
            <a:pPr indent="0" marL="0">
              <a:buNone/>
            </a:pPr>
            <a:r>
              <a:rPr lang="en-US" sz="1250" dirty="0">
                <a:solidFill>
                  <a:srgbClr val="CFD9E4"/>
                </a:solidFill>
                <a:latin typeface="Microsoft YaHei" pitchFamily="34" charset="0"/>
                <a:ea typeface="Microsoft YaHei" pitchFamily="34" charset="-122"/>
                <a:cs typeface="Microsoft YaHei" pitchFamily="34" charset="-120"/>
              </a:rPr>
              <a:t>产物：1 session-level episode + 2 actor-level reflections</a:t>
            </a:r>
            <a:endParaRPr lang="en-US" sz="1250" dirty="0"/>
          </a:p>
        </p:txBody>
      </p:sp>
      <p:sp>
        <p:nvSpPr>
          <p:cNvPr id="12" name="Shape 9"/>
          <p:cNvSpPr/>
          <p:nvPr/>
        </p:nvSpPr>
        <p:spPr>
          <a:xfrm>
            <a:off x="6281928" y="1755648"/>
            <a:ext cx="5349240" cy="3520440"/>
          </a:xfrm>
          <a:prstGeom prst="roundRect">
            <a:avLst>
              <a:gd name="adj" fmla="val 2078"/>
            </a:avLst>
          </a:prstGeom>
          <a:solidFill>
            <a:srgbClr val="12331F"/>
          </a:solidFill>
          <a:ln w="10160">
            <a:solidFill>
              <a:srgbClr val="2E3B57"/>
            </a:solidFill>
            <a:prstDash val="solid"/>
          </a:ln>
        </p:spPr>
      </p:sp>
      <p:sp>
        <p:nvSpPr>
          <p:cNvPr id="13" name="Text 10"/>
          <p:cNvSpPr/>
          <p:nvPr/>
        </p:nvSpPr>
        <p:spPr>
          <a:xfrm>
            <a:off x="6483096" y="1892808"/>
            <a:ext cx="494690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实验二 · 留出文档开关对照</a:t>
            </a:r>
            <a:endParaRPr lang="en-US" sz="1150" dirty="0"/>
          </a:p>
        </p:txBody>
      </p:sp>
      <p:sp>
        <p:nvSpPr>
          <p:cNvPr id="14" name="Text 11"/>
          <p:cNvSpPr/>
          <p:nvPr/>
        </p:nvSpPr>
        <p:spPr>
          <a:xfrm>
            <a:off x="6483096" y="2240280"/>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Retrieval / Injection 是唯一变量</a:t>
            </a:r>
            <a:endParaRPr lang="en-US" sz="1700" dirty="0"/>
          </a:p>
        </p:txBody>
      </p:sp>
      <p:sp>
        <p:nvSpPr>
          <p:cNvPr id="15" name="Text 12"/>
          <p:cNvSpPr/>
          <p:nvPr/>
        </p:nvSpPr>
        <p:spPr>
          <a:xfrm>
            <a:off x="6483096" y="2697480"/>
            <a:ext cx="4946904" cy="2450592"/>
          </a:xfrm>
          <a:prstGeom prst="rect">
            <a:avLst/>
          </a:prstGeom>
          <a:noFill/>
          <a:ln/>
        </p:spPr>
        <p:txBody>
          <a:bodyPr wrap="square" lIns="0" tIns="0" rIns="0" bIns="0" rtlCol="0" anchor="t"/>
          <a:lstStyle/>
          <a:p>
            <a:pPr indent="0" marL="0">
              <a:buNone/>
            </a:pPr>
            <a:r>
              <a:rPr lang="en-US" sz="1230" dirty="0">
                <a:solidFill>
                  <a:srgbClr val="CFD9E4"/>
                </a:solidFill>
                <a:latin typeface="Microsoft YaHei" pitchFamily="34" charset="0"/>
                <a:ea typeface="Microsoft YaHei" pitchFamily="34" charset="-122"/>
                <a:cs typeface="Microsoft YaHei" pitchFamily="34" charset="-120"/>
              </a:rPr>
              <a:t>Application：创建两组 fresh sessions</a:t>
            </a:r>
            <a:endParaRPr lang="en-US" sz="1230" dirty="0"/>
          </a:p>
          <a:p>
            <a:pPr indent="0" marL="0">
              <a:buNone/>
            </a:pPr>
            <a:r>
              <a:rPr lang="en-US" sz="1230" dirty="0">
                <a:solidFill>
                  <a:srgbClr val="CFD9E4"/>
                </a:solidFill>
                <a:latin typeface="Microsoft YaHei" pitchFamily="34" charset="0"/>
                <a:ea typeface="Microsoft YaHei" pitchFamily="34" charset="-122"/>
                <a:cs typeface="Microsoft YaHei" pitchFamily="34" charset="-120"/>
              </a:rPr>
              <a:t>Memory System：仅 enabled 组 Retrieval</a:t>
            </a:r>
            <a:endParaRPr lang="en-US" sz="1230" dirty="0"/>
          </a:p>
          <a:p>
            <a:pPr indent="0" marL="0">
              <a:buNone/>
            </a:pPr>
            <a:r>
              <a:rPr lang="en-US" sz="1230" dirty="0">
                <a:solidFill>
                  <a:srgbClr val="CFD9E4"/>
                </a:solidFill>
                <a:latin typeface="Microsoft YaHei" pitchFamily="34" charset="0"/>
                <a:ea typeface="Microsoft YaHei" pitchFamily="34" charset="-122"/>
                <a:cs typeface="Microsoft YaHei" pitchFamily="34" charset="-120"/>
              </a:rPr>
              <a:t>AgentCore Harness：仅 enabled 组注入 Records</a:t>
            </a:r>
            <a:endParaRPr lang="en-US" sz="1230" dirty="0"/>
          </a:p>
          <a:p>
            <a:pPr indent="0" marL="0">
              <a:buNone/>
            </a:pPr>
            <a:r>
              <a:rPr lang="en-US" sz="1230" dirty="0">
                <a:solidFill>
                  <a:srgbClr val="CFD9E4"/>
                </a:solidFill>
                <a:latin typeface="Microsoft YaHei" pitchFamily="34" charset="0"/>
                <a:ea typeface="Microsoft YaHei" pitchFamily="34" charset="-122"/>
                <a:cs typeface="Microsoft YaHei" pitchFamily="34" charset="-120"/>
              </a:rPr>
              <a:t>Harness Agent：两组使用相同 Prompt 抽取</a:t>
            </a:r>
            <a:endParaRPr lang="en-US" sz="1230" dirty="0"/>
          </a:p>
          <a:p>
            <a:pPr indent="0" marL="0">
              <a:buNone/>
            </a:pPr>
            <a:r>
              <a:rPr lang="en-US" sz="1230" dirty="0">
                <a:solidFill>
                  <a:srgbClr val="CFD9E4"/>
                </a:solidFill>
                <a:latin typeface="Microsoft YaHei" pitchFamily="34" charset="0"/>
                <a:ea typeface="Microsoft YaHei" pitchFamily="34" charset="-122"/>
                <a:cs typeface="Microsoft YaHei" pitchFamily="34" charset="-120"/>
              </a:rPr>
              <a:t>Reviewer：人工核对</a:t>
            </a:r>
            <a:endParaRPr lang="en-US" sz="1230" dirty="0"/>
          </a:p>
          <a:p>
            <a:pPr indent="0" marL="0">
              <a:buNone/>
            </a:pPr>
            <a:endParaRPr lang="en-US" sz="1230" dirty="0"/>
          </a:p>
          <a:p>
            <a:pPr indent="0" marL="0">
              <a:buNone/>
            </a:pPr>
            <a:r>
              <a:rPr lang="en-US" sz="1230" dirty="0">
                <a:solidFill>
                  <a:srgbClr val="CFD9E4"/>
                </a:solidFill>
                <a:latin typeface="Microsoft YaHei" pitchFamily="34" charset="0"/>
                <a:ea typeface="Microsoft YaHei" pitchFamily="34" charset="-122"/>
                <a:cs typeface="Microsoft YaHei" pitchFamily="34" charset="-120"/>
              </a:rPr>
              <a:t>结果：31 vs 11；新增内容主要来自两张 BOM</a:t>
            </a:r>
            <a:endParaRPr lang="en-US" sz="1230" dirty="0"/>
          </a:p>
        </p:txBody>
      </p:sp>
      <p:sp>
        <p:nvSpPr>
          <p:cNvPr id="16" name="Shape 13"/>
          <p:cNvSpPr/>
          <p:nvPr/>
        </p:nvSpPr>
        <p:spPr>
          <a:xfrm>
            <a:off x="566928" y="5504688"/>
            <a:ext cx="11064240" cy="777240"/>
          </a:xfrm>
          <a:prstGeom prst="roundRect">
            <a:avLst>
              <a:gd name="adj" fmla="val 9412"/>
            </a:avLst>
          </a:prstGeom>
          <a:solidFill>
            <a:srgbClr val="0B1220"/>
          </a:solidFill>
          <a:ln w="10160">
            <a:solidFill>
              <a:srgbClr val="42B4FF"/>
            </a:solidFill>
            <a:prstDash val="solid"/>
          </a:ln>
        </p:spPr>
      </p:sp>
      <p:sp>
        <p:nvSpPr>
          <p:cNvPr id="17" name="Text 14"/>
          <p:cNvSpPr/>
          <p:nvPr/>
        </p:nvSpPr>
        <p:spPr>
          <a:xfrm>
            <a:off x="822960" y="5504688"/>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证据链：源任务 Review 轨迹 → 托管 EPISODIC Records → 留出文档 Retrieval 开关对照</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5</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42B4FF"/>
                </a:solidFill>
                <a:latin typeface="Amazon Ember Display" pitchFamily="34" charset="0"/>
                <a:ea typeface="Amazon Ember Display" pitchFamily="34" charset="-122"/>
                <a:cs typeface="Amazon Ember Display" pitchFamily="34" charset="-120"/>
              </a:rPr>
              <a:t>01</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产出轨迹；Memory System 生成 Records</a:t>
            </a:r>
            <a:endParaRPr lang="en-US" sz="27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Application 顺序调用 Harness Agent 两个阶段；Harness Agent 对照原文自审并修订。</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42B4FF"/>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42B4FF"/>
                </a:solidFill>
                <a:latin typeface="Microsoft YaHei" pitchFamily="34" charset="0"/>
                <a:ea typeface="Microsoft YaHei" pitchFamily="34" charset="-122"/>
                <a:cs typeface="Microsoft YaHei" pitchFamily="34" charset="-120"/>
              </a:rPr>
              <a:t>实验边界：AgentCore Memory System 使用内置 EPISODIC 处理源 session，生成 1 条 episode 和 2 条 actor reflections。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HARNESS AGENT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6</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Agent：两阶段 Self-review</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连续调用同一 Harness Agent；Harness Agent 执行自审与修订；Memory System 保存同一 session 的 events。</a:t>
            </a:r>
            <a:endParaRPr lang="en-US" sz="1400" dirty="0"/>
          </a:p>
        </p:txBody>
      </p:sp>
      <p:sp>
        <p:nvSpPr>
          <p:cNvPr id="8" name="Shape 5"/>
          <p:cNvSpPr/>
          <p:nvPr/>
        </p:nvSpPr>
        <p:spPr>
          <a:xfrm>
            <a:off x="566928" y="1664208"/>
            <a:ext cx="5440680" cy="3794760"/>
          </a:xfrm>
          <a:prstGeom prst="roundRect">
            <a:avLst>
              <a:gd name="adj" fmla="val 1928"/>
            </a:avLst>
          </a:prstGeom>
          <a:solidFill>
            <a:srgbClr val="1C2740"/>
          </a:solidFill>
          <a:ln w="10160">
            <a:solidFill>
              <a:srgbClr val="2E3B57"/>
            </a:solidFill>
            <a:prstDash val="solid"/>
          </a:ln>
        </p:spPr>
      </p:sp>
      <p:sp>
        <p:nvSpPr>
          <p:cNvPr id="9" name="Text 6"/>
          <p:cNvSpPr/>
          <p:nvPr/>
        </p:nvSpPr>
        <p:spPr>
          <a:xfrm>
            <a:off x="749808" y="1792224"/>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调用 → HARNESS AGENT 阶段一</a:t>
            </a:r>
            <a:endParaRPr lang="en-US" sz="1150" dirty="0"/>
          </a:p>
        </p:txBody>
      </p:sp>
      <p:sp>
        <p:nvSpPr>
          <p:cNvPr id="10" name="Shape 7"/>
          <p:cNvSpPr/>
          <p:nvPr/>
        </p:nvSpPr>
        <p:spPr>
          <a:xfrm>
            <a:off x="749808" y="2121408"/>
            <a:ext cx="5074920" cy="3182112"/>
          </a:xfrm>
          <a:prstGeom prst="roundRect">
            <a:avLst>
              <a:gd name="adj" fmla="val 2299"/>
            </a:avLst>
          </a:prstGeom>
          <a:solidFill>
            <a:srgbClr val="0B1220"/>
          </a:solidFill>
          <a:ln w="10160">
            <a:solidFill>
              <a:srgbClr val="2E3B57"/>
            </a:solidFill>
            <a:prstDash val="solid"/>
          </a:ln>
        </p:spPr>
      </p:sp>
      <p:sp>
        <p:nvSpPr>
          <p:cNvPr id="11" name="Text 8"/>
          <p:cNvSpPr/>
          <p:nvPr/>
        </p:nvSpPr>
        <p:spPr>
          <a:xfrm>
            <a:off x="859536" y="2194560"/>
            <a:ext cx="4855464" cy="3044952"/>
          </a:xfrm>
          <a:prstGeom prst="rect">
            <a:avLst/>
          </a:prstGeom>
          <a:noFill/>
          <a:ln/>
        </p:spPr>
        <p:txBody>
          <a:bodyPr wrap="square" lIns="0" tIns="0" rIns="0" bIns="0" rtlCol="0" anchor="t"/>
          <a:lstStyle/>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先在内部形成完整抽取草稿，再审查草稿；</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不要输出草稿。</a:t>
            </a:r>
            <a:endParaRPr lang="en-US" sz="1080" dirty="0"/>
          </a:p>
          <a:p>
            <a:pPr indent="0" marL="0">
              <a:buNone/>
            </a:pP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"self_review":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"coverage":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"omissions":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"format":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"granularity":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"next_actions":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p:txBody>
      </p:sp>
      <p:sp>
        <p:nvSpPr>
          <p:cNvPr id="12" name="Shape 9"/>
          <p:cNvSpPr/>
          <p:nvPr/>
        </p:nvSpPr>
        <p:spPr>
          <a:xfrm>
            <a:off x="6236208" y="1664208"/>
            <a:ext cx="5394960" cy="3794760"/>
          </a:xfrm>
          <a:prstGeom prst="roundRect">
            <a:avLst>
              <a:gd name="adj" fmla="val 1928"/>
            </a:avLst>
          </a:prstGeom>
          <a:solidFill>
            <a:srgbClr val="1C2740"/>
          </a:solidFill>
          <a:ln w="10160">
            <a:solidFill>
              <a:srgbClr val="2E3B57"/>
            </a:solidFill>
            <a:prstDash val="solid"/>
          </a:ln>
        </p:spPr>
      </p:sp>
      <p:sp>
        <p:nvSpPr>
          <p:cNvPr id="13" name="Text 10"/>
          <p:cNvSpPr/>
          <p:nvPr/>
        </p:nvSpPr>
        <p:spPr>
          <a:xfrm>
            <a:off x="6419088" y="1792224"/>
            <a:ext cx="5029200"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APPLICATION 调用 → HARNESS AGENT 阶段二</a:t>
            </a:r>
            <a:endParaRPr lang="en-US" sz="1150" dirty="0"/>
          </a:p>
        </p:txBody>
      </p:sp>
      <p:sp>
        <p:nvSpPr>
          <p:cNvPr id="14" name="Shape 11"/>
          <p:cNvSpPr/>
          <p:nvPr/>
        </p:nvSpPr>
        <p:spPr>
          <a:xfrm>
            <a:off x="6419088" y="2121408"/>
            <a:ext cx="5029200" cy="3182112"/>
          </a:xfrm>
          <a:prstGeom prst="roundRect">
            <a:avLst>
              <a:gd name="adj" fmla="val 2299"/>
            </a:avLst>
          </a:prstGeom>
          <a:solidFill>
            <a:srgbClr val="0B1220"/>
          </a:solidFill>
          <a:ln w="10160">
            <a:solidFill>
              <a:srgbClr val="2E3B57"/>
            </a:solidFill>
            <a:prstDash val="solid"/>
          </a:ln>
        </p:spPr>
      </p:sp>
      <p:sp>
        <p:nvSpPr>
          <p:cNvPr id="15" name="Text 12"/>
          <p:cNvSpPr/>
          <p:nvPr/>
        </p:nvSpPr>
        <p:spPr>
          <a:xfrm>
            <a:off x="6528816" y="2194560"/>
            <a:ext cx="4809744" cy="3044952"/>
          </a:xfrm>
          <a:prstGeom prst="rect">
            <a:avLst/>
          </a:prstGeom>
          <a:noFill/>
          <a:ln/>
        </p:spPr>
        <p:txBody>
          <a:bodyPr wrap="square" lIns="0" tIns="0" rIns="0" bIns="0" rtlCol="0" anchor="t"/>
          <a:lstStyle/>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读取原始文档和 self_review。</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根据 next_actions 重新完成抽取，</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并逐项复核：</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coverage</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omissions</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format</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granularity</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只输出最终五字段 JSON。</a:t>
            </a:r>
            <a:endParaRPr lang="en-US" sz="1120" dirty="0"/>
          </a:p>
        </p:txBody>
      </p:sp>
      <p:sp>
        <p:nvSpPr>
          <p:cNvPr id="16" name="Shape 13"/>
          <p:cNvSpPr/>
          <p:nvPr/>
        </p:nvSpPr>
        <p:spPr>
          <a:xfrm>
            <a:off x="566928" y="5650992"/>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650992"/>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Application：顺序调用　|　Harness Agent：self_review + 最终 JSON　|　Memory System：保存 session events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MEMORY SYSTEM</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7</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System：EPISODIC 处理链</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Memory System 异步处理 Harness Agent 的 session events；新 session 中，AgentCore Harness 调用 Retrieval 并注入 Records。</a:t>
            </a:r>
            <a:endParaRPr lang="en-US" sz="1400" dirty="0"/>
          </a:p>
        </p:txBody>
      </p:sp>
      <p:sp>
        <p:nvSpPr>
          <p:cNvPr id="8" name="Shape 5"/>
          <p:cNvSpPr/>
          <p:nvPr/>
        </p:nvSpPr>
        <p:spPr>
          <a:xfrm>
            <a:off x="566928" y="1828800"/>
            <a:ext cx="2286000" cy="1417320"/>
          </a:xfrm>
          <a:prstGeom prst="roundRect">
            <a:avLst>
              <a:gd name="adj" fmla="val 5161"/>
            </a:avLst>
          </a:prstGeom>
          <a:solidFill>
            <a:srgbClr val="1C2740"/>
          </a:solidFill>
          <a:ln w="10160">
            <a:solidFill>
              <a:srgbClr val="2E3B57"/>
            </a:solidFill>
            <a:prstDash val="solid"/>
          </a:ln>
        </p:spPr>
      </p:sp>
      <p:sp>
        <p:nvSpPr>
          <p:cNvPr id="9" name="Text 6"/>
          <p:cNvSpPr/>
          <p:nvPr/>
        </p:nvSpPr>
        <p:spPr>
          <a:xfrm>
            <a:off x="7680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 EVENT STORAGE</a:t>
            </a:r>
            <a:endParaRPr lang="en-US" sz="1150" dirty="0"/>
          </a:p>
        </p:txBody>
      </p:sp>
      <p:sp>
        <p:nvSpPr>
          <p:cNvPr id="10" name="Text 7"/>
          <p:cNvSpPr/>
          <p:nvPr/>
        </p:nvSpPr>
        <p:spPr>
          <a:xfrm>
            <a:off x="7680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保存 Session Events</a:t>
            </a:r>
            <a:endParaRPr lang="en-US" sz="1400" dirty="0"/>
          </a:p>
        </p:txBody>
      </p:sp>
      <p:sp>
        <p:nvSpPr>
          <p:cNvPr id="11" name="Text 8"/>
          <p:cNvSpPr/>
          <p:nvPr/>
        </p:nvSpPr>
        <p:spPr>
          <a:xfrm>
            <a:off x="7680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Harness Agent 产物：原文 + self_review + 最终 JSON</a:t>
            </a:r>
            <a:endParaRPr lang="en-US" sz="1050" dirty="0"/>
          </a:p>
        </p:txBody>
      </p:sp>
      <p:sp>
        <p:nvSpPr>
          <p:cNvPr id="12" name="Text 9"/>
          <p:cNvSpPr/>
          <p:nvPr/>
        </p:nvSpPr>
        <p:spPr>
          <a:xfrm>
            <a:off x="28986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3310128" y="1828800"/>
            <a:ext cx="2286000" cy="1417320"/>
          </a:xfrm>
          <a:prstGeom prst="roundRect">
            <a:avLst>
              <a:gd name="adj" fmla="val 5161"/>
            </a:avLst>
          </a:prstGeom>
          <a:solidFill>
            <a:srgbClr val="0C3440"/>
          </a:solidFill>
          <a:ln w="10160">
            <a:solidFill>
              <a:srgbClr val="2E3B57"/>
            </a:solidFill>
            <a:prstDash val="solid"/>
          </a:ln>
        </p:spPr>
      </p:sp>
      <p:sp>
        <p:nvSpPr>
          <p:cNvPr id="14" name="Text 11"/>
          <p:cNvSpPr/>
          <p:nvPr/>
        </p:nvSpPr>
        <p:spPr>
          <a:xfrm>
            <a:off x="35112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 EXTRACTION</a:t>
            </a:r>
            <a:endParaRPr lang="en-US" sz="1150" dirty="0"/>
          </a:p>
        </p:txBody>
      </p:sp>
      <p:sp>
        <p:nvSpPr>
          <p:cNvPr id="15" name="Text 12"/>
          <p:cNvSpPr/>
          <p:nvPr/>
        </p:nvSpPr>
        <p:spPr>
          <a:xfrm>
            <a:off x="35112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分析每个 Turn</a:t>
            </a:r>
            <a:endParaRPr lang="en-US" sz="1400" dirty="0"/>
          </a:p>
        </p:txBody>
      </p:sp>
      <p:sp>
        <p:nvSpPr>
          <p:cNvPr id="16" name="Text 13"/>
          <p:cNvSpPr/>
          <p:nvPr/>
        </p:nvSpPr>
        <p:spPr>
          <a:xfrm>
            <a:off x="35112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识别行为、结果与任务信号</a:t>
            </a:r>
            <a:endParaRPr lang="en-US" sz="1050" dirty="0"/>
          </a:p>
        </p:txBody>
      </p:sp>
      <p:sp>
        <p:nvSpPr>
          <p:cNvPr id="17" name="Text 14"/>
          <p:cNvSpPr/>
          <p:nvPr/>
        </p:nvSpPr>
        <p:spPr>
          <a:xfrm>
            <a:off x="56418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6053328" y="1828800"/>
            <a:ext cx="2286000" cy="1417320"/>
          </a:xfrm>
          <a:prstGeom prst="roundRect">
            <a:avLst>
              <a:gd name="adj" fmla="val 5161"/>
            </a:avLst>
          </a:prstGeom>
          <a:solidFill>
            <a:srgbClr val="2A2418"/>
          </a:solidFill>
          <a:ln w="10160">
            <a:solidFill>
              <a:srgbClr val="2E3B57"/>
            </a:solidFill>
            <a:prstDash val="solid"/>
          </a:ln>
        </p:spPr>
      </p:sp>
      <p:sp>
        <p:nvSpPr>
          <p:cNvPr id="19" name="Text 16"/>
          <p:cNvSpPr/>
          <p:nvPr/>
        </p:nvSpPr>
        <p:spPr>
          <a:xfrm>
            <a:off x="6254496" y="1965960"/>
            <a:ext cx="1883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 CONSOLIDATION</a:t>
            </a:r>
            <a:endParaRPr lang="en-US" sz="1150" dirty="0"/>
          </a:p>
        </p:txBody>
      </p:sp>
      <p:sp>
        <p:nvSpPr>
          <p:cNvPr id="20" name="Text 17"/>
          <p:cNvSpPr/>
          <p:nvPr/>
        </p:nvSpPr>
        <p:spPr>
          <a:xfrm>
            <a:off x="62544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生成 Episode</a:t>
            </a:r>
            <a:endParaRPr lang="en-US" sz="1400" dirty="0"/>
          </a:p>
        </p:txBody>
      </p:sp>
      <p:sp>
        <p:nvSpPr>
          <p:cNvPr id="21" name="Text 18"/>
          <p:cNvSpPr/>
          <p:nvPr/>
        </p:nvSpPr>
        <p:spPr>
          <a:xfrm>
            <a:off x="62544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形成 session-level episode</a:t>
            </a:r>
            <a:endParaRPr lang="en-US" sz="1050" dirty="0"/>
          </a:p>
        </p:txBody>
      </p:sp>
      <p:sp>
        <p:nvSpPr>
          <p:cNvPr id="22" name="Text 19"/>
          <p:cNvSpPr/>
          <p:nvPr/>
        </p:nvSpPr>
        <p:spPr>
          <a:xfrm>
            <a:off x="83850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8796528" y="1828800"/>
            <a:ext cx="2834640" cy="1417320"/>
          </a:xfrm>
          <a:prstGeom prst="roundRect">
            <a:avLst>
              <a:gd name="adj" fmla="val 5161"/>
            </a:avLst>
          </a:prstGeom>
          <a:solidFill>
            <a:srgbClr val="12331F"/>
          </a:solidFill>
          <a:ln w="10160">
            <a:solidFill>
              <a:srgbClr val="2E3B57"/>
            </a:solidFill>
            <a:prstDash val="solid"/>
          </a:ln>
        </p:spPr>
      </p:sp>
      <p:sp>
        <p:nvSpPr>
          <p:cNvPr id="24" name="Text 21"/>
          <p:cNvSpPr/>
          <p:nvPr/>
        </p:nvSpPr>
        <p:spPr>
          <a:xfrm>
            <a:off x="8997696" y="1965960"/>
            <a:ext cx="243230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 REFLECTION</a:t>
            </a:r>
            <a:endParaRPr lang="en-US" sz="1150" dirty="0"/>
          </a:p>
        </p:txBody>
      </p:sp>
      <p:sp>
        <p:nvSpPr>
          <p:cNvPr id="25" name="Text 22"/>
          <p:cNvSpPr/>
          <p:nvPr/>
        </p:nvSpPr>
        <p:spPr>
          <a:xfrm>
            <a:off x="8997696" y="2313432"/>
            <a:ext cx="243230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生成跨任务方法</a:t>
            </a:r>
            <a:endParaRPr lang="en-US" sz="1400" dirty="0"/>
          </a:p>
        </p:txBody>
      </p:sp>
      <p:sp>
        <p:nvSpPr>
          <p:cNvPr id="26" name="Text 23"/>
          <p:cNvSpPr/>
          <p:nvPr/>
        </p:nvSpPr>
        <p:spPr>
          <a:xfrm>
            <a:off x="8997696" y="2770632"/>
            <a:ext cx="243230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形成 actor-level reflections</a:t>
            </a:r>
            <a:endParaRPr lang="en-US" sz="1050" dirty="0"/>
          </a:p>
        </p:txBody>
      </p:sp>
      <p:sp>
        <p:nvSpPr>
          <p:cNvPr id="27" name="Shape 24"/>
          <p:cNvSpPr/>
          <p:nvPr/>
        </p:nvSpPr>
        <p:spPr>
          <a:xfrm>
            <a:off x="1572768" y="3794760"/>
            <a:ext cx="3108960" cy="1234440"/>
          </a:xfrm>
          <a:prstGeom prst="roundRect">
            <a:avLst>
              <a:gd name="adj" fmla="val 5926"/>
            </a:avLst>
          </a:prstGeom>
          <a:solidFill>
            <a:srgbClr val="0B1220"/>
          </a:solidFill>
          <a:ln w="10160">
            <a:solidFill>
              <a:srgbClr val="FF6A3D"/>
            </a:solidFill>
            <a:prstDash val="solid"/>
          </a:ln>
        </p:spPr>
      </p:sp>
      <p:sp>
        <p:nvSpPr>
          <p:cNvPr id="28" name="Text 25"/>
          <p:cNvSpPr/>
          <p:nvPr/>
        </p:nvSpPr>
        <p:spPr>
          <a:xfrm>
            <a:off x="1664208" y="3941064"/>
            <a:ext cx="2926080" cy="585216"/>
          </a:xfrm>
          <a:prstGeom prst="rect">
            <a:avLst/>
          </a:prstGeom>
          <a:noFill/>
          <a:ln/>
        </p:spPr>
        <p:txBody>
          <a:bodyPr wrap="square" lIns="0" tIns="0" rIns="0" bIns="0" rtlCol="0" anchor="ctr"/>
          <a:lstStyle/>
          <a:p>
            <a:pPr algn="ctr" indent="0" marL="0">
              <a:buNone/>
            </a:pPr>
            <a:r>
              <a:rPr lang="en-US" sz="3800" b="1" dirty="0">
                <a:solidFill>
                  <a:srgbClr val="FF6A3D"/>
                </a:solidFill>
                <a:latin typeface="Amazon Ember Display" pitchFamily="34" charset="0"/>
                <a:ea typeface="Amazon Ember Display" pitchFamily="34" charset="-122"/>
                <a:cs typeface="Amazon Ember Display" pitchFamily="34" charset="-120"/>
              </a:rPr>
              <a:t>1</a:t>
            </a:r>
            <a:endParaRPr lang="en-US" sz="3800" dirty="0"/>
          </a:p>
        </p:txBody>
      </p:sp>
      <p:sp>
        <p:nvSpPr>
          <p:cNvPr id="29" name="Text 26"/>
          <p:cNvSpPr/>
          <p:nvPr/>
        </p:nvSpPr>
        <p:spPr>
          <a:xfrm>
            <a:off x="1664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System · session-level episode</a:t>
            </a:r>
            <a:endParaRPr lang="en-US" sz="1250" dirty="0"/>
          </a:p>
        </p:txBody>
      </p:sp>
      <p:sp>
        <p:nvSpPr>
          <p:cNvPr id="30" name="Shape 27"/>
          <p:cNvSpPr/>
          <p:nvPr/>
        </p:nvSpPr>
        <p:spPr>
          <a:xfrm>
            <a:off x="5001768" y="3794760"/>
            <a:ext cx="3108960" cy="1234440"/>
          </a:xfrm>
          <a:prstGeom prst="roundRect">
            <a:avLst>
              <a:gd name="adj" fmla="val 5926"/>
            </a:avLst>
          </a:prstGeom>
          <a:solidFill>
            <a:srgbClr val="0B1220"/>
          </a:solidFill>
          <a:ln w="10160">
            <a:solidFill>
              <a:srgbClr val="42B4FF"/>
            </a:solidFill>
            <a:prstDash val="solid"/>
          </a:ln>
        </p:spPr>
      </p:sp>
      <p:sp>
        <p:nvSpPr>
          <p:cNvPr id="31" name="Text 28"/>
          <p:cNvSpPr/>
          <p:nvPr/>
        </p:nvSpPr>
        <p:spPr>
          <a:xfrm>
            <a:off x="5093208" y="3941064"/>
            <a:ext cx="292608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2</a:t>
            </a:r>
            <a:endParaRPr lang="en-US" sz="3800" dirty="0"/>
          </a:p>
        </p:txBody>
      </p:sp>
      <p:sp>
        <p:nvSpPr>
          <p:cNvPr id="32" name="Text 29"/>
          <p:cNvSpPr/>
          <p:nvPr/>
        </p:nvSpPr>
        <p:spPr>
          <a:xfrm>
            <a:off x="5093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System · actor-level reflections</a:t>
            </a:r>
            <a:endParaRPr lang="en-US" sz="1250" dirty="0"/>
          </a:p>
        </p:txBody>
      </p:sp>
      <p:sp>
        <p:nvSpPr>
          <p:cNvPr id="33" name="Shape 30"/>
          <p:cNvSpPr/>
          <p:nvPr/>
        </p:nvSpPr>
        <p:spPr>
          <a:xfrm>
            <a:off x="8430768" y="3794760"/>
            <a:ext cx="3108960" cy="1234440"/>
          </a:xfrm>
          <a:prstGeom prst="roundRect">
            <a:avLst>
              <a:gd name="adj" fmla="val 5926"/>
            </a:avLst>
          </a:prstGeom>
          <a:solidFill>
            <a:srgbClr val="0B1220"/>
          </a:solidFill>
          <a:ln w="10160">
            <a:solidFill>
              <a:srgbClr val="00E500"/>
            </a:solidFill>
            <a:prstDash val="solid"/>
          </a:ln>
        </p:spPr>
      </p:sp>
      <p:sp>
        <p:nvSpPr>
          <p:cNvPr id="34" name="Text 31"/>
          <p:cNvSpPr/>
          <p:nvPr/>
        </p:nvSpPr>
        <p:spPr>
          <a:xfrm>
            <a:off x="8522208" y="3941064"/>
            <a:ext cx="292608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新 session</a:t>
            </a:r>
            <a:endParaRPr lang="en-US" sz="3800" dirty="0"/>
          </a:p>
        </p:txBody>
      </p:sp>
      <p:sp>
        <p:nvSpPr>
          <p:cNvPr id="35" name="Text 32"/>
          <p:cNvSpPr/>
          <p:nvPr/>
        </p:nvSpPr>
        <p:spPr>
          <a:xfrm>
            <a:off x="8522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AgentCore Harness · Retrieval 调用 + 注入</a:t>
            </a:r>
            <a:endParaRPr lang="en-US" sz="1250" dirty="0"/>
          </a:p>
        </p:txBody>
      </p:sp>
      <p:sp>
        <p:nvSpPr>
          <p:cNvPr id="36" name="Shape 33"/>
          <p:cNvSpPr/>
          <p:nvPr/>
        </p:nvSpPr>
        <p:spPr>
          <a:xfrm>
            <a:off x="566928" y="5440680"/>
            <a:ext cx="11064240" cy="777240"/>
          </a:xfrm>
          <a:prstGeom prst="roundRect">
            <a:avLst>
              <a:gd name="adj" fmla="val 9412"/>
            </a:avLst>
          </a:prstGeom>
          <a:solidFill>
            <a:srgbClr val="0B1220"/>
          </a:solidFill>
          <a:ln w="10160">
            <a:solidFill>
              <a:srgbClr val="42B4FF"/>
            </a:solidFill>
            <a:prstDash val="solid"/>
          </a:ln>
        </p:spPr>
      </p:sp>
      <p:sp>
        <p:nvSpPr>
          <p:cNvPr id="37" name="Text 3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Memory System：检索 actor Records　|　AgentCore Harness：注入上下文　|　接收方：新 Harness Agent</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REAL MEMORY</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8</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System · EPISODIC 实际生成的 Records</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Memory System 在 Consolidation 阶段生成 session-level episode，在 Reflection 阶段生成 actor-level reflections。</a:t>
            </a:r>
            <a:endParaRPr lang="en-US" sz="1400" dirty="0"/>
          </a:p>
        </p:txBody>
      </p:sp>
      <p:sp>
        <p:nvSpPr>
          <p:cNvPr id="8" name="Shape 5"/>
          <p:cNvSpPr/>
          <p:nvPr/>
        </p:nvSpPr>
        <p:spPr>
          <a:xfrm>
            <a:off x="566928" y="1664208"/>
            <a:ext cx="3657600" cy="3931920"/>
          </a:xfrm>
          <a:prstGeom prst="roundRect">
            <a:avLst>
              <a:gd name="adj" fmla="val 2000"/>
            </a:avLst>
          </a:prstGeom>
          <a:solidFill>
            <a:srgbClr val="0C3440"/>
          </a:solidFill>
          <a:ln w="10160">
            <a:solidFill>
              <a:srgbClr val="2E3B57"/>
            </a:solidFill>
            <a:prstDash val="solid"/>
          </a:ln>
        </p:spPr>
      </p:sp>
      <p:sp>
        <p:nvSpPr>
          <p:cNvPr id="9" name="Text 6"/>
          <p:cNvSpPr/>
          <p:nvPr/>
        </p:nvSpPr>
        <p:spPr>
          <a:xfrm>
            <a:off x="768096" y="1801368"/>
            <a:ext cx="32552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SYSTEM · EPISODE RECORD</a:t>
            </a:r>
            <a:endParaRPr lang="en-US" sz="1150" dirty="0"/>
          </a:p>
        </p:txBody>
      </p:sp>
      <p:sp>
        <p:nvSpPr>
          <p:cNvPr id="10" name="Text 7"/>
          <p:cNvSpPr/>
          <p:nvPr/>
        </p:nvSpPr>
        <p:spPr>
          <a:xfrm>
            <a:off x="768096" y="2148840"/>
            <a:ext cx="32552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两阶段流程设计有效</a:t>
            </a:r>
            <a:endParaRPr lang="en-US" sz="1700" dirty="0"/>
          </a:p>
        </p:txBody>
      </p:sp>
      <p:sp>
        <p:nvSpPr>
          <p:cNvPr id="11" name="Text 8"/>
          <p:cNvSpPr/>
          <p:nvPr/>
        </p:nvSpPr>
        <p:spPr>
          <a:xfrm>
            <a:off x="768096" y="2606040"/>
            <a:ext cx="32552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先输出 self_review 再执行修订，避免一次性处理复杂文档时遗漏问题。</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对于 OCR 错误、章节跳号、重复表格和图片内容，分阶段结构化抽取是推荐模式。</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不可完整提取的内容应显式说明限制。</a:t>
            </a:r>
            <a:endParaRPr lang="en-US" sz="1300" dirty="0"/>
          </a:p>
        </p:txBody>
      </p:sp>
      <p:sp>
        <p:nvSpPr>
          <p:cNvPr id="12" name="Shape 9"/>
          <p:cNvSpPr/>
          <p:nvPr/>
        </p:nvSpPr>
        <p:spPr>
          <a:xfrm>
            <a:off x="4453128" y="1664208"/>
            <a:ext cx="3520440" cy="3931920"/>
          </a:xfrm>
          <a:prstGeom prst="roundRect">
            <a:avLst>
              <a:gd name="adj" fmla="val 2078"/>
            </a:avLst>
          </a:prstGeom>
          <a:solidFill>
            <a:srgbClr val="2A2418"/>
          </a:solidFill>
          <a:ln w="10160">
            <a:solidFill>
              <a:srgbClr val="2E3B57"/>
            </a:solidFill>
            <a:prstDash val="solid"/>
          </a:ln>
        </p:spPr>
      </p:sp>
      <p:sp>
        <p:nvSpPr>
          <p:cNvPr id="13" name="Text 10"/>
          <p:cNvSpPr/>
          <p:nvPr/>
        </p:nvSpPr>
        <p:spPr>
          <a:xfrm>
            <a:off x="4654296" y="1801368"/>
            <a:ext cx="311810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SYSTEM · ACTOR REFLECTION 1</a:t>
            </a:r>
            <a:endParaRPr lang="en-US" sz="1150" dirty="0"/>
          </a:p>
        </p:txBody>
      </p:sp>
      <p:sp>
        <p:nvSpPr>
          <p:cNvPr id="14" name="Text 11"/>
          <p:cNvSpPr/>
          <p:nvPr/>
        </p:nvSpPr>
        <p:spPr>
          <a:xfrm>
            <a:off x="4654296" y="2148840"/>
            <a:ext cx="311810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Two-Phase Structured Extraction</a:t>
            </a:r>
            <a:endParaRPr lang="en-US" sz="1500" dirty="0"/>
          </a:p>
        </p:txBody>
      </p:sp>
      <p:sp>
        <p:nvSpPr>
          <p:cNvPr id="15" name="Text 12"/>
          <p:cNvSpPr/>
          <p:nvPr/>
        </p:nvSpPr>
        <p:spPr>
          <a:xfrm>
            <a:off x="4654296" y="2606040"/>
            <a:ext cx="3118104" cy="2862072"/>
          </a:xfrm>
          <a:prstGeom prst="rect">
            <a:avLst/>
          </a:prstGeom>
          <a:noFill/>
          <a:ln/>
        </p:spPr>
        <p:txBody>
          <a:bodyPr wrap="square" lIns="0" tIns="0" rIns="0" bIns="0" rtlCol="0" anchor="t"/>
          <a:lstStyle/>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1:</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coverage / omissions / format / granularity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2:</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execute next_actions systematically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保留原文用于追溯。</a:t>
            </a:r>
            <a:endParaRPr lang="en-US" sz="1280" dirty="0"/>
          </a:p>
        </p:txBody>
      </p:sp>
      <p:sp>
        <p:nvSpPr>
          <p:cNvPr id="16" name="Shape 13"/>
          <p:cNvSpPr/>
          <p:nvPr/>
        </p:nvSpPr>
        <p:spPr>
          <a:xfrm>
            <a:off x="8202168" y="1664208"/>
            <a:ext cx="3429000" cy="3931920"/>
          </a:xfrm>
          <a:prstGeom prst="roundRect">
            <a:avLst>
              <a:gd name="adj" fmla="val 2133"/>
            </a:avLst>
          </a:prstGeom>
          <a:solidFill>
            <a:srgbClr val="12331F"/>
          </a:solidFill>
          <a:ln w="10160">
            <a:solidFill>
              <a:srgbClr val="2E3B57"/>
            </a:solidFill>
            <a:prstDash val="solid"/>
          </a:ln>
        </p:spPr>
      </p:sp>
      <p:sp>
        <p:nvSpPr>
          <p:cNvPr id="17" name="Text 14"/>
          <p:cNvSpPr/>
          <p:nvPr/>
        </p:nvSpPr>
        <p:spPr>
          <a:xfrm>
            <a:off x="8403336" y="1801368"/>
            <a:ext cx="302666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SYSTEM · ACTOR REFLECTION 2</a:t>
            </a:r>
            <a:endParaRPr lang="en-US" sz="1150" dirty="0"/>
          </a:p>
        </p:txBody>
      </p:sp>
      <p:sp>
        <p:nvSpPr>
          <p:cNvPr id="18" name="Text 15"/>
          <p:cNvSpPr/>
          <p:nvPr/>
        </p:nvSpPr>
        <p:spPr>
          <a:xfrm>
            <a:off x="8403336" y="2148840"/>
            <a:ext cx="302666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Inline Annotation</a:t>
            </a:r>
            <a:endParaRPr lang="en-US" sz="1500" dirty="0"/>
          </a:p>
        </p:txBody>
      </p:sp>
      <p:sp>
        <p:nvSpPr>
          <p:cNvPr id="19" name="Text 16"/>
          <p:cNvSpPr/>
          <p:nvPr/>
        </p:nvSpPr>
        <p:spPr>
          <a:xfrm>
            <a:off x="8403336" y="2606040"/>
            <a:ext cx="30266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遇到 OCR 错误或表格冲突时：</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不静默丢弃</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保留原文</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标记冲突值</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文档级限制写入 __META__</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9</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00E500"/>
                </a:solidFill>
                <a:latin typeface="Amazon Ember Display" pitchFamily="34" charset="0"/>
                <a:ea typeface="Amazon Ember Display" pitchFamily="34" charset="-122"/>
                <a:cs typeface="Amazon Ember Display" pitchFamily="34" charset="-120"/>
              </a:rPr>
              <a:t>02</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Application 启动留出实验：只改变 Retrieval 开关</a:t>
            </a:r>
            <a:endParaRPr lang="en-US" sz="27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Application 为同一电机图纸创建两组 fresh sessions；Harness Agent 使用相同配置执行抽取。</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00E500"/>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00E500"/>
                </a:solidFill>
                <a:latin typeface="Microsoft YaHei" pitchFamily="34" charset="0"/>
                <a:ea typeface="Microsoft YaHei" pitchFamily="34" charset="-122"/>
                <a:cs typeface="Microsoft YaHei" pitchFamily="34" charset="-120"/>
              </a:rPr>
              <a:t>实验边界：enabled 组由 Memory System 执行 Retrieval、AgentCore Harness 注入 Records；disabled 组不接收 Records。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CONTROL</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10</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500" b="1" dirty="0">
                <a:solidFill>
                  <a:srgbClr val="FFFFFF"/>
                </a:solidFill>
                <a:latin typeface="Amazon Ember Display" pitchFamily="34" charset="0"/>
                <a:ea typeface="Amazon Ember Display" pitchFamily="34" charset="-122"/>
                <a:cs typeface="Amazon Ember Display" pitchFamily="34" charset="-120"/>
              </a:rPr>
              <a:t>Application 控制变量；Harness Agent 执行目标抽取</a:t>
            </a:r>
            <a:endParaRPr lang="en-US" sz="25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固定两组配置；enabled 组由 Memory System 检索 Records、AgentCore Harness 注入上下文。</a:t>
            </a:r>
            <a:endParaRPr lang="en-US" sz="1400" dirty="0"/>
          </a:p>
        </p:txBody>
      </p:sp>
      <p:sp>
        <p:nvSpPr>
          <p:cNvPr id="8" name="Shape 5"/>
          <p:cNvSpPr/>
          <p:nvPr/>
        </p:nvSpPr>
        <p:spPr>
          <a:xfrm>
            <a:off x="566928" y="1627632"/>
            <a:ext cx="5440680" cy="3566160"/>
          </a:xfrm>
          <a:prstGeom prst="roundRect">
            <a:avLst>
              <a:gd name="adj" fmla="val 2051"/>
            </a:avLst>
          </a:prstGeom>
          <a:solidFill>
            <a:srgbClr val="1C2740"/>
          </a:solidFill>
          <a:ln w="10160">
            <a:solidFill>
              <a:srgbClr val="2E3B57"/>
            </a:solidFill>
            <a:prstDash val="solid"/>
          </a:ln>
        </p:spPr>
      </p:sp>
      <p:sp>
        <p:nvSpPr>
          <p:cNvPr id="9" name="Text 6"/>
          <p:cNvSpPr/>
          <p:nvPr/>
        </p:nvSpPr>
        <p:spPr>
          <a:xfrm>
            <a:off x="749808" y="1755648"/>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提供 → HARNESS AGENT 执行</a:t>
            </a:r>
            <a:endParaRPr lang="en-US" sz="1150" dirty="0"/>
          </a:p>
        </p:txBody>
      </p:sp>
      <p:sp>
        <p:nvSpPr>
          <p:cNvPr id="10" name="Shape 7"/>
          <p:cNvSpPr/>
          <p:nvPr/>
        </p:nvSpPr>
        <p:spPr>
          <a:xfrm>
            <a:off x="749808" y="2084832"/>
            <a:ext cx="5074920" cy="2953512"/>
          </a:xfrm>
          <a:prstGeom prst="roundRect">
            <a:avLst>
              <a:gd name="adj" fmla="val 2477"/>
            </a:avLst>
          </a:prstGeom>
          <a:solidFill>
            <a:srgbClr val="0B1220"/>
          </a:solidFill>
          <a:ln w="10160">
            <a:solidFill>
              <a:srgbClr val="2E3B57"/>
            </a:solidFill>
            <a:prstDash val="solid"/>
          </a:ln>
        </p:spPr>
      </p:sp>
      <p:sp>
        <p:nvSpPr>
          <p:cNvPr id="11" name="Text 8"/>
          <p:cNvSpPr/>
          <p:nvPr/>
        </p:nvSpPr>
        <p:spPr>
          <a:xfrm>
            <a:off x="859536" y="2157984"/>
            <a:ext cx="4855464" cy="2816352"/>
          </a:xfrm>
          <a:prstGeom prst="rect">
            <a:avLst/>
          </a:prstGeom>
          <a:noFill/>
          <a:ln/>
        </p:spPr>
        <p:txBody>
          <a:bodyPr wrap="square" lIns="0" tIns="0" rIns="0" bIns="0" rtlCol="0" anchor="t"/>
          <a:lstStyle/>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根据用户文档抽取所有可识别的技术要求/参数。</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每条输出：</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设备主体 / 设备部件 / 指标名称 /</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指标特征 / 原文。</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先在内部自审覆盖、遗漏、格式和粒度，</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再只输出最终合法 JSON。</a:t>
            </a:r>
            <a:endParaRPr lang="en-US" sz="1130" dirty="0"/>
          </a:p>
        </p:txBody>
      </p:sp>
      <p:sp>
        <p:nvSpPr>
          <p:cNvPr id="12" name="Shape 9"/>
          <p:cNvSpPr/>
          <p:nvPr/>
        </p:nvSpPr>
        <p:spPr>
          <a:xfrm>
            <a:off x="6236208" y="1627632"/>
            <a:ext cx="5394960" cy="3566160"/>
          </a:xfrm>
          <a:prstGeom prst="roundRect">
            <a:avLst>
              <a:gd name="adj" fmla="val 2051"/>
            </a:avLst>
          </a:prstGeom>
          <a:solidFill>
            <a:srgbClr val="1C2740"/>
          </a:solidFill>
          <a:ln w="10160">
            <a:solidFill>
              <a:srgbClr val="2E3B57"/>
            </a:solidFill>
            <a:prstDash val="solid"/>
          </a:ln>
        </p:spPr>
      </p:sp>
      <p:sp>
        <p:nvSpPr>
          <p:cNvPr id="13" name="Text 10"/>
          <p:cNvSpPr/>
          <p:nvPr/>
        </p:nvSpPr>
        <p:spPr>
          <a:xfrm>
            <a:off x="6437376" y="1764792"/>
            <a:ext cx="499262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APPLICATION · 实验控制</a:t>
            </a:r>
            <a:endParaRPr lang="en-US" sz="1150" dirty="0"/>
          </a:p>
        </p:txBody>
      </p:sp>
      <p:sp>
        <p:nvSpPr>
          <p:cNvPr id="14" name="Text 11"/>
          <p:cNvSpPr/>
          <p:nvPr/>
        </p:nvSpPr>
        <p:spPr>
          <a:xfrm>
            <a:off x="6437376" y="2112264"/>
            <a:ext cx="499262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Application 固定 Harness Agent 配置</a:t>
            </a:r>
            <a:endParaRPr lang="en-US" sz="1700" dirty="0"/>
          </a:p>
        </p:txBody>
      </p:sp>
      <p:sp>
        <p:nvSpPr>
          <p:cNvPr id="15" name="Text 12"/>
          <p:cNvSpPr/>
          <p:nvPr/>
        </p:nvSpPr>
        <p:spPr>
          <a:xfrm>
            <a:off x="6437376" y="2569464"/>
            <a:ext cx="4992624" cy="249631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 同一测试文档与 system prompt</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claude-sonnet-4-6</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temperature=0 · maxTokens=32768</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skills=[] · tools=[]</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两组均使用全新 session</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Enabled：Memory Retrieval + Harness Injection</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Disabled：不检索、不注入历史 Records</a:t>
            </a:r>
            <a:endParaRPr lang="en-US" sz="1300" dirty="0"/>
          </a:p>
        </p:txBody>
      </p:sp>
      <p:sp>
        <p:nvSpPr>
          <p:cNvPr id="16" name="Shape 13"/>
          <p:cNvSpPr/>
          <p:nvPr/>
        </p:nvSpPr>
        <p:spPr>
          <a:xfrm>
            <a:off x="566928" y="5440680"/>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Application 控制变量　|　Memory System 检索　|　AgentCore Harness 注入　|　Harness Agent 抽取</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KEY RESULT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11</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结果：31 vs 11</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Enabled 组由 Memory System 检索 EPISODIC Records、AgentCore Harness 注入；两组 Harness Agent 使用相同 Prompt。</a:t>
            </a:r>
            <a:endParaRPr lang="en-US" sz="1400" dirty="0"/>
          </a:p>
        </p:txBody>
      </p:sp>
      <p:sp>
        <p:nvSpPr>
          <p:cNvPr id="8" name="Shape 5"/>
          <p:cNvSpPr/>
          <p:nvPr/>
        </p:nvSpPr>
        <p:spPr>
          <a:xfrm>
            <a:off x="566928" y="1627632"/>
            <a:ext cx="4434840" cy="1234440"/>
          </a:xfrm>
          <a:prstGeom prst="roundRect">
            <a:avLst>
              <a:gd name="adj" fmla="val 5926"/>
            </a:avLst>
          </a:prstGeom>
          <a:solidFill>
            <a:srgbClr val="0B1220"/>
          </a:solidFill>
          <a:ln w="10160">
            <a:solidFill>
              <a:srgbClr val="00E500"/>
            </a:solidFill>
            <a:prstDash val="solid"/>
          </a:ln>
        </p:spPr>
      </p:sp>
      <p:sp>
        <p:nvSpPr>
          <p:cNvPr id="9" name="Text 6"/>
          <p:cNvSpPr/>
          <p:nvPr/>
        </p:nvSpPr>
        <p:spPr>
          <a:xfrm>
            <a:off x="658368" y="1773936"/>
            <a:ext cx="425196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31 条</a:t>
            </a:r>
            <a:endParaRPr lang="en-US" sz="3800" dirty="0"/>
          </a:p>
        </p:txBody>
      </p:sp>
      <p:sp>
        <p:nvSpPr>
          <p:cNvPr id="10" name="Text 7"/>
          <p:cNvSpPr/>
          <p:nvPr/>
        </p:nvSpPr>
        <p:spPr>
          <a:xfrm>
            <a:off x="658368"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enabled</a:t>
            </a:r>
            <a:endParaRPr lang="en-US" sz="1250" dirty="0"/>
          </a:p>
        </p:txBody>
      </p:sp>
      <p:sp>
        <p:nvSpPr>
          <p:cNvPr id="11" name="Text 8"/>
          <p:cNvSpPr/>
          <p:nvPr/>
        </p:nvSpPr>
        <p:spPr>
          <a:xfrm>
            <a:off x="5184648" y="1901952"/>
            <a:ext cx="1234440" cy="530352"/>
          </a:xfrm>
          <a:prstGeom prst="rect">
            <a:avLst/>
          </a:prstGeom>
          <a:noFill/>
          <a:ln/>
        </p:spPr>
        <p:txBody>
          <a:bodyPr wrap="square" lIns="0" tIns="0" rIns="0" bIns="0" rtlCol="0" anchor="ctr"/>
          <a:lstStyle/>
          <a:p>
            <a:pPr algn="ctr" indent="0" marL="0">
              <a:buNone/>
            </a:pPr>
            <a:r>
              <a:rPr lang="en-US" sz="2400" b="1" dirty="0">
                <a:solidFill>
                  <a:srgbClr val="FFFFFF"/>
                </a:solidFill>
                <a:latin typeface="Amazon Ember Display" pitchFamily="34" charset="0"/>
                <a:ea typeface="Amazon Ember Display" pitchFamily="34" charset="-122"/>
                <a:cs typeface="Amazon Ember Display" pitchFamily="34" charset="-120"/>
              </a:rPr>
              <a:t>VS</a:t>
            </a:r>
            <a:endParaRPr lang="en-US" sz="2400" dirty="0"/>
          </a:p>
        </p:txBody>
      </p:sp>
      <p:sp>
        <p:nvSpPr>
          <p:cNvPr id="12" name="Shape 9"/>
          <p:cNvSpPr/>
          <p:nvPr/>
        </p:nvSpPr>
        <p:spPr>
          <a:xfrm>
            <a:off x="6583680" y="1627632"/>
            <a:ext cx="4434840" cy="1234440"/>
          </a:xfrm>
          <a:prstGeom prst="roundRect">
            <a:avLst>
              <a:gd name="adj" fmla="val 5926"/>
            </a:avLst>
          </a:prstGeom>
          <a:solidFill>
            <a:srgbClr val="0B1220"/>
          </a:solidFill>
          <a:ln w="10160">
            <a:solidFill>
              <a:srgbClr val="42B4FF"/>
            </a:solidFill>
            <a:prstDash val="solid"/>
          </a:ln>
        </p:spPr>
      </p:sp>
      <p:sp>
        <p:nvSpPr>
          <p:cNvPr id="13" name="Text 10"/>
          <p:cNvSpPr/>
          <p:nvPr/>
        </p:nvSpPr>
        <p:spPr>
          <a:xfrm>
            <a:off x="6675120" y="1773936"/>
            <a:ext cx="425196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11 条</a:t>
            </a:r>
            <a:endParaRPr lang="en-US" sz="3800" dirty="0"/>
          </a:p>
        </p:txBody>
      </p:sp>
      <p:sp>
        <p:nvSpPr>
          <p:cNvPr id="14" name="Text 11"/>
          <p:cNvSpPr/>
          <p:nvPr/>
        </p:nvSpPr>
        <p:spPr>
          <a:xfrm>
            <a:off x="6675120"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disabled</a:t>
            </a:r>
            <a:endParaRPr lang="en-US" sz="1250" dirty="0"/>
          </a:p>
        </p:txBody>
      </p:sp>
      <p:sp>
        <p:nvSpPr>
          <p:cNvPr id="15" name="Shape 12"/>
          <p:cNvSpPr/>
          <p:nvPr/>
        </p:nvSpPr>
        <p:spPr>
          <a:xfrm>
            <a:off x="566928" y="3090672"/>
            <a:ext cx="11064240" cy="987552"/>
          </a:xfrm>
          <a:prstGeom prst="roundRect">
            <a:avLst>
              <a:gd name="adj" fmla="val 7407"/>
            </a:avLst>
          </a:prstGeom>
          <a:solidFill>
            <a:srgbClr val="12331F"/>
          </a:solidFill>
          <a:ln w="10160">
            <a:solidFill>
              <a:srgbClr val="00E500"/>
            </a:solidFill>
            <a:prstDash val="solid"/>
          </a:ln>
        </p:spPr>
      </p:sp>
      <p:sp>
        <p:nvSpPr>
          <p:cNvPr id="16" name="Text 13"/>
          <p:cNvSpPr/>
          <p:nvPr/>
        </p:nvSpPr>
        <p:spPr>
          <a:xfrm>
            <a:off x="886968" y="3090672"/>
            <a:ext cx="10424160" cy="987552"/>
          </a:xfrm>
          <a:prstGeom prst="rect">
            <a:avLst/>
          </a:prstGeom>
          <a:noFill/>
          <a:ln/>
        </p:spPr>
        <p:txBody>
          <a:bodyPr wrap="square" lIns="0" tIns="0" rIns="0" bIns="0" rtlCol="0" anchor="ctr"/>
          <a:lstStyle/>
          <a:p>
            <a:pPr algn="ctr" indent="0" marL="0">
              <a:buNone/>
            </a:pPr>
            <a:r>
              <a:rPr lang="en-US" sz="1900" b="1" dirty="0">
                <a:solidFill>
                  <a:srgbClr val="00E500"/>
                </a:solidFill>
                <a:latin typeface="Amazon Ember Display" pitchFamily="34" charset="0"/>
                <a:ea typeface="Amazon Ember Display" pitchFamily="34" charset="-122"/>
                <a:cs typeface="Amazon Ember Display" pitchFamily="34" charset="-120"/>
              </a:rPr>
              <a:t>AgentCore Harness 注入 Memory Records 后，Harness Agent 多输出约 20 条；新增内容主要来自两张 BOM。</a:t>
            </a:r>
            <a:endParaRPr lang="en-US" sz="1900" dirty="0"/>
          </a:p>
        </p:txBody>
      </p:sp>
      <p:sp>
        <p:nvSpPr>
          <p:cNvPr id="17" name="Shape 14"/>
          <p:cNvSpPr/>
          <p:nvPr/>
        </p:nvSpPr>
        <p:spPr>
          <a:xfrm>
            <a:off x="566928" y="4315968"/>
            <a:ext cx="5358384" cy="1234440"/>
          </a:xfrm>
          <a:prstGeom prst="roundRect">
            <a:avLst>
              <a:gd name="adj" fmla="val 5926"/>
            </a:avLst>
          </a:prstGeom>
          <a:solidFill>
            <a:srgbClr val="1C2740"/>
          </a:solidFill>
          <a:ln w="10160">
            <a:solidFill>
              <a:srgbClr val="2E3B57"/>
            </a:solidFill>
            <a:prstDash val="solid"/>
          </a:ln>
        </p:spPr>
      </p:sp>
      <p:sp>
        <p:nvSpPr>
          <p:cNvPr id="18" name="Text 15"/>
          <p:cNvSpPr/>
          <p:nvPr/>
        </p:nvSpPr>
        <p:spPr>
          <a:xfrm>
            <a:off x="768096"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HARNESS AGENT · ENABLED 输出</a:t>
            </a:r>
            <a:endParaRPr lang="en-US" sz="1150" dirty="0"/>
          </a:p>
        </p:txBody>
      </p:sp>
      <p:sp>
        <p:nvSpPr>
          <p:cNvPr id="19" name="Text 16"/>
          <p:cNvSpPr/>
          <p:nvPr/>
        </p:nvSpPr>
        <p:spPr>
          <a:xfrm>
            <a:off x="768096"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零部件表</a:t>
            </a:r>
            <a:endParaRPr lang="en-US" sz="1500" dirty="0"/>
          </a:p>
        </p:txBody>
      </p:sp>
      <p:sp>
        <p:nvSpPr>
          <p:cNvPr id="20" name="Text 17"/>
          <p:cNvSpPr/>
          <p:nvPr/>
        </p:nvSpPr>
        <p:spPr>
          <a:xfrm>
            <a:off x="768096"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机座 · 前端盖 · 转子 · 轴承</a:t>
            </a:r>
            <a:endParaRPr lang="en-US" sz="1320" dirty="0"/>
          </a:p>
        </p:txBody>
      </p:sp>
      <p:sp>
        <p:nvSpPr>
          <p:cNvPr id="21" name="Shape 18"/>
          <p:cNvSpPr/>
          <p:nvPr/>
        </p:nvSpPr>
        <p:spPr>
          <a:xfrm>
            <a:off x="6272784" y="4315968"/>
            <a:ext cx="5358384" cy="1234440"/>
          </a:xfrm>
          <a:prstGeom prst="roundRect">
            <a:avLst>
              <a:gd name="adj" fmla="val 5926"/>
            </a:avLst>
          </a:prstGeom>
          <a:solidFill>
            <a:srgbClr val="1C2740"/>
          </a:solidFill>
          <a:ln w="10160">
            <a:solidFill>
              <a:srgbClr val="2E3B57"/>
            </a:solidFill>
            <a:prstDash val="solid"/>
          </a:ln>
        </p:spPr>
      </p:sp>
      <p:sp>
        <p:nvSpPr>
          <p:cNvPr id="22" name="Text 19"/>
          <p:cNvSpPr/>
          <p:nvPr/>
        </p:nvSpPr>
        <p:spPr>
          <a:xfrm>
            <a:off x="6473952"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HARNESS AGENT · ENABLED 输出</a:t>
            </a:r>
            <a:endParaRPr lang="en-US" sz="1150" dirty="0"/>
          </a:p>
        </p:txBody>
      </p:sp>
      <p:sp>
        <p:nvSpPr>
          <p:cNvPr id="23" name="Text 20"/>
          <p:cNvSpPr/>
          <p:nvPr/>
        </p:nvSpPr>
        <p:spPr>
          <a:xfrm>
            <a:off x="6473952"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组件表</a:t>
            </a:r>
            <a:endParaRPr lang="en-US" sz="1500" dirty="0"/>
          </a:p>
        </p:txBody>
      </p:sp>
      <p:sp>
        <p:nvSpPr>
          <p:cNvPr id="24" name="Text 21"/>
          <p:cNvSpPr/>
          <p:nvPr/>
        </p:nvSpPr>
        <p:spPr>
          <a:xfrm>
            <a:off x="6473952"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壳体组件 · 法兰盘组件 · 散热器组件</a:t>
            </a:r>
            <a:endParaRPr lang="en-US" sz="1320" dirty="0"/>
          </a:p>
        </p:txBody>
      </p:sp>
      <p:sp>
        <p:nvSpPr>
          <p:cNvPr id="25" name="Shape 22"/>
          <p:cNvSpPr/>
          <p:nvPr/>
        </p:nvSpPr>
        <p:spPr>
          <a:xfrm>
            <a:off x="566928" y="5623560"/>
            <a:ext cx="11064240" cy="777240"/>
          </a:xfrm>
          <a:prstGeom prst="roundRect">
            <a:avLst>
              <a:gd name="adj" fmla="val 9412"/>
            </a:avLst>
          </a:prstGeom>
          <a:solidFill>
            <a:srgbClr val="0B1220"/>
          </a:solidFill>
          <a:ln w="10160">
            <a:solidFill>
              <a:srgbClr val="FF6A3D"/>
            </a:solidFill>
            <a:prstDash val="solid"/>
          </a:ln>
        </p:spPr>
      </p:sp>
      <p:sp>
        <p:nvSpPr>
          <p:cNvPr id="26" name="Text 23"/>
          <p:cNvSpPr/>
          <p:nvPr/>
        </p:nvSpPr>
        <p:spPr>
          <a:xfrm>
            <a:off x="822960" y="5623560"/>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Reviewer 人工核对：新增条目基本有原文依据；该实验说明覆盖关注点扩大，不等于质量提升 3 倍。</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SYNTHESIS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两项实验构成一条完整证据链</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实验一证明托管 EPISODIC Records 能从高质量源任务轨迹中形成；实验二验证这些 Records 对新任务抽取行为的影响。</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64208"/>
          <a:ext cx="11064240" cy="3429000"/>
        </p:xfrm>
        <a:graphic>
          <a:graphicData uri="http://schemas.openxmlformats.org/drawingml/2006/table">
            <a:tbl>
              <a:tblPr/>
              <a:tblGrid>
                <a:gridCol w="2011680"/>
                <a:gridCol w="4526280"/>
                <a:gridCol w="4526280"/>
              </a:tblGrid>
              <a:tr h="420624">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对比项</a:t>
                      </a:r>
                      <a:endParaRPr lang="en-US" sz="122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实验一 · EPISODIC Records 生成</a:t>
                      </a:r>
                      <a:endParaRPr lang="en-US" sz="122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实验二 · 留出文档验证</a:t>
                      </a:r>
                      <a:endParaRPr lang="en-US" sz="122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r>
              <a:tr h="457200">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核心问题</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Memory System 能否从 Harness Agent 轨迹生成 Records？</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AgentCore Harness 注入后，Harness Agent 输出是否变化？</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75488">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执行主体</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Application + Harness Agent + Memory System</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Application + Memory System + AgentCore Harness + Harness Agent + Reviewer</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输入 / 变量</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13 页原文 + self_review + 最终 JSON</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同一目标配置；只切换 Retrieval + Injection</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75488">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实际产物</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Memory System：1 episode + 2 actor reflections</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b="1" dirty="0">
                          <a:solidFill>
                            <a:srgbClr val="00E500"/>
                          </a:solidFill>
                          <a:latin typeface="Microsoft YaHei" pitchFamily="34" charset="0"/>
                          <a:ea typeface="Microsoft YaHei" pitchFamily="34" charset="-122"/>
                          <a:cs typeface="Microsoft YaHei" pitchFamily="34" charset="-120"/>
                        </a:rPr>
                        <a:t>Harness Agent：31 条 vs 11 条</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502920">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关键观察</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Records 包含 coverage / omissions / conflict 处理方法</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b="1" dirty="0">
                          <a:solidFill>
                            <a:srgbClr val="00E500"/>
                          </a:solidFill>
                          <a:latin typeface="Microsoft YaHei" pitchFamily="34" charset="0"/>
                          <a:ea typeface="Microsoft YaHei" pitchFamily="34" charset="-122"/>
                          <a:cs typeface="Microsoft YaHei" pitchFamily="34" charset="-120"/>
                        </a:rPr>
                        <a:t>Enabled Harness Agent 系统展开两张 BOM</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502920">
                <a:tc>
                  <a:txBody>
                    <a:bodyPr/>
                    <a:lstStyle/>
                    <a:p>
                      <a:pPr indent="0" marL="0">
                        <a:buNone/>
                      </a:pPr>
                      <a:r>
                        <a:rPr lang="en-US" sz="1130" b="1" dirty="0">
                          <a:solidFill>
                            <a:srgbClr val="FFFFFF"/>
                          </a:solidFill>
                          <a:latin typeface="Microsoft YaHei" pitchFamily="34" charset="0"/>
                          <a:ea typeface="Microsoft YaHei" pitchFamily="34" charset="-122"/>
                          <a:cs typeface="Microsoft YaHei" pitchFamily="34" charset="-120"/>
                        </a:rPr>
                        <a:t>结论边界</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证明 EPISODIC Records 能生成并跨 session 检索</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130" dirty="0">
                          <a:solidFill>
                            <a:srgbClr val="CFD9E4"/>
                          </a:solidFill>
                          <a:latin typeface="Microsoft YaHei" pitchFamily="34" charset="0"/>
                          <a:ea typeface="Microsoft YaHei" pitchFamily="34" charset="-122"/>
                          <a:cs typeface="Microsoft YaHei" pitchFamily="34" charset="-120"/>
                        </a:rPr>
                        <a:t>证明覆盖关注点变化；最终质量仍由 Reviewer 判断</a:t>
                      </a:r>
                      <a:endParaRPr lang="en-US" sz="113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bl>
          </a:graphicData>
        </a:graphic>
      </p:graphicFrame>
      <p:sp>
        <p:nvSpPr>
          <p:cNvPr id="9" name="Shape 5"/>
          <p:cNvSpPr/>
          <p:nvPr/>
        </p:nvSpPr>
        <p:spPr>
          <a:xfrm>
            <a:off x="566928" y="5413248"/>
            <a:ext cx="11064240" cy="777240"/>
          </a:xfrm>
          <a:prstGeom prst="roundRect">
            <a:avLst>
              <a:gd name="adj" fmla="val 9412"/>
            </a:avLst>
          </a:prstGeom>
          <a:solidFill>
            <a:srgbClr val="0B1220"/>
          </a:solidFill>
          <a:ln w="10160">
            <a:solidFill>
              <a:srgbClr val="42B4FF"/>
            </a:solidFill>
            <a:prstDash val="solid"/>
          </a:ln>
        </p:spPr>
      </p:sp>
      <p:sp>
        <p:nvSpPr>
          <p:cNvPr id="10" name="Text 6"/>
          <p:cNvSpPr/>
          <p:nvPr/>
        </p:nvSpPr>
        <p:spPr>
          <a:xfrm>
            <a:off x="822960" y="5413248"/>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证据链：Harness Agent 原文自审 → Memory System 生成/检索 Records → AgentCore Harness 注入 → 新 Harness Agent 扩大 BOM 覆盖</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BEST PRACTICES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13</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各组件在 Memory 学习回路中的最佳实践</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每条实践都明确责任主体，避免把 Application 编排、Harness Agent 推理和 Memory System 托管能力混为一谈。</a:t>
            </a:r>
            <a:endParaRPr lang="en-US" sz="1400" dirty="0"/>
          </a:p>
        </p:txBody>
      </p:sp>
      <p:sp>
        <p:nvSpPr>
          <p:cNvPr id="8" name="Shape 5"/>
          <p:cNvSpPr/>
          <p:nvPr/>
        </p:nvSpPr>
        <p:spPr>
          <a:xfrm>
            <a:off x="566928" y="1600200"/>
            <a:ext cx="5394960" cy="868680"/>
          </a:xfrm>
          <a:prstGeom prst="roundRect">
            <a:avLst>
              <a:gd name="adj" fmla="val 8421"/>
            </a:avLst>
          </a:prstGeom>
          <a:solidFill>
            <a:srgbClr val="1C2740"/>
          </a:solidFill>
          <a:ln w="10160">
            <a:solidFill>
              <a:srgbClr val="2E3B57"/>
            </a:solidFill>
            <a:prstDash val="solid"/>
          </a:ln>
        </p:spPr>
      </p:sp>
      <p:sp>
        <p:nvSpPr>
          <p:cNvPr id="9" name="Text 6"/>
          <p:cNvSpPr/>
          <p:nvPr/>
        </p:nvSpPr>
        <p:spPr>
          <a:xfrm>
            <a:off x="73152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1</a:t>
            </a:r>
            <a:endParaRPr lang="en-US" sz="1500" dirty="0"/>
          </a:p>
        </p:txBody>
      </p:sp>
      <p:sp>
        <p:nvSpPr>
          <p:cNvPr id="10" name="Text 7"/>
          <p:cNvSpPr/>
          <p:nvPr/>
        </p:nvSpPr>
        <p:spPr>
          <a:xfrm>
            <a:off x="131673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Review 看原文</a:t>
            </a:r>
            <a:endParaRPr lang="en-US" sz="1450" dirty="0"/>
          </a:p>
        </p:txBody>
      </p:sp>
      <p:sp>
        <p:nvSpPr>
          <p:cNvPr id="11" name="Text 8"/>
          <p:cNvSpPr/>
          <p:nvPr/>
        </p:nvSpPr>
        <p:spPr>
          <a:xfrm>
            <a:off x="131673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对照原文检查覆盖、遗漏和冲突。</a:t>
            </a:r>
            <a:endParaRPr lang="en-US" sz="1170" dirty="0"/>
          </a:p>
        </p:txBody>
      </p:sp>
      <p:sp>
        <p:nvSpPr>
          <p:cNvPr id="12" name="Shape 9"/>
          <p:cNvSpPr/>
          <p:nvPr/>
        </p:nvSpPr>
        <p:spPr>
          <a:xfrm>
            <a:off x="6236208" y="1600200"/>
            <a:ext cx="5394960" cy="868680"/>
          </a:xfrm>
          <a:prstGeom prst="roundRect">
            <a:avLst>
              <a:gd name="adj" fmla="val 8421"/>
            </a:avLst>
          </a:prstGeom>
          <a:solidFill>
            <a:srgbClr val="1C2740"/>
          </a:solidFill>
          <a:ln w="10160">
            <a:solidFill>
              <a:srgbClr val="2E3B57"/>
            </a:solidFill>
            <a:prstDash val="solid"/>
          </a:ln>
        </p:spPr>
      </p:sp>
      <p:sp>
        <p:nvSpPr>
          <p:cNvPr id="13" name="Text 10"/>
          <p:cNvSpPr/>
          <p:nvPr/>
        </p:nvSpPr>
        <p:spPr>
          <a:xfrm>
            <a:off x="640080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2</a:t>
            </a:r>
            <a:endParaRPr lang="en-US" sz="1500" dirty="0"/>
          </a:p>
        </p:txBody>
      </p:sp>
      <p:sp>
        <p:nvSpPr>
          <p:cNvPr id="14" name="Text 11"/>
          <p:cNvSpPr/>
          <p:nvPr/>
        </p:nvSpPr>
        <p:spPr>
          <a:xfrm>
            <a:off x="698601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输出 Artifact</a:t>
            </a:r>
            <a:endParaRPr lang="en-US" sz="1450" dirty="0"/>
          </a:p>
        </p:txBody>
      </p:sp>
      <p:sp>
        <p:nvSpPr>
          <p:cNvPr id="15" name="Text 12"/>
          <p:cNvSpPr/>
          <p:nvPr/>
        </p:nvSpPr>
        <p:spPr>
          <a:xfrm>
            <a:off x="698601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固定 coverage / omissions / format / granularity。</a:t>
            </a:r>
            <a:endParaRPr lang="en-US" sz="1170" dirty="0"/>
          </a:p>
        </p:txBody>
      </p:sp>
      <p:sp>
        <p:nvSpPr>
          <p:cNvPr id="16" name="Shape 13"/>
          <p:cNvSpPr/>
          <p:nvPr/>
        </p:nvSpPr>
        <p:spPr>
          <a:xfrm>
            <a:off x="566928" y="2633472"/>
            <a:ext cx="5394960" cy="868680"/>
          </a:xfrm>
          <a:prstGeom prst="roundRect">
            <a:avLst>
              <a:gd name="adj" fmla="val 8421"/>
            </a:avLst>
          </a:prstGeom>
          <a:solidFill>
            <a:srgbClr val="1C2740"/>
          </a:solidFill>
          <a:ln w="10160">
            <a:solidFill>
              <a:srgbClr val="2E3B57"/>
            </a:solidFill>
            <a:prstDash val="solid"/>
          </a:ln>
        </p:spPr>
      </p:sp>
      <p:sp>
        <p:nvSpPr>
          <p:cNvPr id="17" name="Text 14"/>
          <p:cNvSpPr/>
          <p:nvPr/>
        </p:nvSpPr>
        <p:spPr>
          <a:xfrm>
            <a:off x="731520" y="2807208"/>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3</a:t>
            </a:r>
            <a:endParaRPr lang="en-US" sz="1500" dirty="0"/>
          </a:p>
        </p:txBody>
      </p:sp>
      <p:sp>
        <p:nvSpPr>
          <p:cNvPr id="18" name="Text 15"/>
          <p:cNvSpPr/>
          <p:nvPr/>
        </p:nvSpPr>
        <p:spPr>
          <a:xfrm>
            <a:off x="131673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Application · 编排两阶段</a:t>
            </a:r>
            <a:endParaRPr lang="en-US" sz="1450" dirty="0"/>
          </a:p>
        </p:txBody>
      </p:sp>
      <p:sp>
        <p:nvSpPr>
          <p:cNvPr id="19" name="Text 16"/>
          <p:cNvSpPr/>
          <p:nvPr/>
        </p:nvSpPr>
        <p:spPr>
          <a:xfrm>
            <a:off x="131673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顺序调用 Review 与 Revision，并保持同一 session。</a:t>
            </a:r>
            <a:endParaRPr lang="en-US" sz="1170" dirty="0"/>
          </a:p>
        </p:txBody>
      </p:sp>
      <p:sp>
        <p:nvSpPr>
          <p:cNvPr id="20" name="Shape 17"/>
          <p:cNvSpPr/>
          <p:nvPr/>
        </p:nvSpPr>
        <p:spPr>
          <a:xfrm>
            <a:off x="6236208" y="2633472"/>
            <a:ext cx="5394960" cy="868680"/>
          </a:xfrm>
          <a:prstGeom prst="roundRect">
            <a:avLst>
              <a:gd name="adj" fmla="val 8421"/>
            </a:avLst>
          </a:prstGeom>
          <a:solidFill>
            <a:srgbClr val="1C2740"/>
          </a:solidFill>
          <a:ln w="10160">
            <a:solidFill>
              <a:srgbClr val="2E3B57"/>
            </a:solidFill>
            <a:prstDash val="solid"/>
          </a:ln>
        </p:spPr>
      </p:sp>
      <p:sp>
        <p:nvSpPr>
          <p:cNvPr id="21" name="Text 18"/>
          <p:cNvSpPr/>
          <p:nvPr/>
        </p:nvSpPr>
        <p:spPr>
          <a:xfrm>
            <a:off x="6400800" y="2807208"/>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4</a:t>
            </a:r>
            <a:endParaRPr lang="en-US" sz="1500" dirty="0"/>
          </a:p>
        </p:txBody>
      </p:sp>
      <p:sp>
        <p:nvSpPr>
          <p:cNvPr id="22" name="Text 19"/>
          <p:cNvSpPr/>
          <p:nvPr/>
        </p:nvSpPr>
        <p:spPr>
          <a:xfrm>
            <a:off x="698601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Reviewer / Human · 定义边界</a:t>
            </a:r>
            <a:endParaRPr lang="en-US" sz="1450" dirty="0"/>
          </a:p>
        </p:txBody>
      </p:sp>
      <p:sp>
        <p:nvSpPr>
          <p:cNvPr id="23" name="Text 20"/>
          <p:cNvSpPr/>
          <p:nvPr/>
        </p:nvSpPr>
        <p:spPr>
          <a:xfrm>
            <a:off x="698601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Harness Agent 自审源覆盖；Reviewer 定义业务边界。</a:t>
            </a:r>
            <a:endParaRPr lang="en-US" sz="1170" dirty="0"/>
          </a:p>
        </p:txBody>
      </p:sp>
      <p:sp>
        <p:nvSpPr>
          <p:cNvPr id="24" name="Shape 21"/>
          <p:cNvSpPr/>
          <p:nvPr/>
        </p:nvSpPr>
        <p:spPr>
          <a:xfrm>
            <a:off x="566928" y="3666744"/>
            <a:ext cx="5394960" cy="868680"/>
          </a:xfrm>
          <a:prstGeom prst="roundRect">
            <a:avLst>
              <a:gd name="adj" fmla="val 8421"/>
            </a:avLst>
          </a:prstGeom>
          <a:solidFill>
            <a:srgbClr val="1C2740"/>
          </a:solidFill>
          <a:ln w="10160">
            <a:solidFill>
              <a:srgbClr val="2E3B57"/>
            </a:solidFill>
            <a:prstDash val="solid"/>
          </a:ln>
        </p:spPr>
      </p:sp>
      <p:sp>
        <p:nvSpPr>
          <p:cNvPr id="25" name="Text 22"/>
          <p:cNvSpPr/>
          <p:nvPr/>
        </p:nvSpPr>
        <p:spPr>
          <a:xfrm>
            <a:off x="73152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5</a:t>
            </a:r>
            <a:endParaRPr lang="en-US" sz="1500" dirty="0"/>
          </a:p>
        </p:txBody>
      </p:sp>
      <p:sp>
        <p:nvSpPr>
          <p:cNvPr id="26" name="Text 23"/>
          <p:cNvSpPr/>
          <p:nvPr/>
        </p:nvSpPr>
        <p:spPr>
          <a:xfrm>
            <a:off x="131673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设计者 · 保存方法</a:t>
            </a:r>
            <a:endParaRPr lang="en-US" sz="1450" dirty="0"/>
          </a:p>
        </p:txBody>
      </p:sp>
      <p:sp>
        <p:nvSpPr>
          <p:cNvPr id="27" name="Text 24"/>
          <p:cNvSpPr/>
          <p:nvPr/>
        </p:nvSpPr>
        <p:spPr>
          <a:xfrm>
            <a:off x="131673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要求 Records 描述何时适用、检查什么、避免什么。</a:t>
            </a:r>
            <a:endParaRPr lang="en-US" sz="1170" dirty="0"/>
          </a:p>
        </p:txBody>
      </p:sp>
      <p:sp>
        <p:nvSpPr>
          <p:cNvPr id="28" name="Shape 25"/>
          <p:cNvSpPr/>
          <p:nvPr/>
        </p:nvSpPr>
        <p:spPr>
          <a:xfrm>
            <a:off x="6236208" y="3666744"/>
            <a:ext cx="5394960" cy="868680"/>
          </a:xfrm>
          <a:prstGeom prst="roundRect">
            <a:avLst>
              <a:gd name="adj" fmla="val 8421"/>
            </a:avLst>
          </a:prstGeom>
          <a:solidFill>
            <a:srgbClr val="1C2740"/>
          </a:solidFill>
          <a:ln w="10160">
            <a:solidFill>
              <a:srgbClr val="2E3B57"/>
            </a:solidFill>
            <a:prstDash val="solid"/>
          </a:ln>
        </p:spPr>
      </p:sp>
      <p:sp>
        <p:nvSpPr>
          <p:cNvPr id="29" name="Text 26"/>
          <p:cNvSpPr/>
          <p:nvPr/>
        </p:nvSpPr>
        <p:spPr>
          <a:xfrm>
            <a:off x="640080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6</a:t>
            </a:r>
            <a:endParaRPr lang="en-US" sz="1500" dirty="0"/>
          </a:p>
        </p:txBody>
      </p:sp>
      <p:sp>
        <p:nvSpPr>
          <p:cNvPr id="30" name="Text 27"/>
          <p:cNvSpPr/>
          <p:nvPr/>
        </p:nvSpPr>
        <p:spPr>
          <a:xfrm>
            <a:off x="698601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System · 区分 Records</a:t>
            </a:r>
            <a:endParaRPr lang="en-US" sz="1450" dirty="0"/>
          </a:p>
        </p:txBody>
      </p:sp>
      <p:sp>
        <p:nvSpPr>
          <p:cNvPr id="31" name="Text 28"/>
          <p:cNvSpPr/>
          <p:nvPr/>
        </p:nvSpPr>
        <p:spPr>
          <a:xfrm>
            <a:off x="698601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EPISODIC：Episode 记一次任务；Reflection 沉淀跨任务方法。</a:t>
            </a:r>
            <a:endParaRPr lang="en-US" sz="1170" dirty="0"/>
          </a:p>
        </p:txBody>
      </p:sp>
      <p:sp>
        <p:nvSpPr>
          <p:cNvPr id="32" name="Shape 29"/>
          <p:cNvSpPr/>
          <p:nvPr/>
        </p:nvSpPr>
        <p:spPr>
          <a:xfrm>
            <a:off x="566928" y="4700016"/>
            <a:ext cx="5394960" cy="868680"/>
          </a:xfrm>
          <a:prstGeom prst="roundRect">
            <a:avLst>
              <a:gd name="adj" fmla="val 8421"/>
            </a:avLst>
          </a:prstGeom>
          <a:solidFill>
            <a:srgbClr val="1C2740"/>
          </a:solidFill>
          <a:ln w="10160">
            <a:solidFill>
              <a:srgbClr val="2E3B57"/>
            </a:solidFill>
            <a:prstDash val="solid"/>
          </a:ln>
        </p:spPr>
      </p:sp>
      <p:sp>
        <p:nvSpPr>
          <p:cNvPr id="33" name="Text 30"/>
          <p:cNvSpPr/>
          <p:nvPr/>
        </p:nvSpPr>
        <p:spPr>
          <a:xfrm>
            <a:off x="731520" y="4873752"/>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7</a:t>
            </a:r>
            <a:endParaRPr lang="en-US" sz="1500" dirty="0"/>
          </a:p>
        </p:txBody>
      </p:sp>
      <p:sp>
        <p:nvSpPr>
          <p:cNvPr id="34" name="Text 31"/>
          <p:cNvSpPr/>
          <p:nvPr/>
        </p:nvSpPr>
        <p:spPr>
          <a:xfrm>
            <a:off x="131673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AgentCore Harness · 控制注入</a:t>
            </a:r>
            <a:endParaRPr lang="en-US" sz="1450" dirty="0"/>
          </a:p>
        </p:txBody>
      </p:sp>
      <p:sp>
        <p:nvSpPr>
          <p:cNvPr id="35" name="Text 32"/>
          <p:cNvSpPr/>
          <p:nvPr/>
        </p:nvSpPr>
        <p:spPr>
          <a:xfrm>
            <a:off x="131673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调用 Retrieval、设置 topK，并记录向 Harness Agent 注入的 Records。</a:t>
            </a:r>
            <a:endParaRPr lang="en-US" sz="1170" dirty="0"/>
          </a:p>
        </p:txBody>
      </p:sp>
      <p:sp>
        <p:nvSpPr>
          <p:cNvPr id="36" name="Shape 33"/>
          <p:cNvSpPr/>
          <p:nvPr/>
        </p:nvSpPr>
        <p:spPr>
          <a:xfrm>
            <a:off x="6236208" y="4700016"/>
            <a:ext cx="5394960" cy="868680"/>
          </a:xfrm>
          <a:prstGeom prst="roundRect">
            <a:avLst>
              <a:gd name="adj" fmla="val 8421"/>
            </a:avLst>
          </a:prstGeom>
          <a:solidFill>
            <a:srgbClr val="1C2740"/>
          </a:solidFill>
          <a:ln w="10160">
            <a:solidFill>
              <a:srgbClr val="2E3B57"/>
            </a:solidFill>
            <a:prstDash val="solid"/>
          </a:ln>
        </p:spPr>
      </p:sp>
      <p:sp>
        <p:nvSpPr>
          <p:cNvPr id="37" name="Text 34"/>
          <p:cNvSpPr/>
          <p:nvPr/>
        </p:nvSpPr>
        <p:spPr>
          <a:xfrm>
            <a:off x="6400800" y="4873752"/>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8</a:t>
            </a:r>
            <a:endParaRPr lang="en-US" sz="1500" dirty="0"/>
          </a:p>
        </p:txBody>
      </p:sp>
      <p:sp>
        <p:nvSpPr>
          <p:cNvPr id="38" name="Text 35"/>
          <p:cNvSpPr/>
          <p:nvPr/>
        </p:nvSpPr>
        <p:spPr>
          <a:xfrm>
            <a:off x="698601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Reviewer / Human · 校准结果</a:t>
            </a:r>
            <a:endParaRPr lang="en-US" sz="1450" dirty="0"/>
          </a:p>
        </p:txBody>
      </p:sp>
      <p:sp>
        <p:nvSpPr>
          <p:cNvPr id="39" name="Text 36"/>
          <p:cNvSpPr/>
          <p:nvPr/>
        </p:nvSpPr>
        <p:spPr>
          <a:xfrm>
            <a:off x="698601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分别检查忠实性、完整性、粒度、过度抽取和业务边界。</a:t>
            </a:r>
            <a:endParaRPr lang="en-US" sz="1170" dirty="0"/>
          </a:p>
        </p:txBody>
      </p:sp>
      <p:sp>
        <p:nvSpPr>
          <p:cNvPr id="40" name="Shape 37"/>
          <p:cNvSpPr/>
          <p:nvPr/>
        </p:nvSpPr>
        <p:spPr>
          <a:xfrm>
            <a:off x="1664208" y="5650992"/>
            <a:ext cx="8869680" cy="502920"/>
          </a:xfrm>
          <a:prstGeom prst="roundRect">
            <a:avLst>
              <a:gd name="adj" fmla="val 14545"/>
            </a:avLst>
          </a:prstGeom>
          <a:solidFill>
            <a:srgbClr val="0B1220"/>
          </a:solidFill>
          <a:ln w="10160">
            <a:solidFill>
              <a:srgbClr val="42B4FF"/>
            </a:solidFill>
            <a:prstDash val="solid"/>
          </a:ln>
        </p:spPr>
      </p:sp>
      <p:sp>
        <p:nvSpPr>
          <p:cNvPr id="41" name="Text 38"/>
          <p:cNvSpPr/>
          <p:nvPr/>
        </p:nvSpPr>
        <p:spPr>
          <a:xfrm>
            <a:off x="1920240" y="5650992"/>
            <a:ext cx="8357616" cy="502920"/>
          </a:xfrm>
          <a:prstGeom prst="rect">
            <a:avLst/>
          </a:prstGeom>
          <a:noFill/>
          <a:ln/>
        </p:spPr>
        <p:txBody>
          <a:bodyPr wrap="square" lIns="0" tIns="0" rIns="0" bIns="0" rtlCol="0" anchor="ctr"/>
          <a:lstStyle/>
          <a:p>
            <a:pPr algn="ctr" indent="0" marL="0">
              <a:buNone/>
            </a:pPr>
            <a:r>
              <a:rPr lang="en-US" sz="1550" b="1" dirty="0">
                <a:solidFill>
                  <a:srgbClr val="42B4FF"/>
                </a:solidFill>
                <a:latin typeface="Amazon Ember Display" pitchFamily="34" charset="0"/>
                <a:ea typeface="Amazon Ember Display" pitchFamily="34" charset="-122"/>
                <a:cs typeface="Amazon Ember Display" pitchFamily="34" charset="-120"/>
              </a:rPr>
              <a:t>Harness Agent 产 Review；Memory System 生成/检索；AgentCore Harness 注入；Reviewer / Human 判断质量。</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mazon Emb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亚马逊云科技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记忆最佳实践</dc:title>
  <dc:subject>Agent memory best practices for structured data extraction</dc:subject>
  <dc:creator>Amazon Web Services</dc:creator>
  <cp:lastModifiedBy>Amazon Web Services</cp:lastModifiedBy>
  <cp:revision>1</cp:revision>
  <dcterms:created xsi:type="dcterms:W3CDTF">2026-09-12T07:31:11Z</dcterms:created>
  <dcterms:modified xsi:type="dcterms:W3CDTF">2026-09-12T07:31:11Z</dcterms:modified>
</cp:coreProperties>
</file>