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1097280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AGENTCORE MEMORY · STRUCTURED EXTRACTION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658368" y="16002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Agent 记忆最佳实践</a:t>
            </a:r>
            <a:endParaRPr lang="en-US" sz="4600" dirty="0"/>
          </a:p>
        </p:txBody>
      </p:sp>
      <p:sp>
        <p:nvSpPr>
          <p:cNvPr id="5" name="Text 2"/>
          <p:cNvSpPr/>
          <p:nvPr/>
        </p:nvSpPr>
        <p:spPr>
          <a:xfrm>
            <a:off x="685800" y="2487168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结构化数据抽取场景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685800" y="34290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怎样让 Agent 从一次抽取中学习，并在下一份文档中抽得更完整？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685800" y="4133088"/>
            <a:ext cx="10149840" cy="1051560"/>
          </a:xfrm>
          <a:prstGeom prst="roundRect">
            <a:avLst>
              <a:gd name="adj" fmla="val 6957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133088"/>
            <a:ext cx="9692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核心：把 Review 中发现的遗漏模式与处理策略，转化为可复用的 Memory。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685800" y="555955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496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基于真实工业文档抽取实验 · AgentCore Harness + EPISODIC Memory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85800" y="641908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3657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THE CHALLENGE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66928" y="6473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430000" y="64465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6A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2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347472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结构化抽取真正难在哪里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566928" y="100584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难点不是生成合法 JSON，而是完整识别散落在不同载体中的“应该抽取的信息”。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5349240" cy="3337560"/>
          </a:xfrm>
          <a:prstGeom prst="roundRect">
            <a:avLst>
              <a:gd name="adj" fmla="val 2192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65376"/>
            <a:ext cx="4983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真实输入：正文 + 表格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49808" y="2194560"/>
            <a:ext cx="4983480" cy="2724912"/>
          </a:xfrm>
          <a:prstGeom prst="roundRect">
            <a:avLst>
              <a:gd name="adj" fmla="val 2685"/>
            </a:avLst>
          </a:prstGeom>
          <a:solidFill>
            <a:srgbClr val="0B122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9536" y="2267712"/>
            <a:ext cx="4764024" cy="2587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技术要求: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1. 所有尺寸单位为毫米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2. 未注公差按 GB/T 1804-m 级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3. 装配后转子应能灵活转动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| 序号 | 名称 | 数量 |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| 1 | 机座 | 1 |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| 2 | 前端盖 | 1 |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190488" y="1737360"/>
            <a:ext cx="5440680" cy="3337560"/>
          </a:xfrm>
          <a:prstGeom prst="roundRect">
            <a:avLst>
              <a:gd name="adj" fmla="val 2192"/>
            </a:avLst>
          </a:prstGeom>
          <a:solidFill>
            <a:srgbClr val="35181C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391656" y="1874520"/>
            <a:ext cx="5038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A3D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常见漏项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391656" y="2221992"/>
            <a:ext cx="5038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模型通常先抓住数值参数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6391656" y="2679192"/>
            <a:ext cx="5038344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正文参数容易被识别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整张 BOM 可能被当成背景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附注与备注容易跳过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定性、流程、待确认要求不一定被视为指标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图片/OCR 内容存在不完整与冲突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5321808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0B1220"/>
          </a:solidFill>
          <a:ln w="10160">
            <a:solidFill>
              <a:srgbClr val="FF6A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22960" y="5321808"/>
            <a:ext cx="10552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6A3D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真正的问题：Agent 如何知道自己漏了什么？</a:t>
            </a:r>
            <a:endParaRPr lang="en-US" sz="1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3657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MEMORY ROLE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66928" y="6473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430000" y="64465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6A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3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347472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Memory 应该在抽取回路中做什么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566928" y="100584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不是保存上一次答案，而是保存下一次任务可复用的抽取策略。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66928" y="2057400"/>
            <a:ext cx="1874520" cy="1143000"/>
          </a:xfrm>
          <a:prstGeom prst="roundRect">
            <a:avLst>
              <a:gd name="adj" fmla="val 6400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2194560"/>
            <a:ext cx="1472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①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68096" y="2542032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抽取草稿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68096" y="2999232"/>
            <a:ext cx="147218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当前文档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2468880" y="2350008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2852928" y="2057400"/>
            <a:ext cx="1874520" cy="1143000"/>
          </a:xfrm>
          <a:prstGeom prst="roundRect">
            <a:avLst>
              <a:gd name="adj" fmla="val 6400"/>
            </a:avLst>
          </a:prstGeom>
          <a:solidFill>
            <a:srgbClr val="0C34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054096" y="2194560"/>
            <a:ext cx="1472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②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3054096" y="2542032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Review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3054096" y="2999232"/>
            <a:ext cx="147218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漏了什么？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4754880" y="2350008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5138928" y="2057400"/>
            <a:ext cx="1874520" cy="1143000"/>
          </a:xfrm>
          <a:prstGeom prst="roundRect">
            <a:avLst>
              <a:gd name="adj" fmla="val 6400"/>
            </a:avLst>
          </a:prstGeom>
          <a:solidFill>
            <a:srgbClr val="2A2418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340096" y="2194560"/>
            <a:ext cx="1472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A3D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③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5340096" y="2542032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可复用经验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5340096" y="2999232"/>
            <a:ext cx="147218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形成策略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7040880" y="2350008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20"/>
          <p:cNvSpPr/>
          <p:nvPr/>
        </p:nvSpPr>
        <p:spPr>
          <a:xfrm>
            <a:off x="7424928" y="2057400"/>
            <a:ext cx="1874520" cy="1143000"/>
          </a:xfrm>
          <a:prstGeom prst="roundRect">
            <a:avLst>
              <a:gd name="adj" fmla="val 6400"/>
            </a:avLst>
          </a:prstGeom>
          <a:solidFill>
            <a:srgbClr val="12331F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626096" y="2194560"/>
            <a:ext cx="1472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E500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④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7626096" y="2542032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Memory</a:t>
            </a:r>
            <a:endParaRPr lang="en-US" sz="1700" dirty="0"/>
          </a:p>
        </p:txBody>
      </p:sp>
      <p:sp>
        <p:nvSpPr>
          <p:cNvPr id="26" name="Text 23"/>
          <p:cNvSpPr/>
          <p:nvPr/>
        </p:nvSpPr>
        <p:spPr>
          <a:xfrm>
            <a:off x="7626096" y="2999232"/>
            <a:ext cx="147218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 session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9326880" y="2350008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</a:t>
            </a:r>
            <a:endParaRPr lang="en-US" sz="2000" dirty="0"/>
          </a:p>
        </p:txBody>
      </p:sp>
      <p:sp>
        <p:nvSpPr>
          <p:cNvPr id="28" name="Shape 25"/>
          <p:cNvSpPr/>
          <p:nvPr/>
        </p:nvSpPr>
        <p:spPr>
          <a:xfrm>
            <a:off x="9710928" y="2057400"/>
            <a:ext cx="1920240" cy="1143000"/>
          </a:xfrm>
          <a:prstGeom prst="roundRect">
            <a:avLst>
              <a:gd name="adj" fmla="val 6400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912096" y="2194560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⑤</a:t>
            </a:r>
            <a:endParaRPr lang="en-US" sz="1150" dirty="0"/>
          </a:p>
        </p:txBody>
      </p:sp>
      <p:sp>
        <p:nvSpPr>
          <p:cNvPr id="30" name="Text 27"/>
          <p:cNvSpPr/>
          <p:nvPr/>
        </p:nvSpPr>
        <p:spPr>
          <a:xfrm>
            <a:off x="9912096" y="2542032"/>
            <a:ext cx="15179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下一份文档</a:t>
            </a:r>
            <a:endParaRPr lang="en-US" sz="1700" dirty="0"/>
          </a:p>
        </p:txBody>
      </p:sp>
      <p:sp>
        <p:nvSpPr>
          <p:cNvPr id="31" name="Text 28"/>
          <p:cNvSpPr/>
          <p:nvPr/>
        </p:nvSpPr>
        <p:spPr>
          <a:xfrm>
            <a:off x="9912096" y="2999232"/>
            <a:ext cx="151790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复用经验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566928" y="374904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68096" y="3886200"/>
            <a:ext cx="3026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A3D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容易漏什么</a:t>
            </a:r>
            <a:endParaRPr lang="en-US" sz="1150" dirty="0"/>
          </a:p>
        </p:txBody>
      </p:sp>
      <p:sp>
        <p:nvSpPr>
          <p:cNvPr id="34" name="Text 31"/>
          <p:cNvSpPr/>
          <p:nvPr/>
        </p:nvSpPr>
        <p:spPr>
          <a:xfrm>
            <a:off x="768096" y="4233672"/>
            <a:ext cx="302666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表格、附注、流程要求、图片限制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4379976" y="374904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581144" y="3886200"/>
            <a:ext cx="3026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应该检查什么</a:t>
            </a:r>
            <a:endParaRPr lang="en-US" sz="1150" dirty="0"/>
          </a:p>
        </p:txBody>
      </p:sp>
      <p:sp>
        <p:nvSpPr>
          <p:cNvPr id="37" name="Text 34"/>
          <p:cNvSpPr/>
          <p:nvPr/>
        </p:nvSpPr>
        <p:spPr>
          <a:xfrm>
            <a:off x="4581144" y="4233672"/>
            <a:ext cx="302666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覆盖、遗漏、格式、粒度、冲突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8193024" y="3749040"/>
            <a:ext cx="3438144" cy="1417320"/>
          </a:xfrm>
          <a:prstGeom prst="roundRect">
            <a:avLst>
              <a:gd name="adj" fmla="val 5161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394192" y="3886200"/>
            <a:ext cx="3035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E500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下次怎么做</a:t>
            </a:r>
            <a:endParaRPr lang="en-US" sz="1150" dirty="0"/>
          </a:p>
        </p:txBody>
      </p:sp>
      <p:sp>
        <p:nvSpPr>
          <p:cNvPr id="40" name="Text 37"/>
          <p:cNvSpPr/>
          <p:nvPr/>
        </p:nvSpPr>
        <p:spPr>
          <a:xfrm>
            <a:off x="8394192" y="4233672"/>
            <a:ext cx="303580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先扫章节与表格，再按 next_actions 修订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566928" y="5468112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0B1220"/>
          </a:solidFill>
          <a:ln w="10160">
            <a:solidFill>
              <a:srgbClr val="42B4FF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822960" y="5468112"/>
            <a:ext cx="10552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Memory 的价值：复用 Review 得到的方法，而不是复读历史结果。</a:t>
            </a:r>
            <a:endParaRPr lang="en-US" sz="1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3657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LEARNING SIGNALS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66928" y="6473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430000" y="64465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6A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4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347472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三种 Memory 学习信号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566928" y="100584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同样叫“反思”，输入信息不同，能学到的东西完全不同。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66928" y="1783080"/>
            <a:ext cx="3429000" cy="3383280"/>
          </a:xfrm>
          <a:prstGeom prst="roundRect">
            <a:avLst>
              <a:gd name="adj" fmla="val 2162"/>
            </a:avLst>
          </a:prstGeom>
          <a:solidFill>
            <a:srgbClr val="35181C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920240"/>
            <a:ext cx="3026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A3D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方式 1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68096" y="2267712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抽象自省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68096" y="2724912"/>
            <a:ext cx="3026664" cy="2313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Review 输入：只有模型输出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能学到：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格式规则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通用拆分方式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字段完整性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盲点：不知道整段或整表被漏掉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4379976" y="1783080"/>
            <a:ext cx="3429000" cy="3383280"/>
          </a:xfrm>
          <a:prstGeom prst="roundRect">
            <a:avLst>
              <a:gd name="adj" fmla="val 2162"/>
            </a:avLst>
          </a:prstGeom>
          <a:solidFill>
            <a:srgbClr val="0C34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81144" y="1920240"/>
            <a:ext cx="3026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方式 2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4581144" y="2267712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结构化 Self-review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4581144" y="2724912"/>
            <a:ext cx="3026664" cy="2313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Review 输入：原文 + 内部草稿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能学到：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漏段、漏表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重复与冲突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格式和粒度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图片/OCR 限制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8193024" y="1783080"/>
            <a:ext cx="3438144" cy="3383280"/>
          </a:xfrm>
          <a:prstGeom prst="roundRect">
            <a:avLst>
              <a:gd name="adj" fmla="val 2162"/>
            </a:avLst>
          </a:prstGeom>
          <a:solidFill>
            <a:srgbClr val="12331F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394192" y="1920240"/>
            <a:ext cx="3035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E500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方式 3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8394192" y="22677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任务目标 Review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8394192" y="2724912"/>
            <a:ext cx="3035808" cy="2313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Review 输入：原文 + 输出 + 规范/Reviewer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能学到：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什么属于抽取目标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什么粒度算一条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业务口径与错误标准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566928" y="5440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0B1220"/>
          </a:solidFill>
          <a:ln w="10160">
            <a:solidFill>
              <a:srgbClr val="42B4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2960" y="5440680"/>
            <a:ext cx="10552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Memory 是否有效，取决于 Review 的信息来源和结构。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3657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FIRST ATTEMPT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66928" y="6473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430000" y="64465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6A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5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347472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尝试一：只看输出的抽象自省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566928" y="100584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最初的做法，是让模型从已经生成的抽取结果中总结通用规则。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5394960" cy="3246120"/>
          </a:xfrm>
          <a:prstGeom prst="roundRect">
            <a:avLst>
              <a:gd name="adj" fmla="val 2254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65376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真实反思 Prompt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49808" y="2194560"/>
            <a:ext cx="5029200" cy="2633472"/>
          </a:xfrm>
          <a:prstGeom prst="roundRect">
            <a:avLst>
              <a:gd name="adj" fmla="val 2778"/>
            </a:avLst>
          </a:prstGeom>
          <a:solidFill>
            <a:srgbClr val="0B122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9536" y="2267712"/>
            <a:ext cx="4809744" cy="2496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你是「抽取经验提炼器」。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给你一次抽取结果，总结可复用于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同类文档的抽取规则：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· 每条必须可操作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· 只讲规则，不讲具体数值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· 不超过 10 条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36208" y="1737360"/>
            <a:ext cx="5394960" cy="3246120"/>
          </a:xfrm>
          <a:prstGeom prst="roundRect">
            <a:avLst>
              <a:gd name="adj" fmla="val 2254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19088" y="1865376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A3D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真实 Consolidation Prompt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419088" y="2194560"/>
            <a:ext cx="5029200" cy="2633472"/>
          </a:xfrm>
          <a:prstGeom prst="roundRect">
            <a:avLst>
              <a:gd name="adj" fmla="val 2778"/>
            </a:avLst>
          </a:prstGeom>
          <a:solidFill>
            <a:srgbClr val="0B122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528816" y="2267712"/>
            <a:ext cx="4809744" cy="2496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把「现有规则集 + 本轮新规则」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合并成一份规范规则集：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· 去重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· 不超过 15 条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· 每条必须可操作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· 只输出最终规则集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5285232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0B1220"/>
          </a:solidFill>
          <a:ln w="10160">
            <a:solidFill>
              <a:srgbClr val="FF6A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22960" y="5285232"/>
            <a:ext cx="10552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6A3D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问题埋在输入里：模型只能总结“已经抽出来的内容”。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3657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WHAT IT LEARNED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66928" y="6473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430000" y="64465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6A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6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347472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抽象自省实际记住了什么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566928" y="100584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规则看起来合理，但集中在拆分和格式，无法指出自己整类漏掉的内容。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66928" y="1691640"/>
            <a:ext cx="6492240" cy="3611880"/>
          </a:xfrm>
          <a:prstGeom prst="roundRect">
            <a:avLst>
              <a:gd name="adj" fmla="val 2025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19656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A3D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真实 Memory（节选）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49808" y="2148840"/>
            <a:ext cx="6126480" cy="2999232"/>
          </a:xfrm>
          <a:prstGeom prst="roundRect">
            <a:avLst>
              <a:gd name="adj" fmla="val 2439"/>
            </a:avLst>
          </a:prstGeom>
          <a:solidFill>
            <a:srgbClr val="0B122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9536" y="2221992"/>
            <a:ext cx="5907024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5. 多部件拆分规则：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 一条原文描述多个部件时逐条拆分。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6. 复合指标拆分规则：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 同一原文含多个指标时按指标名称拆分。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9. 阀门/仪表清单抽取规则：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 规格与数量分别生成独立记录。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333488" y="1691640"/>
            <a:ext cx="4297680" cy="1664208"/>
          </a:xfrm>
          <a:prstGeom prst="roundRect">
            <a:avLst>
              <a:gd name="adj" fmla="val 4396"/>
            </a:avLst>
          </a:prstGeom>
          <a:solidFill>
            <a:srgbClr val="35181C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534656" y="1828800"/>
            <a:ext cx="3895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A3D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观察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7534656" y="2176272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规则越来越多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7534656" y="2633472"/>
            <a:ext cx="38953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但没有观察到稳定的覆盖改善。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7333488" y="3566160"/>
            <a:ext cx="4297680" cy="1737360"/>
          </a:xfrm>
          <a:prstGeom prst="roundRect">
            <a:avLst>
              <a:gd name="adj" fmla="val 4211"/>
            </a:avLst>
          </a:prstGeom>
          <a:solidFill>
            <a:srgbClr val="2A2418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534656" y="3703320"/>
            <a:ext cx="3895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A3D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副作用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534656" y="4050792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容易过度拆分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7534656" y="4507992"/>
            <a:ext cx="389534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抽取条数增加，但同一段原文被切成更多细条，粒度可能偏离任务需求。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566928" y="553212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0B1220"/>
          </a:solidFill>
          <a:ln w="10160">
            <a:solidFill>
              <a:srgbClr val="FF6A3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2960" y="5532120"/>
            <a:ext cx="10552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6A3D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结论：只看输出的抽象自省，学习信号不足。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3657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ROOT CAUSE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66928" y="6473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430000" y="64465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6A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7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347472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抽取错误其实有两类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566928" y="100584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先区分错误类型，才能判断应该由 Self-review 解决，还是需要规范/Reviewer。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66928" y="1783080"/>
            <a:ext cx="5349240" cy="3474720"/>
          </a:xfrm>
          <a:prstGeom prst="roundRect">
            <a:avLst>
              <a:gd name="adj" fmla="val 2105"/>
            </a:avLst>
          </a:prstGeom>
          <a:solidFill>
            <a:srgbClr val="0C34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920240"/>
            <a:ext cx="4946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类型 A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68096" y="2267712"/>
            <a:ext cx="49469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源覆盖问题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68096" y="2724912"/>
            <a:ext cx="494690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定义：原文中出现了 X，但输出中没有 X。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例子：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整张 BOM 没抽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漏掉某个章节或附注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重复记录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字段为空或格式错误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可通过：原文 + 草稿的结构化自审发现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281928" y="1783080"/>
            <a:ext cx="5349240" cy="3474720"/>
          </a:xfrm>
          <a:prstGeom prst="roundRect">
            <a:avLst>
              <a:gd name="adj" fmla="val 2105"/>
            </a:avLst>
          </a:prstGeom>
          <a:solidFill>
            <a:srgbClr val="2A2418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83096" y="1920240"/>
            <a:ext cx="4946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A3D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类型 B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483096" y="2267712"/>
            <a:ext cx="49469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任务边界问题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6483096" y="2724912"/>
            <a:ext cx="494690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定义：模型不知道 X 也属于抽取目标。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例子：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流程与见证要求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报告与交付文件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待确认事项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什么粒度算一条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需要：任务规范、Reviewer 或人工反馈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5504688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0B1220"/>
          </a:solidFill>
          <a:ln w="10160">
            <a:solidFill>
              <a:srgbClr val="42B4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22960" y="5504688"/>
            <a:ext cx="10552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Self-review 能发现“漏了什么”；规范/Reviewer 决定“什么应该抽”。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3657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NEW DESIGN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66928" y="6473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430000" y="64465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6A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8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347472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新设计：两阶段结构化 Self-review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566928" y="100584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把隐藏在模型内部的自审，变成 session 中可观察、可执行、可被 Memory 提炼的 Artifact。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66928" y="1664208"/>
            <a:ext cx="5440680" cy="3794760"/>
          </a:xfrm>
          <a:prstGeom prst="roundRect">
            <a:avLst>
              <a:gd name="adj" fmla="val 1928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792224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阶段一 Prompt（真实节选）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49808" y="2121408"/>
            <a:ext cx="5074920" cy="3182112"/>
          </a:xfrm>
          <a:prstGeom prst="roundRect">
            <a:avLst>
              <a:gd name="adj" fmla="val 2299"/>
            </a:avLst>
          </a:prstGeom>
          <a:solidFill>
            <a:srgbClr val="0B122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9536" y="2194560"/>
            <a:ext cx="4855464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先在内部形成完整抽取草稿，再审查草稿；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不要输出草稿。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{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"self_review": {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  "coverage": {...},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  "omissions": {...},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  "format": {...},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  "granularity": {...},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  "next_actions": [...]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}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}</a:t>
            </a:r>
            <a:endParaRPr lang="en-US" sz="1080" dirty="0"/>
          </a:p>
        </p:txBody>
      </p:sp>
      <p:sp>
        <p:nvSpPr>
          <p:cNvPr id="12" name="Shape 9"/>
          <p:cNvSpPr/>
          <p:nvPr/>
        </p:nvSpPr>
        <p:spPr>
          <a:xfrm>
            <a:off x="6236208" y="1664208"/>
            <a:ext cx="5394960" cy="3794760"/>
          </a:xfrm>
          <a:prstGeom prst="roundRect">
            <a:avLst>
              <a:gd name="adj" fmla="val 1928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19088" y="179222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E500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阶段二 Prompt（真实节选）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419088" y="2121408"/>
            <a:ext cx="5029200" cy="3182112"/>
          </a:xfrm>
          <a:prstGeom prst="roundRect">
            <a:avLst>
              <a:gd name="adj" fmla="val 2299"/>
            </a:avLst>
          </a:prstGeom>
          <a:solidFill>
            <a:srgbClr val="0B122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528816" y="2194560"/>
            <a:ext cx="4809744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读取原始文档和 self_review。</a:t>
            </a:r>
            <a:endParaRPr lang="en-US" sz="1120" dirty="0"/>
          </a:p>
          <a:p>
            <a:pPr indent="0" marL="0">
              <a:buNone/>
            </a:pP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根据 next_actions 重新完成抽取，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并逐项复核：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· coverage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· omissions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· format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· granularity</a:t>
            </a:r>
            <a:endParaRPr lang="en-US" sz="1120" dirty="0"/>
          </a:p>
          <a:p>
            <a:pPr indent="0" marL="0">
              <a:buNone/>
            </a:pP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只输出最终五字段 JSON。</a:t>
            </a:r>
            <a:endParaRPr lang="en-US" sz="1120" dirty="0"/>
          </a:p>
        </p:txBody>
      </p:sp>
      <p:sp>
        <p:nvSpPr>
          <p:cNvPr id="16" name="Shape 13"/>
          <p:cNvSpPr/>
          <p:nvPr/>
        </p:nvSpPr>
        <p:spPr>
          <a:xfrm>
            <a:off x="566928" y="5650992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0B1220"/>
          </a:solidFill>
          <a:ln w="10160">
            <a:solidFill>
              <a:srgbClr val="00E50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22960" y="5650992"/>
            <a:ext cx="10552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0E500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关键变化：Review 有固定检查维度，并产出可执行的 next_actions。</a:t>
            </a:r>
            <a:endParaRPr lang="en-US" sz="1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3657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MANAGED MEMORY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66928" y="6473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430000" y="64465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6A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9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347472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AgentCore 如何形成托管 Memory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566928" y="100584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 session 被异步提炼为 episode，再跨 episode 形成 actor-level reflection。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66928" y="1828800"/>
            <a:ext cx="2286000" cy="1234440"/>
          </a:xfrm>
          <a:prstGeom prst="roundRect">
            <a:avLst>
              <a:gd name="adj" fmla="val 5926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965960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①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68096" y="2313432"/>
            <a:ext cx="1883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 Session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68096" y="2770632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原文 + self_review + 最终 JSON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2898648" y="2176272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3310128" y="1828800"/>
            <a:ext cx="2286000" cy="1234440"/>
          </a:xfrm>
          <a:prstGeom prst="roundRect">
            <a:avLst>
              <a:gd name="adj" fmla="val 5926"/>
            </a:avLst>
          </a:prstGeom>
          <a:solidFill>
            <a:srgbClr val="0C34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511296" y="1965960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②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3511296" y="2313432"/>
            <a:ext cx="1883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Episode Extraction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3511296" y="2770632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 turn 分析行为与结果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5641848" y="2176272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6053328" y="1828800"/>
            <a:ext cx="2286000" cy="1234440"/>
          </a:xfrm>
          <a:prstGeom prst="roundRect">
            <a:avLst>
              <a:gd name="adj" fmla="val 5926"/>
            </a:avLst>
          </a:prstGeom>
          <a:solidFill>
            <a:srgbClr val="2A2418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54496" y="1965960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A3D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③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6254496" y="2313432"/>
            <a:ext cx="1883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Consolidation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6254496" y="2770632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形成 session-level episode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8385048" y="2176272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20"/>
          <p:cNvSpPr/>
          <p:nvPr/>
        </p:nvSpPr>
        <p:spPr>
          <a:xfrm>
            <a:off x="8796528" y="1828800"/>
            <a:ext cx="2834640" cy="1234440"/>
          </a:xfrm>
          <a:prstGeom prst="roundRect">
            <a:avLst>
              <a:gd name="adj" fmla="val 5926"/>
            </a:avLst>
          </a:prstGeom>
          <a:solidFill>
            <a:srgbClr val="12331F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997696" y="1965960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E500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④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8997696" y="2313432"/>
            <a:ext cx="2432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Reflection</a:t>
            </a:r>
            <a:endParaRPr lang="en-US" sz="1700" dirty="0"/>
          </a:p>
        </p:txBody>
      </p:sp>
      <p:sp>
        <p:nvSpPr>
          <p:cNvPr id="26" name="Text 23"/>
          <p:cNvSpPr/>
          <p:nvPr/>
        </p:nvSpPr>
        <p:spPr>
          <a:xfrm>
            <a:off x="8997696" y="2770632"/>
            <a:ext cx="24323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形成跨任务可复用策略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1572768" y="3794760"/>
            <a:ext cx="3108960" cy="1234440"/>
          </a:xfrm>
          <a:prstGeom prst="roundRect">
            <a:avLst>
              <a:gd name="adj" fmla="val 5926"/>
            </a:avLst>
          </a:prstGeom>
          <a:solidFill>
            <a:srgbClr val="0B1220"/>
          </a:solidFill>
          <a:ln w="10160">
            <a:solidFill>
              <a:srgbClr val="FF6A3D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664208" y="3941064"/>
            <a:ext cx="2926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6A3D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1</a:t>
            </a:r>
            <a:endParaRPr lang="en-US" sz="3800" dirty="0"/>
          </a:p>
        </p:txBody>
      </p:sp>
      <p:sp>
        <p:nvSpPr>
          <p:cNvPr id="29" name="Text 26"/>
          <p:cNvSpPr/>
          <p:nvPr/>
        </p:nvSpPr>
        <p:spPr>
          <a:xfrm>
            <a:off x="1664208" y="459943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session-level episode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5001768" y="3794760"/>
            <a:ext cx="3108960" cy="1234440"/>
          </a:xfrm>
          <a:prstGeom prst="roundRect">
            <a:avLst>
              <a:gd name="adj" fmla="val 5926"/>
            </a:avLst>
          </a:prstGeom>
          <a:solidFill>
            <a:srgbClr val="0B1220"/>
          </a:solidFill>
          <a:ln w="10160">
            <a:solidFill>
              <a:srgbClr val="42B4F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093208" y="3941064"/>
            <a:ext cx="2926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2</a:t>
            </a:r>
            <a:endParaRPr lang="en-US" sz="3800" dirty="0"/>
          </a:p>
        </p:txBody>
      </p:sp>
      <p:sp>
        <p:nvSpPr>
          <p:cNvPr id="32" name="Text 29"/>
          <p:cNvSpPr/>
          <p:nvPr/>
        </p:nvSpPr>
        <p:spPr>
          <a:xfrm>
            <a:off x="5093208" y="459943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actor-level reflections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8430768" y="3794760"/>
            <a:ext cx="3108960" cy="1234440"/>
          </a:xfrm>
          <a:prstGeom prst="roundRect">
            <a:avLst>
              <a:gd name="adj" fmla="val 5926"/>
            </a:avLst>
          </a:prstGeom>
          <a:solidFill>
            <a:srgbClr val="0B1220"/>
          </a:solidFill>
          <a:ln w="10160">
            <a:solidFill>
              <a:srgbClr val="00E500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522208" y="3941064"/>
            <a:ext cx="2926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0E500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新 session</a:t>
            </a:r>
            <a:endParaRPr lang="en-US" sz="3800" dirty="0"/>
          </a:p>
        </p:txBody>
      </p:sp>
      <p:sp>
        <p:nvSpPr>
          <p:cNvPr id="35" name="Text 32"/>
          <p:cNvSpPr/>
          <p:nvPr/>
        </p:nvSpPr>
        <p:spPr>
          <a:xfrm>
            <a:off x="8522208" y="459943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目标任务自动召回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566928" y="5440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0B1220"/>
          </a:solidFill>
          <a:ln w="10160">
            <a:solidFill>
              <a:srgbClr val="42B4F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22960" y="5440680"/>
            <a:ext cx="10552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Memory 记住的是处理方法，而不是源文档中的具体字段值。</a:t>
            </a:r>
            <a:endParaRPr lang="en-US" sz="1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3657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REAL MEMORY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66928" y="6473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430000" y="64465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6A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10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347472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实际生成的 Memory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566928" y="100584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下面是 AgentCore 托管策略真实产出的 episode reflection 与 actor-level reflection。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66928" y="1664208"/>
            <a:ext cx="3657600" cy="3931920"/>
          </a:xfrm>
          <a:prstGeom prst="roundRect">
            <a:avLst>
              <a:gd name="adj" fmla="val 2000"/>
            </a:avLst>
          </a:prstGeom>
          <a:solidFill>
            <a:srgbClr val="0C34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801368"/>
            <a:ext cx="3255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EPISODE REFLECTION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68096" y="2148840"/>
            <a:ext cx="3255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两阶段流程设计有效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68096" y="2606040"/>
            <a:ext cx="3255264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先输出 self_review 再执行修订，避免一次性处理复杂文档时遗漏问题。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对于 OCR 错误、章节跳号、重复表格和图片内容，分阶段结构化抽取是推荐模式。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不可完整提取的内容应显式说明限制。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453128" y="1664208"/>
            <a:ext cx="3520440" cy="3931920"/>
          </a:xfrm>
          <a:prstGeom prst="roundRect">
            <a:avLst>
              <a:gd name="adj" fmla="val 2078"/>
            </a:avLst>
          </a:prstGeom>
          <a:solidFill>
            <a:srgbClr val="2A2418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654296" y="1801368"/>
            <a:ext cx="31181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A3D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ACTOR REFLECTION 1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4654296" y="2148840"/>
            <a:ext cx="3118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Two-Phase Structured Extraction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4654296" y="2606040"/>
            <a:ext cx="3118104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Phase 1: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coverage / omissions / format / granularity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Phase 2: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execute next_actions systematically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保留原文用于追溯。</a:t>
            </a:r>
            <a:endParaRPr lang="en-US" sz="1280" dirty="0"/>
          </a:p>
        </p:txBody>
      </p:sp>
      <p:sp>
        <p:nvSpPr>
          <p:cNvPr id="16" name="Shape 13"/>
          <p:cNvSpPr/>
          <p:nvPr/>
        </p:nvSpPr>
        <p:spPr>
          <a:xfrm>
            <a:off x="8202168" y="1664208"/>
            <a:ext cx="3429000" cy="3931920"/>
          </a:xfrm>
          <a:prstGeom prst="roundRect">
            <a:avLst>
              <a:gd name="adj" fmla="val 2133"/>
            </a:avLst>
          </a:prstGeom>
          <a:solidFill>
            <a:srgbClr val="12331F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403336" y="1801368"/>
            <a:ext cx="3026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E500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ACTOR REFLECTION 2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8403336" y="2148840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Inline Annotation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8403336" y="2606040"/>
            <a:ext cx="3026664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遇到 OCR 错误或表格冲突时：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不静默丢弃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保留原文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标记冲突值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文档级限制写入 __META__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3657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CONTROLLED TEST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66928" y="6473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430000" y="64465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6A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11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347472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留出文档实验：目标端只改变 Memory 开关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566928" y="100584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源文档为 13 页液氮罐技术要求；目标文档为全新 session 的一页电机图纸。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66928" y="1627632"/>
            <a:ext cx="5440680" cy="3566160"/>
          </a:xfrm>
          <a:prstGeom prst="roundRect">
            <a:avLst>
              <a:gd name="adj" fmla="val 2051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755648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目标抽取 Prompt（真实节选）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49808" y="2084832"/>
            <a:ext cx="5074920" cy="2953512"/>
          </a:xfrm>
          <a:prstGeom prst="roundRect">
            <a:avLst>
              <a:gd name="adj" fmla="val 2477"/>
            </a:avLst>
          </a:prstGeom>
          <a:solidFill>
            <a:srgbClr val="0B122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9536" y="2157984"/>
            <a:ext cx="485546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3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根据用户文档抽取所有可识别的技术要求/参数。</a:t>
            </a:r>
            <a:endParaRPr lang="en-US" sz="1130" dirty="0"/>
          </a:p>
          <a:p>
            <a:pPr indent="0" marL="0">
              <a:buNone/>
            </a:pP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每条输出：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设备主体 / 设备部件 / 指标名称 /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指标特征 / 原文。</a:t>
            </a:r>
            <a:endParaRPr lang="en-US" sz="1130" dirty="0"/>
          </a:p>
          <a:p>
            <a:pPr indent="0" marL="0">
              <a:buNone/>
            </a:pP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先在内部自审覆盖、遗漏、格式和粒度，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再只输出最终合法 JSON。</a:t>
            </a:r>
            <a:endParaRPr lang="en-US" sz="1130" dirty="0"/>
          </a:p>
        </p:txBody>
      </p:sp>
      <p:sp>
        <p:nvSpPr>
          <p:cNvPr id="12" name="Shape 9"/>
          <p:cNvSpPr/>
          <p:nvPr/>
        </p:nvSpPr>
        <p:spPr>
          <a:xfrm>
            <a:off x="6236208" y="1627632"/>
            <a:ext cx="5394960" cy="3566160"/>
          </a:xfrm>
          <a:prstGeom prst="roundRect">
            <a:avLst>
              <a:gd name="adj" fmla="val 2051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37376" y="1764792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E500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控制变量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437376" y="2112264"/>
            <a:ext cx="49926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两组完全相同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6437376" y="2569464"/>
            <a:ext cx="4992624" cy="2496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同一测试文档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同一 invocation-level system prompt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claude-sonnet-4-6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temperature=0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maxTokens=32768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skills=[] · tools=[]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两组均使用全新 session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唯一变量：Harness Memory enabled / disabled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66928" y="5440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0B1220"/>
          </a:solidFill>
          <a:ln w="10160">
            <a:solidFill>
              <a:srgbClr val="00E50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22960" y="5440680"/>
            <a:ext cx="10552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0E500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目标端不使用源文档答案，只自动召回 source actor 的托管 Memory。</a:t>
            </a:r>
            <a:endParaRPr lang="en-US" sz="1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3657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REAL OUTPUT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66928" y="6473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430000" y="64465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6A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12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347472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同一份图纸，抽取关注点发生变化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566928" y="100584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两组都覆盖标题栏与技术要求；Memory 组进一步系统展开两张 BOM。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66928" y="1664208"/>
            <a:ext cx="5440680" cy="3566160"/>
          </a:xfrm>
          <a:prstGeom prst="roundRect">
            <a:avLst>
              <a:gd name="adj" fmla="val 2051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792224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E500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MEMORY · BOM 条目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49808" y="2121408"/>
            <a:ext cx="5074920" cy="2953512"/>
          </a:xfrm>
          <a:prstGeom prst="roundRect">
            <a:avLst>
              <a:gd name="adj" fmla="val 2477"/>
            </a:avLst>
          </a:prstGeom>
          <a:solidFill>
            <a:srgbClr val="0B122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9536" y="2194560"/>
            <a:ext cx="485546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[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{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  "设备部件": "机座",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  "指标名称": "零件明细（表1-序号1）",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  "指标特征": "数量：1；其他字段原文为「-」"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},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{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  "设备部件": "壳体组件",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  "指标名称": "组件明细（表2-序号1）",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  "指标特征": "数量：1；其他字段原文为「-」"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]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236208" y="1664208"/>
            <a:ext cx="5394960" cy="3566160"/>
          </a:xfrm>
          <a:prstGeom prst="roundRect">
            <a:avLst>
              <a:gd name="adj" fmla="val 2051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19088" y="179222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NO MEMORY · 技术要求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419088" y="2121408"/>
            <a:ext cx="5029200" cy="2953512"/>
          </a:xfrm>
          <a:prstGeom prst="roundRect">
            <a:avLst>
              <a:gd name="adj" fmla="val 2477"/>
            </a:avLst>
          </a:prstGeom>
          <a:solidFill>
            <a:srgbClr val="0B122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528816" y="2194560"/>
            <a:ext cx="4809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[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{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  "设备部件": "整机",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  "指标名称": "未注公差等级",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  "指标特征": "GB/T 1804-m级"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},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{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  "设备部件": "轴承",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  "指标名称": "装配数量",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  "指标特征": "2件"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]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1481328" y="5138928"/>
            <a:ext cx="4114800" cy="1234440"/>
          </a:xfrm>
          <a:prstGeom prst="roundRect">
            <a:avLst>
              <a:gd name="adj" fmla="val 5926"/>
            </a:avLst>
          </a:prstGeom>
          <a:solidFill>
            <a:srgbClr val="0B1220"/>
          </a:solidFill>
          <a:ln w="10160">
            <a:solidFill>
              <a:srgbClr val="00E50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572768" y="5285232"/>
            <a:ext cx="3931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0E500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31 条</a:t>
            </a:r>
            <a:endParaRPr lang="en-US" sz="3800" dirty="0"/>
          </a:p>
        </p:txBody>
      </p:sp>
      <p:sp>
        <p:nvSpPr>
          <p:cNvPr id="18" name="Text 15"/>
          <p:cNvSpPr/>
          <p:nvPr/>
        </p:nvSpPr>
        <p:spPr>
          <a:xfrm>
            <a:off x="1572768" y="594360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Memory 首次运行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601968" y="5138928"/>
            <a:ext cx="4114800" cy="1234440"/>
          </a:xfrm>
          <a:prstGeom prst="roundRect">
            <a:avLst>
              <a:gd name="adj" fmla="val 5926"/>
            </a:avLst>
          </a:prstGeom>
          <a:solidFill>
            <a:srgbClr val="0B1220"/>
          </a:solidFill>
          <a:ln w="10160">
            <a:solidFill>
              <a:srgbClr val="42B4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693408" y="5285232"/>
            <a:ext cx="3931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11 条</a:t>
            </a:r>
            <a:endParaRPr lang="en-US" sz="3800" dirty="0"/>
          </a:p>
        </p:txBody>
      </p:sp>
      <p:sp>
        <p:nvSpPr>
          <p:cNvPr id="21" name="Text 18"/>
          <p:cNvSpPr/>
          <p:nvPr/>
        </p:nvSpPr>
        <p:spPr>
          <a:xfrm>
            <a:off x="6693408" y="594360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 Memory 首次运行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3657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SYNTHESIS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66928" y="6473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430000" y="64465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6A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13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347472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为什么两种自省得到不同结果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566928" y="100584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 Self-reflection 有用或没用，而是 Reflection 是否有可靠的检查对象。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64208"/>
          <a:ext cx="11064240" cy="3474720"/>
        </p:xfrm>
        <a:graphic>
          <a:graphicData uri="http://schemas.openxmlformats.org/drawingml/2006/table">
            <a:tbl>
              <a:tblPr/>
              <a:tblGrid>
                <a:gridCol w="2377440"/>
                <a:gridCol w="4297680"/>
                <a:gridCol w="438912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比较项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3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抽象自省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3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结构化 Self-review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3E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Review 输入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只有模型输出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18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原文 + 内部草稿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Review 结构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自由总结规则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18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固定检查维度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1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主要 Memory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拆分与格式规则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18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覆盖、遗漏、表格、冲突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1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观察结果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FF6A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作用有限，可能过度拆分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18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00E5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明显扩大 BOM 覆盖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适合解决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部分格式与粒度问题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18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源覆盖与一致性问题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仍需外部信号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任务边界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任务边界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418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440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0B1220"/>
          </a:solidFill>
          <a:ln w="10160">
            <a:solidFill>
              <a:srgbClr val="42B4FF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822960" y="5440680"/>
            <a:ext cx="10552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统一结论：源文本自审能改善覆盖；任务边界仍需要规范、Reviewer 或人工反馈。</a:t>
            </a:r>
            <a:endParaRPr lang="en-US" sz="16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3657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BEST PRACTICES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66928" y="6473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430000" y="64465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6A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14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347472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结构化数据抽取的 Memory 最佳实践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566928" y="100584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Memory 设计成可验证的学习回路，而不是无限累积的历史上下文。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66928" y="1600200"/>
            <a:ext cx="5394960" cy="868680"/>
          </a:xfrm>
          <a:prstGeom prst="roundRect">
            <a:avLst>
              <a:gd name="adj" fmla="val 8421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1773936"/>
            <a:ext cx="438912" cy="438912"/>
          </a:xfrm>
          <a:prstGeom prst="ellipse">
            <a:avLst/>
          </a:prstGeom>
          <a:solidFill>
            <a:srgbClr val="0073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316736" y="17190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Review 必须看原文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1316736" y="2039112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7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不要只对输出做抽象总结。</a:t>
            </a:r>
            <a:endParaRPr lang="en-US" sz="1170" dirty="0"/>
          </a:p>
        </p:txBody>
      </p:sp>
      <p:sp>
        <p:nvSpPr>
          <p:cNvPr id="12" name="Shape 9"/>
          <p:cNvSpPr/>
          <p:nvPr/>
        </p:nvSpPr>
        <p:spPr>
          <a:xfrm>
            <a:off x="6236208" y="1600200"/>
            <a:ext cx="5394960" cy="868680"/>
          </a:xfrm>
          <a:prstGeom prst="roundRect">
            <a:avLst>
              <a:gd name="adj" fmla="val 8421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0" y="1773936"/>
            <a:ext cx="438912" cy="438912"/>
          </a:xfrm>
          <a:prstGeom prst="ellipse">
            <a:avLst/>
          </a:prstGeom>
          <a:solidFill>
            <a:srgbClr val="0073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986016" y="17190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输出结构化 Artifact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986016" y="2039112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7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 coverage / omissions / format / granularity。</a:t>
            </a:r>
            <a:endParaRPr lang="en-US" sz="1170" dirty="0"/>
          </a:p>
        </p:txBody>
      </p:sp>
      <p:sp>
        <p:nvSpPr>
          <p:cNvPr id="16" name="Shape 13"/>
          <p:cNvSpPr/>
          <p:nvPr/>
        </p:nvSpPr>
        <p:spPr>
          <a:xfrm>
            <a:off x="566928" y="2633472"/>
            <a:ext cx="5394960" cy="868680"/>
          </a:xfrm>
          <a:prstGeom prst="roundRect">
            <a:avLst>
              <a:gd name="adj" fmla="val 8421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31520" y="2807208"/>
            <a:ext cx="438912" cy="438912"/>
          </a:xfrm>
          <a:prstGeom prst="ellipse">
            <a:avLst/>
          </a:prstGeom>
          <a:solidFill>
            <a:srgbClr val="0073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316736" y="27523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建议必须可执行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1316736" y="307238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7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产出明确 next_actions。</a:t>
            </a:r>
            <a:endParaRPr lang="en-US" sz="1170" dirty="0"/>
          </a:p>
        </p:txBody>
      </p:sp>
      <p:sp>
        <p:nvSpPr>
          <p:cNvPr id="20" name="Shape 17"/>
          <p:cNvSpPr/>
          <p:nvPr/>
        </p:nvSpPr>
        <p:spPr>
          <a:xfrm>
            <a:off x="6236208" y="2633472"/>
            <a:ext cx="5394960" cy="868680"/>
          </a:xfrm>
          <a:prstGeom prst="roundRect">
            <a:avLst>
              <a:gd name="adj" fmla="val 8421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400800" y="2807208"/>
            <a:ext cx="438912" cy="438912"/>
          </a:xfrm>
          <a:prstGeom prst="ellipse">
            <a:avLst/>
          </a:prstGeom>
          <a:solidFill>
            <a:srgbClr val="FF6A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986016" y="27523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区分两类问题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6986016" y="307238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7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源覆盖可自审；任务边界需要规范或 Reviewer。</a:t>
            </a:r>
            <a:endParaRPr lang="en-US" sz="1170" dirty="0"/>
          </a:p>
        </p:txBody>
      </p:sp>
      <p:sp>
        <p:nvSpPr>
          <p:cNvPr id="24" name="Shape 21"/>
          <p:cNvSpPr/>
          <p:nvPr/>
        </p:nvSpPr>
        <p:spPr>
          <a:xfrm>
            <a:off x="566928" y="3666744"/>
            <a:ext cx="5394960" cy="868680"/>
          </a:xfrm>
          <a:prstGeom prst="roundRect">
            <a:avLst>
              <a:gd name="adj" fmla="val 8421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31520" y="3840480"/>
            <a:ext cx="438912" cy="438912"/>
          </a:xfrm>
          <a:prstGeom prst="ellipse">
            <a:avLst/>
          </a:prstGeom>
          <a:solidFill>
            <a:srgbClr val="0073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5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1316736" y="37856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保存方法，不存答案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1316736" y="410565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7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Memory 应描述何时适用、检查什么、避免什么。</a:t>
            </a:r>
            <a:endParaRPr lang="en-US" sz="1170" dirty="0"/>
          </a:p>
        </p:txBody>
      </p:sp>
      <p:sp>
        <p:nvSpPr>
          <p:cNvPr id="28" name="Shape 25"/>
          <p:cNvSpPr/>
          <p:nvPr/>
        </p:nvSpPr>
        <p:spPr>
          <a:xfrm>
            <a:off x="6236208" y="3666744"/>
            <a:ext cx="5394960" cy="868680"/>
          </a:xfrm>
          <a:prstGeom prst="roundRect">
            <a:avLst>
              <a:gd name="adj" fmla="val 8421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400800" y="3840480"/>
            <a:ext cx="438912" cy="438912"/>
          </a:xfrm>
          <a:prstGeom prst="ellipse">
            <a:avLst/>
          </a:prstGeom>
          <a:solidFill>
            <a:srgbClr val="0073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6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6986016" y="37856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区分 Episode 与 Reflection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6986016" y="410565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7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前者记录一次任务，后者沉淀跨任务方法。</a:t>
            </a:r>
            <a:endParaRPr lang="en-US" sz="1170" dirty="0"/>
          </a:p>
        </p:txBody>
      </p:sp>
      <p:sp>
        <p:nvSpPr>
          <p:cNvPr id="32" name="Shape 29"/>
          <p:cNvSpPr/>
          <p:nvPr/>
        </p:nvSpPr>
        <p:spPr>
          <a:xfrm>
            <a:off x="566928" y="4700016"/>
            <a:ext cx="5394960" cy="868680"/>
          </a:xfrm>
          <a:prstGeom prst="roundRect">
            <a:avLst>
              <a:gd name="adj" fmla="val 8421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31520" y="4873752"/>
            <a:ext cx="438912" cy="438912"/>
          </a:xfrm>
          <a:prstGeom prst="ellipse">
            <a:avLst/>
          </a:prstGeom>
          <a:solidFill>
            <a:srgbClr val="FF6A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7</a:t>
            </a:r>
            <a:endParaRPr lang="en-US" sz="1500" dirty="0"/>
          </a:p>
        </p:txBody>
      </p:sp>
      <p:sp>
        <p:nvSpPr>
          <p:cNvPr id="34" name="Text 31"/>
          <p:cNvSpPr/>
          <p:nvPr/>
        </p:nvSpPr>
        <p:spPr>
          <a:xfrm>
            <a:off x="1316736" y="48188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控制召回</a:t>
            </a:r>
            <a:endParaRPr lang="en-US" sz="1450" dirty="0"/>
          </a:p>
        </p:txBody>
      </p:sp>
      <p:sp>
        <p:nvSpPr>
          <p:cNvPr id="35" name="Text 32"/>
          <p:cNvSpPr/>
          <p:nvPr/>
        </p:nvSpPr>
        <p:spPr>
          <a:xfrm>
            <a:off x="1316736" y="513892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7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 topK、清理噪声、避免长 episode 撑爆上下文。</a:t>
            </a:r>
            <a:endParaRPr lang="en-US" sz="1170" dirty="0"/>
          </a:p>
        </p:txBody>
      </p:sp>
      <p:sp>
        <p:nvSpPr>
          <p:cNvPr id="36" name="Shape 33"/>
          <p:cNvSpPr/>
          <p:nvPr/>
        </p:nvSpPr>
        <p:spPr>
          <a:xfrm>
            <a:off x="6236208" y="4700016"/>
            <a:ext cx="5394960" cy="868680"/>
          </a:xfrm>
          <a:prstGeom prst="roundRect">
            <a:avLst>
              <a:gd name="adj" fmla="val 8421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400800" y="4873752"/>
            <a:ext cx="438912" cy="438912"/>
          </a:xfrm>
          <a:prstGeom prst="ellipse">
            <a:avLst/>
          </a:prstGeom>
          <a:solidFill>
            <a:srgbClr val="0073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8</a:t>
            </a:r>
            <a:endParaRPr lang="en-US" sz="1500" dirty="0"/>
          </a:p>
        </p:txBody>
      </p:sp>
      <p:sp>
        <p:nvSpPr>
          <p:cNvPr id="38" name="Text 35"/>
          <p:cNvSpPr/>
          <p:nvPr/>
        </p:nvSpPr>
        <p:spPr>
          <a:xfrm>
            <a:off x="6986016" y="48188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人工校准结果</a:t>
            </a:r>
            <a:endParaRPr lang="en-US" sz="1450" dirty="0"/>
          </a:p>
        </p:txBody>
      </p:sp>
      <p:sp>
        <p:nvSpPr>
          <p:cNvPr id="39" name="Text 36"/>
          <p:cNvSpPr/>
          <p:nvPr/>
        </p:nvSpPr>
        <p:spPr>
          <a:xfrm>
            <a:off x="6986016" y="513892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7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分别检查忠实性、完整性、粒度与过度抽取。</a:t>
            </a:r>
            <a:endParaRPr lang="en-US" sz="1170" dirty="0"/>
          </a:p>
        </p:txBody>
      </p:sp>
      <p:sp>
        <p:nvSpPr>
          <p:cNvPr id="40" name="Shape 37"/>
          <p:cNvSpPr/>
          <p:nvPr/>
        </p:nvSpPr>
        <p:spPr>
          <a:xfrm>
            <a:off x="1664208" y="5650992"/>
            <a:ext cx="8869680" cy="502920"/>
          </a:xfrm>
          <a:prstGeom prst="roundRect">
            <a:avLst>
              <a:gd name="adj" fmla="val 14545"/>
            </a:avLst>
          </a:prstGeom>
          <a:solidFill>
            <a:srgbClr val="0B1220"/>
          </a:solidFill>
          <a:ln w="10160">
            <a:solidFill>
              <a:srgbClr val="42B4F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1920240" y="5650992"/>
            <a:ext cx="8357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Memory 的价值不是记住历史答案，而是复用经过 Review 得到的抽取策略。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mazon Ember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亚马逊云科技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 记忆最佳实践</dc:title>
  <dc:subject>Agent memory best practices for structured data extraction</dc:subject>
  <dc:creator>Amazon Web Services</dc:creator>
  <cp:lastModifiedBy>Amazon Web Services</cp:lastModifiedBy>
  <cp:revision>1</cp:revision>
  <dcterms:created xsi:type="dcterms:W3CDTF">2026-09-11T08:23:24Z</dcterms:created>
  <dcterms:modified xsi:type="dcterms:W3CDTF">2026-09-11T08:23:24Z</dcterms:modified>
</cp:coreProperties>
</file>