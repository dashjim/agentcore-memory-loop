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今天讨论一个具体问题：在结构化数据抽取场景中，Application/Orchestrator 应如何组织抽取与学习回路，使 Harness Agent 能复用过去任务中形成的方法，并在下一份文档中抽得更完整。
这里的 Memory 不应只是保存历史业务答案。更有价值的做法是：Harness Agent 在源任务中形成可观察的 Review 轨迹，AgentCore Memory System 再使用内置 EPISODIC strategy 从 session events 中提炼 session-level episode 和 actor-level reflection。后续任务开始时，AgentCore Memory System 执行 Retrieval，Harness 集成层把返回的 records 放入新的 Harness Agent session 上下文。
本次汇报包含三项边界独立、前后递进的实验：
• 实验一由应用侧 Reflection LLM 和 Consolidation LLM 执行输出侧抽象自省；
• 实验二由 Harness Agent 产生结构化 Self-review 轨迹，再由 AgentCore Memory System 提炼 EPISODIC records；
• 实验三由 Application/Orchestrator 控制 Memory 开关，比较同一目标文档上的 Harness Agent 输出。
过渡： 在讨论 Memory 之前，先明确 Harness Agent 在结构化抽取中最容易失败的地方。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Harness Agent 使用的模型生成合法 JSON 并不困难，真正困难的是完整性。
工业文档的信息可能分散在正文、技术要求、BOM 表格、附注、图纸说明和 OCR 结果中。Harness Agent 往往优先识别明显的参数和数值，却可能把整张 BOM、某个章节或图片区域当成背景材料。
因此，Harness Agent 输出的 JSON 即使格式完全正确，也可能只覆盖技术要求，没有覆盖表格中的零部件和组件。
这里需要区分两个责任：
• Harness Agent 负责在给定任务定义下识别、审查并结构化原文信息；
• Reviewer/Human 负责判断哪些内容属于业务目标，以及某段原文应该合并还是拆分。
核心挑战不是“Harness Agent 能不能输出 JSON”，而是“Harness Agent 如何发现自己漏了什么，Application/Orchestrator 又如何把这种发现变成后续任务可复用的学习信号”。
过渡： 这决定了抽取回路中每个组件应该承担什么责任。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这一页的五个步骤应按以下端到端责任链理解：
1. 当前文档与抽取草稿： Application/Orchestrator 把当前文档、抽取指令和运行配置提交给 Harness Agent；Harness Agent 阅读原文并形成内部抽取草稿。
2. Review： Harness Agent 对照原文检查草稿的覆盖、遗漏、格式、粒度和冲突，并形成结构化 self_review 与可执行的 next_actions。
3. 可复用经验： Harness Agent 根据 next_actions 修订并输出最终 JSON；同时，AgentCore Memory System 的 event storage 保存该 actor/session 中的原文输入、Review artifact、修订动作和最终输出等 events。
4. Memory： 源 session 结束后，AgentCore Memory System 使用内置 EPISODIC strategy 异步执行 Extraction、Consolidation 和 Reflection，分别形成 session-level episode 与 actor-level reflection records。
5. 下一份文档： Application/Orchestrator 使用同一 actor 创建新的 session 并提交下一份文档；AgentCore Memory System 执行 Retrieval，Harness 集成层把检索到的方法性 records 放入目标 Harness Agent 的上下文；Harness Agent 再根据新文档原文完成抽取、自审和最终输出。
最后，Reviewer/Human 对目标输出进行忠实性、完整性、粒度和业务边界评判。Reviewer/Human 的判断不能由记录条数替代。
因此，AgentCore Memory System 保存和检索的重点应是“容易漏什么、应该检查什么、下一次应该执行什么动作”等方法性经验，而不是上一份文档的业务答案。
过渡： 为了验证这条责任链，我们把探索拆成三项主体、输入和产物都不同的实验。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三项实验的端到端流程如下。
实验一：输出侧抽象自省。
1. Application/Orchestrator 调用 Harness Agent 执行一轮文档抽取；
2. Application/Orchestrator 只把该轮已有抽取输出交给应用侧 Reflection LLM，不提供原文；
3. 应用侧 Reflection LLM 从已有输出中归纳候选规则；
4. Application/Orchestrator 把旧规则和新候选规则交给应用侧 Consolidation LLM；
5. 应用侧 Consolidation LLM 合并、去重并输出 canonical rules；
6. Application/Orchestrator 把 canonical rules 作为下一轮抽取的附加指导，再次调用 Harness Agent。
实验一形成的是应用侧自定义规则记忆，不是 AgentCore Memory System 内置 EPISODIC records。
实验二：源任务产生托管 EPISODIC Memory。
1. Application/Orchestrator 把 13 页液氮罐文档提交给 Harness Agent；
2. Harness Agent 在同一 source session 中先输出结构化 self_review，再根据 next_actions 修订并输出最终 JSON；
3. AgentCore Memory System 的 event storage 保存该 source session 的 events；
4. AgentCore Memory System 使用内置 EPISODIC strategy 执行 Extraction、Consolidation 和 Reflection，生成 1 条 session-level episode 和 2 条 actor-level reflections。
实验三：留出文档 Memory 开关对照。
1. Application/Orchestrator 为 Memory 组和 No Memory 组分别创建全新 target session，并保持目标文档、prompt、模型参数及工具配置一致；
2. Memory 组中，AgentCore Memory System 执行 Retrieval，Harness 集成层把检索 records 放入目标 Harness Agent 上下文；
3. No Memory 组中，Application/Orchestrator 禁用 Harness Memory 配置，因此 Harness Agent 不接收任何历史 records；
4. 两组 Harness Agent 分别完成抽取、自审和最终 JSON 输出；
5. Reviewer/Human 对两组结果进行原文核对和业务边界判断。
三项实验依次回答：应用侧抽象规则能学到什么、托管 Memory 如何形成、托管 Memory 是否改变新任务中的抽取行为。
过渡： 先进入实验一，明确“只看输出的抽象自省”究竟由谁执行。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本页所说的“抽象自省”不是 Harness Agent 在同一次抽取中对照原文做 Self-review，也不是 AgentCore Memory System 的 Reflection 阶段。
实验一中的主体分工是：
• Harness Agent 只负责先完成文档抽取并输出结构化结果；
• Application/Orchestrator 只收集 Harness Agent 已经输出的结果；
• 应用侧 Reflection LLM 只阅读这些已有输出，并生成候选抽取规则；
• 应用侧 Consolidation LLM 把候选规则与已有规则合并为 canonical rules；
• Application/Orchestrator 保存 canonical rules，并在下一轮调用中把这些规则提供给 Harness Agent。
应用侧 Reflection LLM 看不到原文，因此它也看不到 Harness Agent 完全遗漏的章节、表格或图片区域。本实验测试的是“输出侧规则归纳能力”，而不是“原文覆盖检查能力”。
实验边界： 第 5 至第 8 页只讨论应用侧自定义 Reflection/Consolidation 回路；这一回路没有使用 AgentCore Memory System 内置 EPISODIC strategy。
过渡： 下一页展示的两个 Prompt，分别属于应用侧 Reflection LLM 和应用侧 Consolidation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左侧 Reflection Prompt 的执行主体是应用侧 Reflection LLM。
Application/Orchestrator 把某一轮 Harness Agent 的抽取输出作为 Reflection Prompt 的输入。应用侧 Reflection LLM 根据“每条必须可操作、只讲规则、不讲具体数值、不超过十条”等要求，生成本轮候选规则。
右侧 Consolidation Prompt 的执行主体是另一次应用侧 Consolidation LLM 调用。
Application/Orchestrator 把已有 canonical rules 和本轮候选规则一起提交给应用侧 Consolidation LLM。应用侧 Consolidation LLM 负责合并同义项、删除重复项，并把最终规则集控制在十五条以内。Application/Orchestrator 再保存新的 canonical rules，并将其提供给下一轮 Harness Agent 抽取。
这个应用侧闭环每轮都能形成新的规则，但它有一个结构性限制：应用侧 Reflection LLM 只能观察 Harness Agent 已经输出的内容。如果 Harness Agent 完全漏掉一张 BOM，该 BOM 不会进入 Reflection Prompt，应用侧 Reflection LLM 就没有事实依据发现这块遗漏。
这里的 Reflection 和 Consolidation 都是应用侧 LLM 调用，不是 AgentCore Memory System 内置 EPISODIC strategy 中的 Reflection 或 Consolidation 阶段。
过渡： 接下来检查应用侧 Consolidation LLM 最终保留了什么，以及这些规则实际改变了什么。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四轮运行后，应用侧 Consolidation LLM 最终输出了 15 条 canonical rules；Application/Orchestrator 把这 15 条规则作为自定义规则记忆维护，并提供给后续 Harness Agent 调用。
这 15 条规则主要覆盖以下方法：
1. Harness Agent 应先识别指标所属主体；
2. Harness Agent 应区分整体性能与部件性能；
3. Harness Agent 应把运输、交付和包装要求独立记录；
4. Harness Agent 应把子系统、附件和独立部件分别记录；
5. Harness Agent 遇到多部件语句时应按部件拆分；
6. Harness Agent 遇到复合指标时应按指标拆分；
7. Harness Agent 应规范化指标名称；
8. Harness Agent 应按接口对象记录接管和连接要求；
9. Harness Agent 应分别记录阀门、仪表和附件清单对象；
10. Harness Agent 应区分不同部位和层次的材料要求；
11. Harness Agent 应完整保留无损检测方法、比例、级别和标准；
12. Harness Agent 应区分制造工艺、结构要求和性能指标；
13. Harness Agent 应忠实保留上下限、范围及比较符号；
14. Harness Agent 不应因缺少数值而忽略功能性和描述性要求；
15. Harness Agent 应保留对应原文，支持 Reviewer/Human 追溯。
这些规则并非没有价值。限值符号保留、描述性要求保留和原文追溯都是合理的质量要求。
但多条规则持续要求 Harness Agent “分别成条”或“独立拆分”。Application/Orchestrator 记录到四轮输出条数从 90、93、95 增加到 102；最终 102 条只对应约 53 个唯一原文片段，平均每段原文被拆成 1.92 条。
因此，Reviewer/Human 不能把 90→102 直接解释为覆盖提升。现有数据更支持“应用侧规则让 Harness Agent 的拆分粒度变细”。
过渡： 实验一的局限，需要通过“源覆盖问题”和“任务边界问题”来解释。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实验一暴露了两类不同错误。
第一类是源覆盖问题。 原文中明确存在信息，但 Harness Agent 没有输出，例如整张 BOM、某个章节或某类附注被完全遗漏。要发现这类问题，执行 Review 的主体必须同时看到原文和内部草稿。应用侧 Reflection LLM 在实验一中只看已有输出，因此无法稳定发现完全未进入输出的区域。
第二类是任务边界问题。 例如某类内容是否属于目标、某段原文应该合并还是拆分、BOM 零部件是否都应进入正式结果。这类判断需要任务规范，最终应由 Reviewer/Human 或明确的业务 rubric 给出事实信号。
实验一能够支持的结论是：
• 应用侧 Reflection LLM 可以从已有输出中归纳格式、命名、追溯和局部拆分规则；
• 应用侧 Consolidation LLM 可以把候选规则压缩成稳定的 canonical rules；
• 但当应用侧 Reflection LLM 看不到原文时，这套回路无法稳定发现整块遗漏；
• Application/Orchestrator 观察到的规则数或记录数增长，不能替代 Reviewer/Human 对原文覆盖的检查。
因此，正确结论不是“Reflection 没用”，而是“输出侧 Reflection 的事实输入不足以解决源覆盖问题”。
过渡： 实验二改变 Review 的输入条件：由 Harness Agent 同时查看原文和内部草稿，并留下可被 AgentCore Memory System 提炼的完整轨迹。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实验二不再使用实验一的输出侧抽象自省回路。
实验二的端到端流程是：
1. Application/Orchestrator 选择 13 页液氮罐技术要求作为 source document，并为 actor ep-review-1789102186 创建 source session；
2. Application/Orchestrator 在第一阶段调用 Harness Agent，要求 Harness Agent 阅读原文、形成内部草稿，并只输出结构化 self_review；
3. Application/Orchestrator 在第二阶段把原文和 self_review.next_actions 继续提供给同一 source session 中的 Harness Agent；
4. Harness Agent 根据 next_actions 修订内部草稿并输出最终 JSON；
5. AgentCore Memory System 的 event storage 保存 source session 中的输入、self_review、修订请求和最终输出等 events；
6. source session 形成完整轨迹后，AgentCore Memory System 使用内置 EPISODIC strategy 异步执行 Extraction、Consolidation 和 Reflection。
Harness Agent 负责业务抽取、自审和修订；Application/Orchestrator 负责两阶段调用顺序、输出约束和 session 控制；AgentCore Memory System 不替 Harness Agent 抽取业务字段，也不替 Reviewer/Human 判断业务边界。
实验边界： 第 9 至第 12 页只讨论 source session 如何形成托管 EPISODIC records；目标文档的效果验证从第 13 页开始。
过渡： 下一页聚焦两阶段流程中 Application/Orchestrator 与 Harness Agent 各自执行的动作。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第一阶段由 Application/Orchestrator 发起，由 Harness Agent 执行。
Application/Orchestrator 向 Harness Agent 提供源文档和第一阶段指令。Harness Agent 在内部形成抽取草稿，但不把草稿作为最终答案返回；Harness Agent 对照原文检查 coverage、omissions、format 和 granularity，并输出结构化 self_review 与 next_actions。
第二阶段仍由 Application/Orchestrator 发起，并由同一 source session 中的 Harness Agent 执行。
Application/Orchestrator 把原文、结构化 self_review 和第二阶段输出约束提交给 Harness Agent。Harness Agent 逐项落实 next_actions，修订内部草稿，并输出最终五字段 JSON。
这套设计不要求 Harness Agent 暴露完整思维过程；它要求 Harness Agent 留下一个可观察、可执行的 Review artifact。Application/Orchestrator 负责保证两个阶段的顺序和输入连续性。
在两个阶段运行期间，AgentCore Memory System 的 event storage 保存 session events；AgentCore Memory System 此时不负责业务抽取，也不负责生成 self_review。托管 Extraction、Consolidation 和 Reflection 在完整轨迹形成后异步执行。
过渡： source session 结束后，处理主体从 Harness Agent 切换为 AgentCore Memory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这一页的执行主体是 AgentCore Memory System，策略类型是内置 EPISODIC strategy。
处理过程包含四个明确阶段：
1. Event storage： AgentCore Memory System 按 actor 和 session 保存 Application/Orchestrator 与 Harness Agent 交互形成的 raw events，包括源文档输入、结构化 self_review、修订动作和最终 JSON。
2. Extraction： AgentCore Memory System 从 source session events 中识别值得保留的任务过程、Review 发现、修订动作和结果。
3. Consolidation： AgentCore Memory System 把当前 source session 的关键信息整理为 session-level episode，作用域为当前 actor/session，namespace 为 /episodes/{actorId}/{sessionId}。
4. Reflection： AgentCore Memory System 从 episode 中抽象跨 session 可复用的方法，形成 actor-level reflection records，作用域为当前 actor，namespace 为 /episodes/{actorId}。
这里的 Consolidation 和 Reflection 都属于 AgentCore Memory System 的托管 EPISODIC 处理，不是实验一中的应用侧 Consolidation LLM 与应用侧 Reflection LLM。
EPISODIC 处理是异步的，短 session 不保证一定生成 records。本次 13 页源任务留下了原文、Review、修订和结果之间的完整轨迹，因此 AgentCore Memory System 最终形成了可检索记录。
过渡： 下一页展示 AgentCore Memory System 实际形成的 record 数量、类型和作用域。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AgentCore Memory System 使用内置 EPISODIC strategy，最终从 source session 中生成了：
• 1 条 session-level episode，作用域是 actor ep-review-1789102186 的当前 source session；
• 2 条 actor-level reflections，作用域是 actor ep-review-1789102186，可供该 actor 的后续新 session 检索。
session-level episode 由 AgentCore Memory System 的 Consolidation 阶段形成，主要总结本次任务发生了什么：Harness Agent 使用两阶段流程，先输出结构化 self_review，再执行修订；Harness Agent 面对 OCR 错误、章节跳号、重复表格和图片限制时，应显式处理并保留可追溯信息。
两条 actor-level reflections 由 AgentCore Memory System 的 Reflection 阶段形成，主要抽象未来可复用的方法：
• Harness Agent 应系统检查 coverage、omissions、format 和 granularity，再执行明确的 next_actions；
• Harness Agent 应保留原文用于 Reviewer/Human 追溯；遇到冲突或无法完整结构化的内容时，Harness Agent 不应静默丢弃信息。
这些 records 的生成主体是 AgentCore Memory System。Harness Agent 提供的是 source session 行为轨迹，Application/Orchestrator 提供的是运行编排，Reviewer/Human 没有参与 record 撰写。
实验二到此只证明托管 records 已形成，还没有证明这些 records 能提高新文档的抽取质量。
过渡： 实验三把这组 records 带到一份留出文档，并通过 Memory 开关隔离其影响。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实验三由 Application/Orchestrator 负责分组、配置和运行控制。
源任务仍是实验二中的 13 页液氮罐技术要求；目标任务换成一页电机图纸“2477080009简图-8.16”。Application/Orchestrator 为 Memory 组和 No Memory 组分别创建全新的 target session。
Memory 组的责任链是：
1. Application/Orchestrator 使用 extractor_ep_review 和 source actor ep-review-1789102186 发起 target session；
2. AgentCore Memory System 在 Retrieval 阶段按 actor 检索实验二形成的 EPISODIC records；
3. Harness 集成层把 Retrieval 返回的方法性 records 放入目标 Harness Agent 的上下文；
4. 目标 Harness Agent 阅读目标文档和注入的 Memory 上下文，执行抽取、内部自审并输出最终 JSON。
No Memory 组的责任链是：
1. Application/Orchestrator 使用 extractor_ep_review_nomem 发起另一条全新 target session；
2. Application/Orchestrator 禁用 Harness Memory 配置，因此 AgentCore Memory System 不参与 Retrieval，目标 Harness Agent 不接收历史 records；
3. 目标 Harness Agent 只依据目标文档和相同抽取指令完成抽取、内部自审并输出最终 JSON。
Reviewer/Human 在两组输出完成后进行人工对比。本实验不让 Reviewer/Human 的评分参与前面的 Memory 形成过程。
过渡： 为了把差异归因于 Memory 上下文，下一页逐项说明 Application/Orchestrator 锁定了哪些控制变量。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两组目标抽取都由 Harness Agent 执行；Application/Orchestrator 保持以下条件一致：
• Application/Orchestrator 向两组提供相同的一页电机图纸；
• Application/Orchestrator 向两组提供相同的 invocation-level system prompt；
• Application/Orchestrator 为两组配置相同模型 claude-sonnet-4-6；
• Application/Orchestrator 为两组配置相同的 temperature=0；
• Application/Orchestrator 为两组配置相同的 maxTokens=32768；
• Application/Orchestrator 为两组禁用 Skill 和 tools；
• Application/Orchestrator 为两组分别创建全新 target session；
• 两组 Harness Agent 都执行单次抽取，并在内部自审后输出最终 JSON。
唯一变量是托管 Memory 链路：
• Memory 组中，AgentCore Memory System 执行 EPISODIC Retrieval，Harness 集成层把返回 records 放入 Harness Agent 上下文；
• No Memory 组中，Application/Orchestrator 禁用 Memory，因此 AgentCore Memory System 不执行目标端 Retrieval，Harness Agent 不接收历史 records。
Application/Orchestrator 记录两组最终输出；Reviewer/Human 再对照目标原文检查新增记录是否有依据。记录条数本身不是自动质量评分。
过渡： 在这组控制条件下，最重要的观察是 Harness Agent 是否开始系统覆盖两张 BOM。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这是全套实验最重要的一页。
首次运行中：
• Memory 组的目标 Harness Agent 输出 31 条记录；
• No Memory 组的目标 Harness Agent 输出 11 条记录。
这两个数字由 Application/Orchestrator 从两组最终 JSON 中统计。它们表示记录数量，不表示质量分数，因此不能表述为“质量提升三倍”。
真正关键的差异来自内容覆盖：
• Memory 组中，AgentCore Memory System 先执行 Retrieval，Harness 集成层把方法性 EPISODIC records 放入目标 Harness Agent 上下文；目标 Harness Agent 随后系统展开了图纸中的两张 BOM；
• No Memory 组中，目标 Harness Agent 主要关注标题栏和技术要求，只零散抽取少量数量信息，没有同样系统地展开两张 BOM。
Memory 组新增的约 20 条记录主要包括机座、前端盖、转子、轴承、壳体组件、法兰盘组件和散热器组件等零部件与组件。
Reviewer/Human 对照目标图纸后认为，这些新增条目基本能够在两张 BOM 中找到原文依据，并非明显臆造。但 Reviewer/Human 仍需判断每个零部件是否属于最终业务边界，以及拆分粒度是否符合实际使用要求。
因此，本页能够支持的准确结论是：
在这份留出文档上，AgentCore Memory System 检索方法性 EPISODIC records，并由 Harness 集成层将其提供给目标 Harness Agent 后，目标 Harness Agent 改变了对“什么值得结构化”的判断，输出从 11 条变为 31 条，新增内容主要来自两张 BOM。
过渡： 最后一部分把三项实验的主体、证据和结论边界合并起来。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实验一的主体与结论：
Harness Agent 先输出抽取结果；应用侧 Reflection LLM 只阅读已有输出并归纳候选规则；应用侧 Consolidation LLM 合并 canonical rules；Application/Orchestrator 把规则提供给下一轮 Harness Agent。这套回路学到了格式、规范化和拆分方法，但因为应用侧 Reflection LLM 看不到原文，所以无法稳定发现整块遗漏，90→102 也主要体现拆分变细。
实验二的主体与结论：
Application/Orchestrator 组织两阶段调用；Harness Agent 同时查看原文和内部草稿，输出结构化 self_review，再根据 next_actions 修订；AgentCore Memory System 保存 source session events，并使用内置 EPISODIC strategy 执行 Extraction、Consolidation 和 Reflection。这条源任务轨迹最终形成 1 条 session-level episode 和 2 条 actor-level reflections。
实验三的主体与结论：
Application/Orchestrator 控制目标端变量；AgentCore Memory System 只在 Memory 组执行 Retrieval；Harness 集成层只在 Memory 组把 records 放入目标 Harness Agent 上下文；两组 Harness Agent 分别输出最终 JSON。结果是 31 条对 11 条，新增内容主要来自两张 BOM；Reviewer/Human 核对后认为新增内容基本有原文依据。
三项实验共同支持的结论是：
• Harness Agent 的源覆盖能力取决于 Review 是否能同时看到原文和内部草稿；
• AgentCore Memory System 的价值取决于 source session 是否包含足够清晰的 Review 与修订轨迹；
• AgentCore Memory System 的 EPISODIC records 可以跨 session 复用方法，但不能替 Reviewer/Human 定义任务边界；
• 在本次单个留出文档实验中，Memory 上下文改变了目标 Harness Agent 的覆盖重点，但仍需要更多文档与人工评审验证泛化性。
过渡： 最后一页把这些角色分工收敛成可执行的工程实践。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第一，Application/Orchestrator 应把源任务 Review 设计成明确的两阶段调用，并保证原文、结构化 self_review 和 next_actions 在同一 source session 中形成连续轨迹。
第二，Harness Agent 的 Review 必须同时查看原文和内部草稿；Harness Agent 应固定检查 coverage、omissions、format 和 granularity，再根据明确的 next_actions 修订最终 JSON。
第三，应用侧 Reflection LLM 与应用侧 Consolidation LLM 适合维护自定义规则，但团队必须明确：这两种应用侧调用不是 AgentCore Memory System 内置 EPISODIC strategy 的 Reflection 与 Consolidation。
第四，AgentCore Memory System 使用内置 EPISODIC strategy 时，团队应分别观察 event storage、Extraction、Consolidation、Reflection 和 Retrieval，并明确 session-level episode 与 actor-level reflection 的作用域。
第五，后续任务开始时，AgentCore Memory System 负责按 actor 执行 Retrieval；Harness 集成层负责把返回 records 放入新的 Harness Agent session 上下文；新的 Harness Agent 仍应依据当前文档原文完成抽取，不能复制历史业务答案。
第六，Application/Orchestrator 应在对照实验中分别控制 source actor、target session、prompt、模型参数、tools、Skill 和 Memory 开关，避免把编排差异误判为 Memory 效果。
第七，Reviewer/Human 应分别检查忠实性、完整性、粒度、过度抽取和业务边界，不能把规则数量或输出记录数量直接当作质量分数。
最终 takeaway 是：
Harness Agent 负责产生高质量 Review 轨迹，AgentCore Memory System 负责把轨迹提炼并跨 session 检索，Harness 集成层负责把检索 records 提供给新的 Harness Agent，Reviewer/Human 负责判断这些方法是否真正改善了业务结果。
过渡（收束）： 本次最有价值的证据不是“Memory 里多了几条记录”，而是同一目标任务中，接收方法性 EPISODIC records 的 Harness Agent 系统覆盖了两张 BOM，并输出 31 条；未接收 Memory 的 Harness Agent 输出 11 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85800" y="1097280"/>
            <a:ext cx="10058400" cy="347472"/>
          </a:xfrm>
          <a:prstGeom prst="rect">
            <a:avLst/>
          </a:prstGeom>
          <a:noFill/>
          <a:ln/>
        </p:spPr>
        <p:txBody>
          <a:bodyPr wrap="square" lIns="0" tIns="0" rIns="0" bIns="0" rtlCol="0" anchor="ctr"/>
          <a:lstStyle/>
          <a:p>
            <a:pPr indent="0" marL="0">
              <a:buNone/>
            </a:pPr>
            <a:r>
              <a:rPr lang="en-US" sz="1400" b="1" spc="300" kern="0" dirty="0">
                <a:solidFill>
                  <a:srgbClr val="42B4FF"/>
                </a:solidFill>
                <a:latin typeface="Amazon Ember Display" pitchFamily="34" charset="0"/>
                <a:ea typeface="Amazon Ember Display" pitchFamily="34" charset="-122"/>
                <a:cs typeface="Amazon Ember Display" pitchFamily="34" charset="-120"/>
              </a:rPr>
              <a:t>AGENTCORE MEMORY · STRUCTURED EXTRACTION</a:t>
            </a:r>
            <a:endParaRPr lang="en-US" sz="1400" dirty="0"/>
          </a:p>
        </p:txBody>
      </p:sp>
      <p:sp>
        <p:nvSpPr>
          <p:cNvPr id="4" name="Text 1"/>
          <p:cNvSpPr/>
          <p:nvPr/>
        </p:nvSpPr>
        <p:spPr>
          <a:xfrm>
            <a:off x="658368" y="1600200"/>
            <a:ext cx="10698480" cy="777240"/>
          </a:xfrm>
          <a:prstGeom prst="rect">
            <a:avLst/>
          </a:prstGeom>
          <a:noFill/>
          <a:ln/>
        </p:spPr>
        <p:txBody>
          <a:bodyPr wrap="square" lIns="0" tIns="0" rIns="0" bIns="0" rtlCol="0" anchor="ctr"/>
          <a:lstStyle/>
          <a:p>
            <a:pPr indent="0" marL="0">
              <a:buNone/>
            </a:pPr>
            <a:r>
              <a:rPr lang="en-US" sz="4600" b="1" dirty="0">
                <a:solidFill>
                  <a:srgbClr val="FFFFFF"/>
                </a:solidFill>
                <a:latin typeface="Amazon Ember Display" pitchFamily="34" charset="0"/>
                <a:ea typeface="Amazon Ember Display" pitchFamily="34" charset="-122"/>
                <a:cs typeface="Amazon Ember Display" pitchFamily="34" charset="-120"/>
              </a:rPr>
              <a:t>Agent 记忆最佳实践</a:t>
            </a:r>
            <a:endParaRPr lang="en-US" sz="4600" dirty="0"/>
          </a:p>
        </p:txBody>
      </p:sp>
      <p:sp>
        <p:nvSpPr>
          <p:cNvPr id="5" name="Text 2"/>
          <p:cNvSpPr/>
          <p:nvPr/>
        </p:nvSpPr>
        <p:spPr>
          <a:xfrm>
            <a:off x="685800" y="2487168"/>
            <a:ext cx="10424160" cy="566928"/>
          </a:xfrm>
          <a:prstGeom prst="rect">
            <a:avLst/>
          </a:prstGeom>
          <a:noFill/>
          <a:ln/>
        </p:spPr>
        <p:txBody>
          <a:bodyPr wrap="square" lIns="0" tIns="0" rIns="0" bIns="0" rtlCol="0" anchor="ctr"/>
          <a:lstStyle/>
          <a:p>
            <a:pPr indent="0" marL="0">
              <a:buNone/>
            </a:pPr>
            <a:r>
              <a:rPr lang="en-US" sz="2800" b="1" dirty="0">
                <a:solidFill>
                  <a:srgbClr val="42B4FF"/>
                </a:solidFill>
                <a:latin typeface="Amazon Ember Display" pitchFamily="34" charset="0"/>
                <a:ea typeface="Amazon Ember Display" pitchFamily="34" charset="-122"/>
                <a:cs typeface="Amazon Ember Display" pitchFamily="34" charset="-120"/>
              </a:rPr>
              <a:t>结构化数据抽取场景</a:t>
            </a:r>
            <a:endParaRPr lang="en-US" sz="2800" dirty="0"/>
          </a:p>
        </p:txBody>
      </p:sp>
      <p:sp>
        <p:nvSpPr>
          <p:cNvPr id="6" name="Text 3"/>
          <p:cNvSpPr/>
          <p:nvPr/>
        </p:nvSpPr>
        <p:spPr>
          <a:xfrm>
            <a:off x="685800" y="3429000"/>
            <a:ext cx="10332720" cy="457200"/>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怎样让 Harness Agent 从一次抽取中学习，并在下一份文档中抽得更完整？</a:t>
            </a:r>
            <a:endParaRPr lang="en-US" sz="1800" dirty="0"/>
          </a:p>
        </p:txBody>
      </p:sp>
      <p:sp>
        <p:nvSpPr>
          <p:cNvPr id="7" name="Shape 4"/>
          <p:cNvSpPr/>
          <p:nvPr/>
        </p:nvSpPr>
        <p:spPr>
          <a:xfrm>
            <a:off x="685800" y="4133088"/>
            <a:ext cx="10149840" cy="1051560"/>
          </a:xfrm>
          <a:prstGeom prst="roundRect">
            <a:avLst>
              <a:gd name="adj" fmla="val 6957"/>
            </a:avLst>
          </a:prstGeom>
          <a:solidFill>
            <a:srgbClr val="1C2740"/>
          </a:solidFill>
          <a:ln w="10160">
            <a:solidFill>
              <a:srgbClr val="2E3B57"/>
            </a:solidFill>
            <a:prstDash val="solid"/>
          </a:ln>
        </p:spPr>
      </p:sp>
      <p:sp>
        <p:nvSpPr>
          <p:cNvPr id="8" name="Text 5"/>
          <p:cNvSpPr/>
          <p:nvPr/>
        </p:nvSpPr>
        <p:spPr>
          <a:xfrm>
            <a:off x="914400" y="4133088"/>
            <a:ext cx="9692640" cy="1051560"/>
          </a:xfrm>
          <a:prstGeom prst="rect">
            <a:avLst/>
          </a:prstGeom>
          <a:noFill/>
          <a:ln/>
        </p:spPr>
        <p:txBody>
          <a:bodyPr wrap="square" lIns="0" tIns="0" rIns="0" bIns="0" rtlCol="0" anchor="ctr"/>
          <a:lstStyle/>
          <a:p>
            <a:pPr algn="ctr" indent="0" marL="0">
              <a:buNone/>
            </a:pPr>
            <a:r>
              <a:rPr lang="en-US" sz="2000" b="1" dirty="0">
                <a:solidFill>
                  <a:srgbClr val="FFFFFF"/>
                </a:solidFill>
                <a:latin typeface="Amazon Ember Display" pitchFamily="34" charset="0"/>
                <a:ea typeface="Amazon Ember Display" pitchFamily="34" charset="-122"/>
                <a:cs typeface="Amazon Ember Display" pitchFamily="34" charset="-120"/>
              </a:rPr>
              <a:t>核心：Harness Agent 产出 Review 轨迹；AgentCore Memory System 把轨迹提炼为可复用 Records。</a:t>
            </a:r>
            <a:endParaRPr lang="en-US" sz="2000" dirty="0"/>
          </a:p>
        </p:txBody>
      </p:sp>
      <p:sp>
        <p:nvSpPr>
          <p:cNvPr id="9" name="Text 6"/>
          <p:cNvSpPr/>
          <p:nvPr/>
        </p:nvSpPr>
        <p:spPr>
          <a:xfrm>
            <a:off x="685800" y="5559552"/>
            <a:ext cx="10424160" cy="320040"/>
          </a:xfrm>
          <a:prstGeom prst="rect">
            <a:avLst/>
          </a:prstGeom>
          <a:noFill/>
          <a:ln/>
        </p:spPr>
        <p:txBody>
          <a:bodyPr wrap="square" lIns="0" tIns="0" rIns="0" bIns="0" rtlCol="0" anchor="ctr"/>
          <a:lstStyle/>
          <a:p>
            <a:pPr indent="0" marL="0">
              <a:buNone/>
            </a:pPr>
            <a:r>
              <a:rPr lang="en-US" sz="1200" dirty="0">
                <a:solidFill>
                  <a:srgbClr val="8496A8"/>
                </a:solidFill>
                <a:latin typeface="Microsoft YaHei" pitchFamily="34" charset="0"/>
                <a:ea typeface="Microsoft YaHei" pitchFamily="34" charset="-122"/>
                <a:cs typeface="Microsoft YaHei" pitchFamily="34" charset="-120"/>
              </a:rPr>
              <a:t>基于真实工业文档实验 · Application 编排 + Harness Agent 抽取 + AgentCore Memory EPISODIC</a:t>
            </a:r>
            <a:endParaRPr lang="en-US" sz="1200" dirty="0"/>
          </a:p>
        </p:txBody>
      </p:sp>
      <p:sp>
        <p:nvSpPr>
          <p:cNvPr id="10" name="Text 7"/>
          <p:cNvSpPr/>
          <p:nvPr/>
        </p:nvSpPr>
        <p:spPr>
          <a:xfrm>
            <a:off x="685800" y="6419088"/>
            <a:ext cx="2743200" cy="256032"/>
          </a:xfrm>
          <a:prstGeom prst="rect">
            <a:avLst/>
          </a:prstGeom>
          <a:noFill/>
          <a:ln/>
        </p:spPr>
        <p:txBody>
          <a:bodyPr wrap="square" lIns="0" tIns="0" rIns="0" bIns="0" rtlCol="0" anchor="ctr"/>
          <a:lstStyle/>
          <a:p>
            <a:pPr indent="0" marL="0">
              <a:buNone/>
            </a:pPr>
            <a:r>
              <a:rPr lang="en-US" sz="12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THE CHALLENGE</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2</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 的结构化抽取难点</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Harness Agent 生成合法 JSON 并不难；难点是完整识别散落在不同载体中的目标信息。</a:t>
            </a:r>
            <a:endParaRPr lang="en-US" sz="1400" dirty="0"/>
          </a:p>
        </p:txBody>
      </p:sp>
      <p:sp>
        <p:nvSpPr>
          <p:cNvPr id="8" name="Shape 5"/>
          <p:cNvSpPr/>
          <p:nvPr/>
        </p:nvSpPr>
        <p:spPr>
          <a:xfrm>
            <a:off x="566928" y="1737360"/>
            <a:ext cx="5349240" cy="3337560"/>
          </a:xfrm>
          <a:prstGeom prst="roundRect">
            <a:avLst>
              <a:gd name="adj" fmla="val 2192"/>
            </a:avLst>
          </a:prstGeom>
          <a:solidFill>
            <a:srgbClr val="1C2740"/>
          </a:solidFill>
          <a:ln w="10160">
            <a:solidFill>
              <a:srgbClr val="2E3B57"/>
            </a:solidFill>
            <a:prstDash val="solid"/>
          </a:ln>
        </p:spPr>
      </p:sp>
      <p:sp>
        <p:nvSpPr>
          <p:cNvPr id="9" name="Text 6"/>
          <p:cNvSpPr/>
          <p:nvPr/>
        </p:nvSpPr>
        <p:spPr>
          <a:xfrm>
            <a:off x="749808" y="1865376"/>
            <a:ext cx="498348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APPLICATION 提供的真实输入</a:t>
            </a:r>
            <a:endParaRPr lang="en-US" sz="1150" dirty="0"/>
          </a:p>
        </p:txBody>
      </p:sp>
      <p:sp>
        <p:nvSpPr>
          <p:cNvPr id="10" name="Shape 7"/>
          <p:cNvSpPr/>
          <p:nvPr/>
        </p:nvSpPr>
        <p:spPr>
          <a:xfrm>
            <a:off x="749808" y="2194560"/>
            <a:ext cx="4983480" cy="2724912"/>
          </a:xfrm>
          <a:prstGeom prst="roundRect">
            <a:avLst>
              <a:gd name="adj" fmla="val 2685"/>
            </a:avLst>
          </a:prstGeom>
          <a:solidFill>
            <a:srgbClr val="0B1220"/>
          </a:solidFill>
          <a:ln w="10160">
            <a:solidFill>
              <a:srgbClr val="2E3B57"/>
            </a:solidFill>
            <a:prstDash val="solid"/>
          </a:ln>
        </p:spPr>
      </p:sp>
      <p:sp>
        <p:nvSpPr>
          <p:cNvPr id="11" name="Text 8"/>
          <p:cNvSpPr/>
          <p:nvPr/>
        </p:nvSpPr>
        <p:spPr>
          <a:xfrm>
            <a:off x="859536" y="2267712"/>
            <a:ext cx="4764024" cy="2587752"/>
          </a:xfrm>
          <a:prstGeom prst="rect">
            <a:avLst/>
          </a:prstGeom>
          <a:noFill/>
          <a:ln/>
        </p:spPr>
        <p:txBody>
          <a:bodyPr wrap="square" lIns="0" tIns="0" rIns="0" bIns="0" rtlCol="0" anchor="t"/>
          <a:lstStyle/>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技术要求:</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1. 所有尺寸单位为毫米</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2. 未注公差按 GB/T 1804-m 级</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3. 装配后转子应能灵活转动</a:t>
            </a:r>
            <a:endParaRPr lang="en-US" sz="1150" dirty="0"/>
          </a:p>
          <a:p>
            <a:pPr indent="0" marL="0">
              <a:buNone/>
            </a:pP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序号 | 名称 | 数量 |</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1 | 机座 | 1 |</a:t>
            </a:r>
            <a:endParaRPr lang="en-US" sz="1150" dirty="0"/>
          </a:p>
          <a:p>
            <a:pPr indent="0" marL="0">
              <a:buNone/>
            </a:pPr>
            <a:r>
              <a:rPr lang="en-US" sz="1150" dirty="0">
                <a:solidFill>
                  <a:srgbClr val="CFD9E4"/>
                </a:solidFill>
                <a:latin typeface="Amazon Ember Mono" pitchFamily="34" charset="0"/>
                <a:ea typeface="Amazon Ember Mono" pitchFamily="34" charset="-122"/>
                <a:cs typeface="Amazon Ember Mono" pitchFamily="34" charset="-120"/>
              </a:rPr>
              <a:t>| 2 | 前端盖 | 1 |</a:t>
            </a:r>
            <a:endParaRPr lang="en-US" sz="1150" dirty="0"/>
          </a:p>
        </p:txBody>
      </p:sp>
      <p:sp>
        <p:nvSpPr>
          <p:cNvPr id="12" name="Shape 9"/>
          <p:cNvSpPr/>
          <p:nvPr/>
        </p:nvSpPr>
        <p:spPr>
          <a:xfrm>
            <a:off x="6190488" y="1737360"/>
            <a:ext cx="5440680" cy="3337560"/>
          </a:xfrm>
          <a:prstGeom prst="roundRect">
            <a:avLst>
              <a:gd name="adj" fmla="val 2192"/>
            </a:avLst>
          </a:prstGeom>
          <a:solidFill>
            <a:srgbClr val="35181C"/>
          </a:solidFill>
          <a:ln w="10160">
            <a:solidFill>
              <a:srgbClr val="2E3B57"/>
            </a:solidFill>
            <a:prstDash val="solid"/>
          </a:ln>
        </p:spPr>
      </p:sp>
      <p:sp>
        <p:nvSpPr>
          <p:cNvPr id="13" name="Text 10"/>
          <p:cNvSpPr/>
          <p:nvPr/>
        </p:nvSpPr>
        <p:spPr>
          <a:xfrm>
            <a:off x="6391656" y="1874520"/>
            <a:ext cx="503834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HARNESS AGENT · 常见漏项</a:t>
            </a:r>
            <a:endParaRPr lang="en-US" sz="1150" dirty="0"/>
          </a:p>
        </p:txBody>
      </p:sp>
      <p:sp>
        <p:nvSpPr>
          <p:cNvPr id="14" name="Text 11"/>
          <p:cNvSpPr/>
          <p:nvPr/>
        </p:nvSpPr>
        <p:spPr>
          <a:xfrm>
            <a:off x="6391656" y="2221992"/>
            <a:ext cx="503834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Harness Agent 通常先抓住数值参数</a:t>
            </a:r>
            <a:endParaRPr lang="en-US" sz="1700" dirty="0"/>
          </a:p>
        </p:txBody>
      </p:sp>
      <p:sp>
        <p:nvSpPr>
          <p:cNvPr id="15" name="Text 12"/>
          <p:cNvSpPr/>
          <p:nvPr/>
        </p:nvSpPr>
        <p:spPr>
          <a:xfrm>
            <a:off x="6391656" y="2679192"/>
            <a:ext cx="5038344" cy="2267712"/>
          </a:xfrm>
          <a:prstGeom prst="rect">
            <a:avLst/>
          </a:prstGeom>
          <a:noFill/>
          <a:ln/>
        </p:spPr>
        <p:txBody>
          <a:bodyPr wrap="square" lIns="0" tIns="0" rIns="0" bIns="0" rtlCol="0" anchor="t"/>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 正文参数容易被识别</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整张 BOM 可能被当成背景</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附注与备注容易跳过</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定性、流程、待确认要求不一定被视为指标</a:t>
            </a:r>
            <a:endParaRPr lang="en-US" sz="1400" dirty="0"/>
          </a:p>
          <a:p>
            <a:pPr indent="0" marL="0">
              <a:buNone/>
            </a:pPr>
            <a:r>
              <a:rPr lang="en-US" sz="1400" dirty="0">
                <a:solidFill>
                  <a:srgbClr val="CFD9E4"/>
                </a:solidFill>
                <a:latin typeface="Microsoft YaHei" pitchFamily="34" charset="0"/>
                <a:ea typeface="Microsoft YaHei" pitchFamily="34" charset="-122"/>
                <a:cs typeface="Microsoft YaHei" pitchFamily="34" charset="-120"/>
              </a:rPr>
              <a:t>· 图片/OCR 内容存在不完整与冲突</a:t>
            </a:r>
            <a:endParaRPr lang="en-US" sz="1400" dirty="0"/>
          </a:p>
        </p:txBody>
      </p:sp>
      <p:sp>
        <p:nvSpPr>
          <p:cNvPr id="16" name="Shape 13"/>
          <p:cNvSpPr/>
          <p:nvPr/>
        </p:nvSpPr>
        <p:spPr>
          <a:xfrm>
            <a:off x="566928" y="5321808"/>
            <a:ext cx="11064240" cy="777240"/>
          </a:xfrm>
          <a:prstGeom prst="roundRect">
            <a:avLst>
              <a:gd name="adj" fmla="val 9412"/>
            </a:avLst>
          </a:prstGeom>
          <a:solidFill>
            <a:srgbClr val="0B1220"/>
          </a:solidFill>
          <a:ln w="10160">
            <a:solidFill>
              <a:srgbClr val="FF6A3D"/>
            </a:solidFill>
            <a:prstDash val="solid"/>
          </a:ln>
        </p:spPr>
      </p:sp>
      <p:sp>
        <p:nvSpPr>
          <p:cNvPr id="17" name="Text 14"/>
          <p:cNvSpPr/>
          <p:nvPr/>
        </p:nvSpPr>
        <p:spPr>
          <a:xfrm>
            <a:off x="822960" y="5321808"/>
            <a:ext cx="10552176" cy="777240"/>
          </a:xfrm>
          <a:prstGeom prst="rect">
            <a:avLst/>
          </a:prstGeom>
          <a:noFill/>
          <a:ln/>
        </p:spPr>
        <p:txBody>
          <a:bodyPr wrap="square" lIns="0" tIns="0" rIns="0" bIns="0" rtlCol="0" anchor="ctr"/>
          <a:lstStyle/>
          <a:p>
            <a:pPr algn="ctr" indent="0" marL="0">
              <a:buNone/>
            </a:pPr>
            <a:r>
              <a:rPr lang="en-US" sz="1650" b="1" dirty="0">
                <a:solidFill>
                  <a:srgbClr val="FF6A3D"/>
                </a:solidFill>
                <a:latin typeface="Amazon Ember Display" pitchFamily="34" charset="0"/>
                <a:ea typeface="Amazon Ember Display" pitchFamily="34" charset="-122"/>
                <a:cs typeface="Amazon Ember Display" pitchFamily="34" charset="-120"/>
              </a:rPr>
              <a:t>真正的问题：Harness Agent 如何发现自己的源覆盖遗漏？</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MEMORY ROLE</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3</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端到端抽取回路：每一步由谁执行</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负责调用与实验控制；Harness Agent 负责抽取与自审；Memory System 负责 EPISODIC 处理与跨 session 召回。</a:t>
            </a:r>
            <a:endParaRPr lang="en-US" sz="1400" dirty="0"/>
          </a:p>
        </p:txBody>
      </p:sp>
      <p:sp>
        <p:nvSpPr>
          <p:cNvPr id="8" name="Shape 5"/>
          <p:cNvSpPr/>
          <p:nvPr/>
        </p:nvSpPr>
        <p:spPr>
          <a:xfrm>
            <a:off x="566928" y="1755648"/>
            <a:ext cx="1874520" cy="1600200"/>
          </a:xfrm>
          <a:prstGeom prst="roundRect">
            <a:avLst>
              <a:gd name="adj" fmla="val 4571"/>
            </a:avLst>
          </a:prstGeom>
          <a:solidFill>
            <a:srgbClr val="1C2740"/>
          </a:solidFill>
          <a:ln w="10160">
            <a:solidFill>
              <a:srgbClr val="2E3B57"/>
            </a:solidFill>
            <a:prstDash val="solid"/>
          </a:ln>
        </p:spPr>
      </p:sp>
      <p:sp>
        <p:nvSpPr>
          <p:cNvPr id="9" name="Text 6"/>
          <p:cNvSpPr/>
          <p:nvPr/>
        </p:nvSpPr>
        <p:spPr>
          <a:xfrm>
            <a:off x="768096" y="1892808"/>
            <a:ext cx="147218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① APPLICATION</a:t>
            </a:r>
            <a:endParaRPr lang="en-US" sz="1150" dirty="0"/>
          </a:p>
        </p:txBody>
      </p:sp>
      <p:sp>
        <p:nvSpPr>
          <p:cNvPr id="10" name="Text 7"/>
          <p:cNvSpPr/>
          <p:nvPr/>
        </p:nvSpPr>
        <p:spPr>
          <a:xfrm>
            <a:off x="768096" y="2240280"/>
            <a:ext cx="147218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启动源任务</a:t>
            </a:r>
            <a:endParaRPr lang="en-US" sz="1500" dirty="0"/>
          </a:p>
        </p:txBody>
      </p:sp>
      <p:sp>
        <p:nvSpPr>
          <p:cNvPr id="11" name="Text 8"/>
          <p:cNvSpPr/>
          <p:nvPr/>
        </p:nvSpPr>
        <p:spPr>
          <a:xfrm>
            <a:off x="768096" y="2697480"/>
            <a:ext cx="1472184" cy="530352"/>
          </a:xfrm>
          <a:prstGeom prst="rect">
            <a:avLst/>
          </a:prstGeom>
          <a:noFill/>
          <a:ln/>
        </p:spPr>
        <p:txBody>
          <a:bodyPr wrap="square" lIns="0" tIns="0" rIns="0" bIns="0" rtlCol="0" anchor="t"/>
          <a:lstStyle/>
          <a:p>
            <a:pPr indent="0" marL="0">
              <a:buNone/>
            </a:pPr>
            <a:r>
              <a:rPr lang="en-US" sz="1120" dirty="0">
                <a:solidFill>
                  <a:srgbClr val="CFD9E4"/>
                </a:solidFill>
                <a:latin typeface="Microsoft YaHei" pitchFamily="34" charset="0"/>
                <a:ea typeface="Microsoft YaHei" pitchFamily="34" charset="-122"/>
                <a:cs typeface="Microsoft YaHei" pitchFamily="34" charset="-120"/>
              </a:rPr>
              <a:t>向 Harness Agent 提交源文档与抽取 Prompt</a:t>
            </a:r>
            <a:endParaRPr lang="en-US" sz="1120" dirty="0"/>
          </a:p>
        </p:txBody>
      </p:sp>
      <p:sp>
        <p:nvSpPr>
          <p:cNvPr id="12" name="Text 9"/>
          <p:cNvSpPr/>
          <p:nvPr/>
        </p:nvSpPr>
        <p:spPr>
          <a:xfrm>
            <a:off x="2441448"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3" name="Shape 10"/>
          <p:cNvSpPr/>
          <p:nvPr/>
        </p:nvSpPr>
        <p:spPr>
          <a:xfrm>
            <a:off x="2770632" y="1755648"/>
            <a:ext cx="1874520" cy="1600200"/>
          </a:xfrm>
          <a:prstGeom prst="roundRect">
            <a:avLst>
              <a:gd name="adj" fmla="val 4571"/>
            </a:avLst>
          </a:prstGeom>
          <a:solidFill>
            <a:srgbClr val="0C3440"/>
          </a:solidFill>
          <a:ln w="10160">
            <a:solidFill>
              <a:srgbClr val="2E3B57"/>
            </a:solidFill>
            <a:prstDash val="solid"/>
          </a:ln>
        </p:spPr>
      </p:sp>
      <p:sp>
        <p:nvSpPr>
          <p:cNvPr id="14" name="Text 11"/>
          <p:cNvSpPr/>
          <p:nvPr/>
        </p:nvSpPr>
        <p:spPr>
          <a:xfrm>
            <a:off x="2971800" y="1892808"/>
            <a:ext cx="147218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② HARNESS AGENT</a:t>
            </a:r>
            <a:endParaRPr lang="en-US" sz="1150" dirty="0"/>
          </a:p>
        </p:txBody>
      </p:sp>
      <p:sp>
        <p:nvSpPr>
          <p:cNvPr id="15" name="Text 12"/>
          <p:cNvSpPr/>
          <p:nvPr/>
        </p:nvSpPr>
        <p:spPr>
          <a:xfrm>
            <a:off x="2971800" y="2240280"/>
            <a:ext cx="147218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抽取 + Self-review</a:t>
            </a:r>
            <a:endParaRPr lang="en-US" sz="1500" dirty="0"/>
          </a:p>
        </p:txBody>
      </p:sp>
      <p:sp>
        <p:nvSpPr>
          <p:cNvPr id="16" name="Text 13"/>
          <p:cNvSpPr/>
          <p:nvPr/>
        </p:nvSpPr>
        <p:spPr>
          <a:xfrm>
            <a:off x="2971800" y="2697480"/>
            <a:ext cx="1472184" cy="530352"/>
          </a:xfrm>
          <a:prstGeom prst="rect">
            <a:avLst/>
          </a:prstGeom>
          <a:noFill/>
          <a:ln/>
        </p:spPr>
        <p:txBody>
          <a:bodyPr wrap="square" lIns="0" tIns="0" rIns="0" bIns="0" rtlCol="0" anchor="t"/>
          <a:lstStyle/>
          <a:p>
            <a:pPr indent="0" marL="0">
              <a:buNone/>
            </a:pPr>
            <a:r>
              <a:rPr lang="en-US" sz="1120" dirty="0">
                <a:solidFill>
                  <a:srgbClr val="CFD9E4"/>
                </a:solidFill>
                <a:latin typeface="Microsoft YaHei" pitchFamily="34" charset="0"/>
                <a:ea typeface="Microsoft YaHei" pitchFamily="34" charset="-122"/>
                <a:cs typeface="Microsoft YaHei" pitchFamily="34" charset="-120"/>
              </a:rPr>
              <a:t>产出 self_review、next_actions 与最终 JSON</a:t>
            </a:r>
            <a:endParaRPr lang="en-US" sz="1120" dirty="0"/>
          </a:p>
        </p:txBody>
      </p:sp>
      <p:sp>
        <p:nvSpPr>
          <p:cNvPr id="17" name="Text 14"/>
          <p:cNvSpPr/>
          <p:nvPr/>
        </p:nvSpPr>
        <p:spPr>
          <a:xfrm>
            <a:off x="4645152"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8" name="Shape 15"/>
          <p:cNvSpPr/>
          <p:nvPr/>
        </p:nvSpPr>
        <p:spPr>
          <a:xfrm>
            <a:off x="4974336" y="1755648"/>
            <a:ext cx="1874520" cy="1600200"/>
          </a:xfrm>
          <a:prstGeom prst="roundRect">
            <a:avLst>
              <a:gd name="adj" fmla="val 4571"/>
            </a:avLst>
          </a:prstGeom>
          <a:solidFill>
            <a:srgbClr val="2A2418"/>
          </a:solidFill>
          <a:ln w="10160">
            <a:solidFill>
              <a:srgbClr val="2E3B57"/>
            </a:solidFill>
            <a:prstDash val="solid"/>
          </a:ln>
        </p:spPr>
      </p:sp>
      <p:sp>
        <p:nvSpPr>
          <p:cNvPr id="19" name="Text 16"/>
          <p:cNvSpPr/>
          <p:nvPr/>
        </p:nvSpPr>
        <p:spPr>
          <a:xfrm>
            <a:off x="5175504" y="1892808"/>
            <a:ext cx="147218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③ MEMORY SYSTEM</a:t>
            </a:r>
            <a:endParaRPr lang="en-US" sz="1150" dirty="0"/>
          </a:p>
        </p:txBody>
      </p:sp>
      <p:sp>
        <p:nvSpPr>
          <p:cNvPr id="20" name="Text 17"/>
          <p:cNvSpPr/>
          <p:nvPr/>
        </p:nvSpPr>
        <p:spPr>
          <a:xfrm>
            <a:off x="5175504" y="2240280"/>
            <a:ext cx="147218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EPISODIC 处理</a:t>
            </a:r>
            <a:endParaRPr lang="en-US" sz="1500" dirty="0"/>
          </a:p>
        </p:txBody>
      </p:sp>
      <p:sp>
        <p:nvSpPr>
          <p:cNvPr id="21" name="Text 18"/>
          <p:cNvSpPr/>
          <p:nvPr/>
        </p:nvSpPr>
        <p:spPr>
          <a:xfrm>
            <a:off x="5175504" y="2697480"/>
            <a:ext cx="1472184" cy="530352"/>
          </a:xfrm>
          <a:prstGeom prst="rect">
            <a:avLst/>
          </a:prstGeom>
          <a:noFill/>
          <a:ln/>
        </p:spPr>
        <p:txBody>
          <a:bodyPr wrap="square" lIns="0" tIns="0" rIns="0" bIns="0" rtlCol="0" anchor="t"/>
          <a:lstStyle/>
          <a:p>
            <a:pPr indent="0" marL="0">
              <a:buNone/>
            </a:pPr>
            <a:r>
              <a:rPr lang="en-US" sz="1080" dirty="0">
                <a:solidFill>
                  <a:srgbClr val="CFD9E4"/>
                </a:solidFill>
                <a:latin typeface="Microsoft YaHei" pitchFamily="34" charset="0"/>
                <a:ea typeface="Microsoft YaHei" pitchFamily="34" charset="-122"/>
                <a:cs typeface="Microsoft YaHei" pitchFamily="34" charset="-120"/>
              </a:rPr>
              <a:t>Event Storage → Extraction → Consolidation → Reflection</a:t>
            </a:r>
            <a:endParaRPr lang="en-US" sz="1080" dirty="0"/>
          </a:p>
        </p:txBody>
      </p:sp>
      <p:sp>
        <p:nvSpPr>
          <p:cNvPr id="22" name="Text 19"/>
          <p:cNvSpPr/>
          <p:nvPr/>
        </p:nvSpPr>
        <p:spPr>
          <a:xfrm>
            <a:off x="6848856"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3" name="Shape 20"/>
          <p:cNvSpPr/>
          <p:nvPr/>
        </p:nvSpPr>
        <p:spPr>
          <a:xfrm>
            <a:off x="7178040" y="1755648"/>
            <a:ext cx="1874520" cy="1600200"/>
          </a:xfrm>
          <a:prstGeom prst="roundRect">
            <a:avLst>
              <a:gd name="adj" fmla="val 4571"/>
            </a:avLst>
          </a:prstGeom>
          <a:solidFill>
            <a:srgbClr val="12331F"/>
          </a:solidFill>
          <a:ln w="10160">
            <a:solidFill>
              <a:srgbClr val="2E3B57"/>
            </a:solidFill>
            <a:prstDash val="solid"/>
          </a:ln>
        </p:spPr>
      </p:sp>
      <p:sp>
        <p:nvSpPr>
          <p:cNvPr id="24" name="Text 21"/>
          <p:cNvSpPr/>
          <p:nvPr/>
        </p:nvSpPr>
        <p:spPr>
          <a:xfrm>
            <a:off x="7379208" y="1892808"/>
            <a:ext cx="147218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④ AGENTCORE HARNESS</a:t>
            </a:r>
            <a:endParaRPr lang="en-US" sz="1150" dirty="0"/>
          </a:p>
        </p:txBody>
      </p:sp>
      <p:sp>
        <p:nvSpPr>
          <p:cNvPr id="25" name="Text 22"/>
          <p:cNvSpPr/>
          <p:nvPr/>
        </p:nvSpPr>
        <p:spPr>
          <a:xfrm>
            <a:off x="7379208" y="2240280"/>
            <a:ext cx="1472184" cy="384048"/>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调用 Retrieval + 注入</a:t>
            </a:r>
            <a:endParaRPr lang="en-US" sz="1450" dirty="0"/>
          </a:p>
        </p:txBody>
      </p:sp>
      <p:sp>
        <p:nvSpPr>
          <p:cNvPr id="26" name="Text 23"/>
          <p:cNvSpPr/>
          <p:nvPr/>
        </p:nvSpPr>
        <p:spPr>
          <a:xfrm>
            <a:off x="7379208" y="2697480"/>
            <a:ext cx="1472184" cy="530352"/>
          </a:xfrm>
          <a:prstGeom prst="rect">
            <a:avLst/>
          </a:prstGeom>
          <a:noFill/>
          <a:ln/>
        </p:spPr>
        <p:txBody>
          <a:bodyPr wrap="square" lIns="0" tIns="0" rIns="0" bIns="0" rtlCol="0" anchor="t"/>
          <a:lstStyle/>
          <a:p>
            <a:pPr indent="0" marL="0">
              <a:buNone/>
            </a:pPr>
            <a:r>
              <a:rPr lang="en-US" sz="1080" dirty="0">
                <a:solidFill>
                  <a:srgbClr val="CFD9E4"/>
                </a:solidFill>
                <a:latin typeface="Microsoft YaHei" pitchFamily="34" charset="0"/>
                <a:ea typeface="Microsoft YaHei" pitchFamily="34" charset="-122"/>
                <a:cs typeface="Microsoft YaHei" pitchFamily="34" charset="-120"/>
              </a:rPr>
              <a:t>调用 Memory System 检索 actor records，并注入新 session</a:t>
            </a:r>
            <a:endParaRPr lang="en-US" sz="1080" dirty="0"/>
          </a:p>
        </p:txBody>
      </p:sp>
      <p:sp>
        <p:nvSpPr>
          <p:cNvPr id="27" name="Text 24"/>
          <p:cNvSpPr/>
          <p:nvPr/>
        </p:nvSpPr>
        <p:spPr>
          <a:xfrm>
            <a:off x="9052560"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8" name="Shape 25"/>
          <p:cNvSpPr/>
          <p:nvPr/>
        </p:nvSpPr>
        <p:spPr>
          <a:xfrm>
            <a:off x="9381744" y="1755648"/>
            <a:ext cx="1874520" cy="1600200"/>
          </a:xfrm>
          <a:prstGeom prst="roundRect">
            <a:avLst>
              <a:gd name="adj" fmla="val 4571"/>
            </a:avLst>
          </a:prstGeom>
          <a:solidFill>
            <a:srgbClr val="1C2740"/>
          </a:solidFill>
          <a:ln w="10160">
            <a:solidFill>
              <a:srgbClr val="2E3B57"/>
            </a:solidFill>
            <a:prstDash val="solid"/>
          </a:ln>
        </p:spPr>
      </p:sp>
      <p:sp>
        <p:nvSpPr>
          <p:cNvPr id="29" name="Text 26"/>
          <p:cNvSpPr/>
          <p:nvPr/>
        </p:nvSpPr>
        <p:spPr>
          <a:xfrm>
            <a:off x="9582912" y="1892808"/>
            <a:ext cx="147218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⑤ HARNESS AGENT</a:t>
            </a:r>
            <a:endParaRPr lang="en-US" sz="1150" dirty="0"/>
          </a:p>
        </p:txBody>
      </p:sp>
      <p:sp>
        <p:nvSpPr>
          <p:cNvPr id="30" name="Text 27"/>
          <p:cNvSpPr/>
          <p:nvPr/>
        </p:nvSpPr>
        <p:spPr>
          <a:xfrm>
            <a:off x="9582912" y="2240280"/>
            <a:ext cx="147218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执行目标抽取</a:t>
            </a:r>
            <a:endParaRPr lang="en-US" sz="1500" dirty="0"/>
          </a:p>
        </p:txBody>
      </p:sp>
      <p:sp>
        <p:nvSpPr>
          <p:cNvPr id="31" name="Text 28"/>
          <p:cNvSpPr/>
          <p:nvPr/>
        </p:nvSpPr>
        <p:spPr>
          <a:xfrm>
            <a:off x="9582912" y="2697480"/>
            <a:ext cx="1472184" cy="530352"/>
          </a:xfrm>
          <a:prstGeom prst="rect">
            <a:avLst/>
          </a:prstGeom>
          <a:noFill/>
          <a:ln/>
        </p:spPr>
        <p:txBody>
          <a:bodyPr wrap="square" lIns="0" tIns="0" rIns="0" bIns="0" rtlCol="0" anchor="t"/>
          <a:lstStyle/>
          <a:p>
            <a:pPr indent="0" marL="0">
              <a:buNone/>
            </a:pPr>
            <a:r>
              <a:rPr lang="en-US" sz="1120" dirty="0">
                <a:solidFill>
                  <a:srgbClr val="CFD9E4"/>
                </a:solidFill>
                <a:latin typeface="Microsoft YaHei" pitchFamily="34" charset="0"/>
                <a:ea typeface="Microsoft YaHei" pitchFamily="34" charset="-122"/>
                <a:cs typeface="Microsoft YaHei" pitchFamily="34" charset="-120"/>
              </a:rPr>
              <a:t>读取新文档与注入的 Records，输出最终 JSON</a:t>
            </a:r>
            <a:endParaRPr lang="en-US" sz="1120" dirty="0"/>
          </a:p>
        </p:txBody>
      </p:sp>
      <p:sp>
        <p:nvSpPr>
          <p:cNvPr id="32" name="Shape 29"/>
          <p:cNvSpPr/>
          <p:nvPr/>
        </p:nvSpPr>
        <p:spPr>
          <a:xfrm>
            <a:off x="566928" y="3794760"/>
            <a:ext cx="3429000" cy="1298448"/>
          </a:xfrm>
          <a:prstGeom prst="roundRect">
            <a:avLst>
              <a:gd name="adj" fmla="val 5634"/>
            </a:avLst>
          </a:prstGeom>
          <a:solidFill>
            <a:srgbClr val="1C2740"/>
          </a:solidFill>
          <a:ln w="10160">
            <a:solidFill>
              <a:srgbClr val="2E3B57"/>
            </a:solidFill>
            <a:prstDash val="solid"/>
          </a:ln>
        </p:spPr>
      </p:sp>
      <p:sp>
        <p:nvSpPr>
          <p:cNvPr id="33" name="Text 30"/>
          <p:cNvSpPr/>
          <p:nvPr/>
        </p:nvSpPr>
        <p:spPr>
          <a:xfrm>
            <a:off x="768096" y="3931920"/>
            <a:ext cx="3026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源任务产物 · HARNESS AGENT</a:t>
            </a:r>
            <a:endParaRPr lang="en-US" sz="1150" dirty="0"/>
          </a:p>
        </p:txBody>
      </p:sp>
      <p:sp>
        <p:nvSpPr>
          <p:cNvPr id="34" name="Text 31"/>
          <p:cNvSpPr/>
          <p:nvPr/>
        </p:nvSpPr>
        <p:spPr>
          <a:xfrm>
            <a:off x="768096" y="4279392"/>
            <a:ext cx="3026664" cy="685800"/>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self_review + next_actions + 最终 JSON</a:t>
            </a:r>
            <a:endParaRPr lang="en-US" sz="1300" dirty="0"/>
          </a:p>
        </p:txBody>
      </p:sp>
      <p:sp>
        <p:nvSpPr>
          <p:cNvPr id="35" name="Shape 32"/>
          <p:cNvSpPr/>
          <p:nvPr/>
        </p:nvSpPr>
        <p:spPr>
          <a:xfrm>
            <a:off x="4379976" y="3794760"/>
            <a:ext cx="3429000" cy="1298448"/>
          </a:xfrm>
          <a:prstGeom prst="roundRect">
            <a:avLst>
              <a:gd name="adj" fmla="val 5634"/>
            </a:avLst>
          </a:prstGeom>
          <a:solidFill>
            <a:srgbClr val="1C2740"/>
          </a:solidFill>
          <a:ln w="10160">
            <a:solidFill>
              <a:srgbClr val="2E3B57"/>
            </a:solidFill>
            <a:prstDash val="solid"/>
          </a:ln>
        </p:spPr>
      </p:sp>
      <p:sp>
        <p:nvSpPr>
          <p:cNvPr id="36" name="Text 33"/>
          <p:cNvSpPr/>
          <p:nvPr/>
        </p:nvSpPr>
        <p:spPr>
          <a:xfrm>
            <a:off x="4581144" y="3931920"/>
            <a:ext cx="302666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托管记录 · MEMORY SYSTEM</a:t>
            </a:r>
            <a:endParaRPr lang="en-US" sz="1150" dirty="0"/>
          </a:p>
        </p:txBody>
      </p:sp>
      <p:sp>
        <p:nvSpPr>
          <p:cNvPr id="37" name="Text 34"/>
          <p:cNvSpPr/>
          <p:nvPr/>
        </p:nvSpPr>
        <p:spPr>
          <a:xfrm>
            <a:off x="4581144" y="4279392"/>
            <a:ext cx="3026664" cy="685800"/>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1 session-level episode + actor-level reflections</a:t>
            </a:r>
            <a:endParaRPr lang="en-US" sz="1300" dirty="0"/>
          </a:p>
        </p:txBody>
      </p:sp>
      <p:sp>
        <p:nvSpPr>
          <p:cNvPr id="38" name="Shape 35"/>
          <p:cNvSpPr/>
          <p:nvPr/>
        </p:nvSpPr>
        <p:spPr>
          <a:xfrm>
            <a:off x="8193024" y="3794760"/>
            <a:ext cx="3438144" cy="1298448"/>
          </a:xfrm>
          <a:prstGeom prst="roundRect">
            <a:avLst>
              <a:gd name="adj" fmla="val 5634"/>
            </a:avLst>
          </a:prstGeom>
          <a:solidFill>
            <a:srgbClr val="1C2740"/>
          </a:solidFill>
          <a:ln w="10160">
            <a:solidFill>
              <a:srgbClr val="2E3B57"/>
            </a:solidFill>
            <a:prstDash val="solid"/>
          </a:ln>
        </p:spPr>
      </p:sp>
      <p:sp>
        <p:nvSpPr>
          <p:cNvPr id="39" name="Text 36"/>
          <p:cNvSpPr/>
          <p:nvPr/>
        </p:nvSpPr>
        <p:spPr>
          <a:xfrm>
            <a:off x="8394192" y="3931920"/>
            <a:ext cx="303580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目标任务产物 · HARNESS AGENT</a:t>
            </a:r>
            <a:endParaRPr lang="en-US" sz="1150" dirty="0"/>
          </a:p>
        </p:txBody>
      </p:sp>
      <p:sp>
        <p:nvSpPr>
          <p:cNvPr id="40" name="Text 37"/>
          <p:cNvSpPr/>
          <p:nvPr/>
        </p:nvSpPr>
        <p:spPr>
          <a:xfrm>
            <a:off x="8394192" y="4279392"/>
            <a:ext cx="3035808" cy="685800"/>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Memory enabled / disabled 两组最终 JSON</a:t>
            </a:r>
            <a:endParaRPr lang="en-US" sz="1300" dirty="0"/>
          </a:p>
        </p:txBody>
      </p:sp>
      <p:sp>
        <p:nvSpPr>
          <p:cNvPr id="41" name="Shape 38"/>
          <p:cNvSpPr/>
          <p:nvPr/>
        </p:nvSpPr>
        <p:spPr>
          <a:xfrm>
            <a:off x="566928" y="5376672"/>
            <a:ext cx="11064240" cy="777240"/>
          </a:xfrm>
          <a:prstGeom prst="roundRect">
            <a:avLst>
              <a:gd name="adj" fmla="val 9412"/>
            </a:avLst>
          </a:prstGeom>
          <a:solidFill>
            <a:srgbClr val="0B1220"/>
          </a:solidFill>
          <a:ln w="10160">
            <a:solidFill>
              <a:srgbClr val="42B4FF"/>
            </a:solidFill>
            <a:prstDash val="solid"/>
          </a:ln>
        </p:spPr>
      </p:sp>
      <p:sp>
        <p:nvSpPr>
          <p:cNvPr id="42" name="Text 39"/>
          <p:cNvSpPr/>
          <p:nvPr/>
        </p:nvSpPr>
        <p:spPr>
          <a:xfrm>
            <a:off x="822960" y="5376672"/>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端到端链路：Application 调用 → Harness Agent 产轨迹 → Memory System 提炼/检索 → AgentCore Harness 注入</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MAP</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4</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三个实验：调用链和系统边界</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三项实验使用不同的反思主体与 Memory 机制；每项实验必须分别解释执行者、输入、产物和验证方式。</a:t>
            </a:r>
            <a:endParaRPr lang="en-US" sz="1400" dirty="0"/>
          </a:p>
        </p:txBody>
      </p:sp>
      <p:sp>
        <p:nvSpPr>
          <p:cNvPr id="8" name="Shape 5"/>
          <p:cNvSpPr/>
          <p:nvPr/>
        </p:nvSpPr>
        <p:spPr>
          <a:xfrm>
            <a:off x="566928" y="1664208"/>
            <a:ext cx="3429000" cy="3703320"/>
          </a:xfrm>
          <a:prstGeom prst="roundRect">
            <a:avLst>
              <a:gd name="adj" fmla="val 2133"/>
            </a:avLst>
          </a:prstGeom>
          <a:solidFill>
            <a:srgbClr val="35181C"/>
          </a:solidFill>
          <a:ln w="10160">
            <a:solidFill>
              <a:srgbClr val="2E3B57"/>
            </a:solidFill>
            <a:prstDash val="solid"/>
          </a:ln>
        </p:spPr>
      </p:sp>
      <p:sp>
        <p:nvSpPr>
          <p:cNvPr id="9" name="Text 6"/>
          <p:cNvSpPr/>
          <p:nvPr/>
        </p:nvSpPr>
        <p:spPr>
          <a:xfrm>
            <a:off x="768096" y="1801368"/>
            <a:ext cx="302666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实验一 · APPLICATION 自管规则</a:t>
            </a:r>
            <a:endParaRPr lang="en-US" sz="1150" dirty="0"/>
          </a:p>
        </p:txBody>
      </p:sp>
      <p:sp>
        <p:nvSpPr>
          <p:cNvPr id="10" name="Text 7"/>
          <p:cNvSpPr/>
          <p:nvPr/>
        </p:nvSpPr>
        <p:spPr>
          <a:xfrm>
            <a:off x="768096" y="2148840"/>
            <a:ext cx="3026664" cy="384048"/>
          </a:xfrm>
          <a:prstGeom prst="rect">
            <a:avLst/>
          </a:prstGeom>
          <a:noFill/>
          <a:ln/>
        </p:spPr>
        <p:txBody>
          <a:bodyPr wrap="square" lIns="0" tIns="0" rIns="0" bIns="0" rtlCol="0" anchor="ctr"/>
          <a:lstStyle/>
          <a:p>
            <a:pPr indent="0" marL="0">
              <a:buNone/>
            </a:pPr>
            <a:r>
              <a:rPr lang="en-US" sz="1550" b="1" dirty="0">
                <a:solidFill>
                  <a:srgbClr val="FFFFFF"/>
                </a:solidFill>
                <a:latin typeface="Microsoft YaHei" pitchFamily="34" charset="0"/>
                <a:ea typeface="Microsoft YaHei" pitchFamily="34" charset="-122"/>
                <a:cs typeface="Microsoft YaHei" pitchFamily="34" charset="-120"/>
              </a:rPr>
              <a:t>Reflection LLM 只看 Harness Agent 输出</a:t>
            </a:r>
            <a:endParaRPr lang="en-US" sz="1550" dirty="0"/>
          </a:p>
        </p:txBody>
      </p:sp>
      <p:sp>
        <p:nvSpPr>
          <p:cNvPr id="11" name="Text 8"/>
          <p:cNvSpPr/>
          <p:nvPr/>
        </p:nvSpPr>
        <p:spPr>
          <a:xfrm>
            <a:off x="768096" y="2606040"/>
            <a:ext cx="3026664" cy="2633472"/>
          </a:xfrm>
          <a:prstGeom prst="rect">
            <a:avLst/>
          </a:prstGeom>
          <a:noFill/>
          <a:ln/>
        </p:spPr>
        <p:txBody>
          <a:bodyPr wrap="square" lIns="0" tIns="0" rIns="0" bIns="0" rtlCol="0" anchor="t"/>
          <a:lstStyle/>
          <a:p>
            <a:pPr indent="0" marL="0">
              <a:buNone/>
            </a:pPr>
            <a:r>
              <a:rPr lang="en-US" sz="1140" dirty="0">
                <a:solidFill>
                  <a:srgbClr val="CFD9E4"/>
                </a:solidFill>
                <a:latin typeface="Microsoft YaHei" pitchFamily="34" charset="0"/>
                <a:ea typeface="Microsoft YaHei" pitchFamily="34" charset="-122"/>
                <a:cs typeface="Microsoft YaHei" pitchFamily="34" charset="-120"/>
              </a:rPr>
              <a:t>Application → Harness Agent：生成抽取 JSON</a:t>
            </a:r>
            <a:endParaRPr lang="en-US" sz="1140" dirty="0"/>
          </a:p>
          <a:p>
            <a:pPr indent="0" marL="0">
              <a:buNone/>
            </a:pPr>
            <a:r>
              <a:rPr lang="en-US" sz="1140" dirty="0">
                <a:solidFill>
                  <a:srgbClr val="CFD9E4"/>
                </a:solidFill>
                <a:latin typeface="Microsoft YaHei" pitchFamily="34" charset="0"/>
                <a:ea typeface="Microsoft YaHei" pitchFamily="34" charset="-122"/>
                <a:cs typeface="Microsoft YaHei" pitchFamily="34" charset="-120"/>
              </a:rPr>
              <a:t>Application → Reflection LLM：生成本轮规则</a:t>
            </a:r>
            <a:endParaRPr lang="en-US" sz="1140" dirty="0"/>
          </a:p>
          <a:p>
            <a:pPr indent="0" marL="0">
              <a:buNone/>
            </a:pPr>
            <a:r>
              <a:rPr lang="en-US" sz="1140" dirty="0">
                <a:solidFill>
                  <a:srgbClr val="CFD9E4"/>
                </a:solidFill>
                <a:latin typeface="Microsoft YaHei" pitchFamily="34" charset="0"/>
                <a:ea typeface="Microsoft YaHei" pitchFamily="34" charset="-122"/>
                <a:cs typeface="Microsoft YaHei" pitchFamily="34" charset="-120"/>
              </a:rPr>
              <a:t>Application → Consolidation LLM：合并 canonical rules</a:t>
            </a:r>
            <a:endParaRPr lang="en-US" sz="1140" dirty="0"/>
          </a:p>
          <a:p>
            <a:pPr indent="0" marL="0">
              <a:buNone/>
            </a:pPr>
            <a:r>
              <a:rPr lang="en-US" sz="1140" dirty="0">
                <a:solidFill>
                  <a:srgbClr val="CFD9E4"/>
                </a:solidFill>
                <a:latin typeface="Microsoft YaHei" pitchFamily="34" charset="0"/>
                <a:ea typeface="Microsoft YaHei" pitchFamily="34" charset="-122"/>
                <a:cs typeface="Microsoft YaHei" pitchFamily="34" charset="-120"/>
              </a:rPr>
              <a:t>Application → 下一轮 Harness Agent：注入规则</a:t>
            </a:r>
            <a:endParaRPr lang="en-US" sz="1140" dirty="0"/>
          </a:p>
          <a:p>
            <a:pPr indent="0" marL="0">
              <a:buNone/>
            </a:pPr>
            <a:endParaRPr lang="en-US" sz="1140" dirty="0"/>
          </a:p>
          <a:p>
            <a:pPr indent="0" marL="0">
              <a:buNone/>
            </a:pPr>
            <a:r>
              <a:rPr lang="en-US" sz="1140" dirty="0">
                <a:solidFill>
                  <a:srgbClr val="CFD9E4"/>
                </a:solidFill>
                <a:latin typeface="Microsoft YaHei" pitchFamily="34" charset="0"/>
                <a:ea typeface="Microsoft YaHei" pitchFamily="34" charset="-122"/>
                <a:cs typeface="Microsoft YaHei" pitchFamily="34" charset="-120"/>
              </a:rPr>
              <a:t>观察：90 → 102，主要拆分变细</a:t>
            </a:r>
            <a:endParaRPr lang="en-US" sz="1140" dirty="0"/>
          </a:p>
        </p:txBody>
      </p:sp>
      <p:sp>
        <p:nvSpPr>
          <p:cNvPr id="12" name="Shape 9"/>
          <p:cNvSpPr/>
          <p:nvPr/>
        </p:nvSpPr>
        <p:spPr>
          <a:xfrm>
            <a:off x="4379976" y="1664208"/>
            <a:ext cx="3429000" cy="3703320"/>
          </a:xfrm>
          <a:prstGeom prst="roundRect">
            <a:avLst>
              <a:gd name="adj" fmla="val 2133"/>
            </a:avLst>
          </a:prstGeom>
          <a:solidFill>
            <a:srgbClr val="0C3440"/>
          </a:solidFill>
          <a:ln w="10160">
            <a:solidFill>
              <a:srgbClr val="2E3B57"/>
            </a:solidFill>
            <a:prstDash val="solid"/>
          </a:ln>
        </p:spPr>
      </p:sp>
      <p:sp>
        <p:nvSpPr>
          <p:cNvPr id="13" name="Text 10"/>
          <p:cNvSpPr/>
          <p:nvPr/>
        </p:nvSpPr>
        <p:spPr>
          <a:xfrm>
            <a:off x="4581144" y="1801368"/>
            <a:ext cx="3026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实验二 · AGENTCORE EPISODIC</a:t>
            </a:r>
            <a:endParaRPr lang="en-US" sz="1150" dirty="0"/>
          </a:p>
        </p:txBody>
      </p:sp>
      <p:sp>
        <p:nvSpPr>
          <p:cNvPr id="14" name="Text 11"/>
          <p:cNvSpPr/>
          <p:nvPr/>
        </p:nvSpPr>
        <p:spPr>
          <a:xfrm>
            <a:off x="4581144" y="2148840"/>
            <a:ext cx="3026664" cy="384048"/>
          </a:xfrm>
          <a:prstGeom prst="rect">
            <a:avLst/>
          </a:prstGeom>
          <a:noFill/>
          <a:ln/>
        </p:spPr>
        <p:txBody>
          <a:bodyPr wrap="square" lIns="0" tIns="0" rIns="0" bIns="0" rtlCol="0" anchor="ctr"/>
          <a:lstStyle/>
          <a:p>
            <a:pPr indent="0" marL="0">
              <a:buNone/>
            </a:pPr>
            <a:r>
              <a:rPr lang="en-US" sz="1550" b="1" dirty="0">
                <a:solidFill>
                  <a:srgbClr val="FFFFFF"/>
                </a:solidFill>
                <a:latin typeface="Microsoft YaHei" pitchFamily="34" charset="0"/>
                <a:ea typeface="Microsoft YaHei" pitchFamily="34" charset="-122"/>
                <a:cs typeface="Microsoft YaHei" pitchFamily="34" charset="-120"/>
              </a:rPr>
              <a:t>Harness Agent 产轨迹；Memory System 提炼</a:t>
            </a:r>
            <a:endParaRPr lang="en-US" sz="1550" dirty="0"/>
          </a:p>
        </p:txBody>
      </p:sp>
      <p:sp>
        <p:nvSpPr>
          <p:cNvPr id="15" name="Text 12"/>
          <p:cNvSpPr/>
          <p:nvPr/>
        </p:nvSpPr>
        <p:spPr>
          <a:xfrm>
            <a:off x="4581144" y="2606040"/>
            <a:ext cx="3026664" cy="2633472"/>
          </a:xfrm>
          <a:prstGeom prst="rect">
            <a:avLst/>
          </a:prstGeom>
          <a:noFill/>
          <a:ln/>
        </p:spPr>
        <p:txBody>
          <a:bodyPr wrap="square" lIns="0" tIns="0" rIns="0" bIns="0" rtlCol="0" anchor="t"/>
          <a:lstStyle/>
          <a:p>
            <a:pPr indent="0" marL="0">
              <a:buNone/>
            </a:pPr>
            <a:r>
              <a:rPr lang="en-US" sz="1140" dirty="0">
                <a:solidFill>
                  <a:srgbClr val="CFD9E4"/>
                </a:solidFill>
                <a:latin typeface="Microsoft YaHei" pitchFamily="34" charset="0"/>
                <a:ea typeface="Microsoft YaHei" pitchFamily="34" charset="-122"/>
                <a:cs typeface="Microsoft YaHei" pitchFamily="34" charset="-120"/>
              </a:rPr>
              <a:t>Application：顺序调用两个阶段</a:t>
            </a:r>
            <a:endParaRPr lang="en-US" sz="1140" dirty="0"/>
          </a:p>
          <a:p>
            <a:pPr indent="0" marL="0">
              <a:buNone/>
            </a:pPr>
            <a:r>
              <a:rPr lang="en-US" sz="1140" dirty="0">
                <a:solidFill>
                  <a:srgbClr val="CFD9E4"/>
                </a:solidFill>
                <a:latin typeface="Microsoft YaHei" pitchFamily="34" charset="0"/>
                <a:ea typeface="Microsoft YaHei" pitchFamily="34" charset="-122"/>
                <a:cs typeface="Microsoft YaHei" pitchFamily="34" charset="-120"/>
              </a:rPr>
              <a:t>Harness Agent：原文 → self_review → 最终 JSON</a:t>
            </a:r>
            <a:endParaRPr lang="en-US" sz="1140" dirty="0"/>
          </a:p>
          <a:p>
            <a:pPr indent="0" marL="0">
              <a:buNone/>
            </a:pPr>
            <a:r>
              <a:rPr lang="en-US" sz="1140" dirty="0">
                <a:solidFill>
                  <a:srgbClr val="CFD9E4"/>
                </a:solidFill>
                <a:latin typeface="Microsoft YaHei" pitchFamily="34" charset="0"/>
                <a:ea typeface="Microsoft YaHei" pitchFamily="34" charset="-122"/>
                <a:cs typeface="Microsoft YaHei" pitchFamily="34" charset="-120"/>
              </a:rPr>
              <a:t>Memory System · EPISODIC：Event Storage → Extraction → Consolidation → Reflection</a:t>
            </a:r>
            <a:endParaRPr lang="en-US" sz="1140" dirty="0"/>
          </a:p>
          <a:p>
            <a:pPr indent="0" marL="0">
              <a:buNone/>
            </a:pPr>
            <a:endParaRPr lang="en-US" sz="1140" dirty="0"/>
          </a:p>
          <a:p>
            <a:pPr indent="0" marL="0">
              <a:buNone/>
            </a:pPr>
            <a:r>
              <a:rPr lang="en-US" sz="1140" dirty="0">
                <a:solidFill>
                  <a:srgbClr val="CFD9E4"/>
                </a:solidFill>
                <a:latin typeface="Microsoft YaHei" pitchFamily="34" charset="0"/>
                <a:ea typeface="Microsoft YaHei" pitchFamily="34" charset="-122"/>
                <a:cs typeface="Microsoft YaHei" pitchFamily="34" charset="-120"/>
              </a:rPr>
              <a:t>产物：1 episode + 2 actor reflections</a:t>
            </a:r>
            <a:endParaRPr lang="en-US" sz="1140" dirty="0"/>
          </a:p>
        </p:txBody>
      </p:sp>
      <p:sp>
        <p:nvSpPr>
          <p:cNvPr id="16" name="Shape 13"/>
          <p:cNvSpPr/>
          <p:nvPr/>
        </p:nvSpPr>
        <p:spPr>
          <a:xfrm>
            <a:off x="8193024" y="1664208"/>
            <a:ext cx="3438144" cy="3703320"/>
          </a:xfrm>
          <a:prstGeom prst="roundRect">
            <a:avLst>
              <a:gd name="adj" fmla="val 2128"/>
            </a:avLst>
          </a:prstGeom>
          <a:solidFill>
            <a:srgbClr val="12331F"/>
          </a:solidFill>
          <a:ln w="10160">
            <a:solidFill>
              <a:srgbClr val="2E3B57"/>
            </a:solidFill>
            <a:prstDash val="solid"/>
          </a:ln>
        </p:spPr>
      </p:sp>
      <p:sp>
        <p:nvSpPr>
          <p:cNvPr id="17" name="Text 14"/>
          <p:cNvSpPr/>
          <p:nvPr/>
        </p:nvSpPr>
        <p:spPr>
          <a:xfrm>
            <a:off x="8394192" y="1801368"/>
            <a:ext cx="303580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实验三 · APPLICATION 控制对照</a:t>
            </a:r>
            <a:endParaRPr lang="en-US" sz="1150" dirty="0"/>
          </a:p>
        </p:txBody>
      </p:sp>
      <p:sp>
        <p:nvSpPr>
          <p:cNvPr id="18" name="Text 15"/>
          <p:cNvSpPr/>
          <p:nvPr/>
        </p:nvSpPr>
        <p:spPr>
          <a:xfrm>
            <a:off x="8394192" y="2148840"/>
            <a:ext cx="3035808" cy="384048"/>
          </a:xfrm>
          <a:prstGeom prst="rect">
            <a:avLst/>
          </a:prstGeom>
          <a:noFill/>
          <a:ln/>
        </p:spPr>
        <p:txBody>
          <a:bodyPr wrap="square" lIns="0" tIns="0" rIns="0" bIns="0" rtlCol="0" anchor="ctr"/>
          <a:lstStyle/>
          <a:p>
            <a:pPr indent="0" marL="0">
              <a:buNone/>
            </a:pPr>
            <a:r>
              <a:rPr lang="en-US" sz="1550" b="1" dirty="0">
                <a:solidFill>
                  <a:srgbClr val="FFFFFF"/>
                </a:solidFill>
                <a:latin typeface="Microsoft YaHei" pitchFamily="34" charset="0"/>
                <a:ea typeface="Microsoft YaHei" pitchFamily="34" charset="-122"/>
                <a:cs typeface="Microsoft YaHei" pitchFamily="34" charset="-120"/>
              </a:rPr>
              <a:t>Memory Retrieval 开关实验</a:t>
            </a:r>
            <a:endParaRPr lang="en-US" sz="1550" dirty="0"/>
          </a:p>
        </p:txBody>
      </p:sp>
      <p:sp>
        <p:nvSpPr>
          <p:cNvPr id="19" name="Text 16"/>
          <p:cNvSpPr/>
          <p:nvPr/>
        </p:nvSpPr>
        <p:spPr>
          <a:xfrm>
            <a:off x="8394192" y="2606040"/>
            <a:ext cx="3035808" cy="2633472"/>
          </a:xfrm>
          <a:prstGeom prst="rect">
            <a:avLst/>
          </a:prstGeom>
          <a:noFill/>
          <a:ln/>
        </p:spPr>
        <p:txBody>
          <a:bodyPr wrap="square" lIns="0" tIns="0" rIns="0" bIns="0" rtlCol="0" anchor="t"/>
          <a:lstStyle/>
          <a:p>
            <a:pPr indent="0" marL="0">
              <a:buNone/>
            </a:pPr>
            <a:r>
              <a:rPr lang="en-US" sz="1110" dirty="0">
                <a:solidFill>
                  <a:srgbClr val="CFD9E4"/>
                </a:solidFill>
                <a:latin typeface="Microsoft YaHei" pitchFamily="34" charset="0"/>
                <a:ea typeface="Microsoft YaHei" pitchFamily="34" charset="-122"/>
                <a:cs typeface="Microsoft YaHei" pitchFamily="34" charset="-120"/>
              </a:rPr>
              <a:t>Application：创建两组 fresh sessions</a:t>
            </a:r>
            <a:endParaRPr lang="en-US" sz="1110" dirty="0"/>
          </a:p>
          <a:p>
            <a:pPr indent="0" marL="0">
              <a:buNone/>
            </a:pPr>
            <a:r>
              <a:rPr lang="en-US" sz="1110" dirty="0">
                <a:solidFill>
                  <a:srgbClr val="CFD9E4"/>
                </a:solidFill>
                <a:latin typeface="Microsoft YaHei" pitchFamily="34" charset="0"/>
                <a:ea typeface="Microsoft YaHei" pitchFamily="34" charset="-122"/>
                <a:cs typeface="Microsoft YaHei" pitchFamily="34" charset="-120"/>
              </a:rPr>
              <a:t>Memory System：仅 enabled 组 Retrieval</a:t>
            </a:r>
            <a:endParaRPr lang="en-US" sz="1110" dirty="0"/>
          </a:p>
          <a:p>
            <a:pPr indent="0" marL="0">
              <a:buNone/>
            </a:pPr>
            <a:r>
              <a:rPr lang="en-US" sz="1110" dirty="0">
                <a:solidFill>
                  <a:srgbClr val="CFD9E4"/>
                </a:solidFill>
                <a:latin typeface="Microsoft YaHei" pitchFamily="34" charset="0"/>
                <a:ea typeface="Microsoft YaHei" pitchFamily="34" charset="-122"/>
                <a:cs typeface="Microsoft YaHei" pitchFamily="34" charset="-120"/>
              </a:rPr>
              <a:t>AgentCore Harness：仅 enabled 组注入 Records</a:t>
            </a:r>
            <a:endParaRPr lang="en-US" sz="1110" dirty="0"/>
          </a:p>
          <a:p>
            <a:pPr indent="0" marL="0">
              <a:buNone/>
            </a:pPr>
            <a:r>
              <a:rPr lang="en-US" sz="1110" dirty="0">
                <a:solidFill>
                  <a:srgbClr val="CFD9E4"/>
                </a:solidFill>
                <a:latin typeface="Microsoft YaHei" pitchFamily="34" charset="0"/>
                <a:ea typeface="Microsoft YaHei" pitchFamily="34" charset="-122"/>
                <a:cs typeface="Microsoft YaHei" pitchFamily="34" charset="-120"/>
              </a:rPr>
              <a:t>Harness Agent：两组使用相同 Prompt 抽取</a:t>
            </a:r>
            <a:endParaRPr lang="en-US" sz="1110" dirty="0"/>
          </a:p>
          <a:p>
            <a:pPr indent="0" marL="0">
              <a:buNone/>
            </a:pPr>
            <a:r>
              <a:rPr lang="en-US" sz="1110" dirty="0">
                <a:solidFill>
                  <a:srgbClr val="CFD9E4"/>
                </a:solidFill>
                <a:latin typeface="Microsoft YaHei" pitchFamily="34" charset="0"/>
                <a:ea typeface="Microsoft YaHei" pitchFamily="34" charset="-122"/>
                <a:cs typeface="Microsoft YaHei" pitchFamily="34" charset="-120"/>
              </a:rPr>
              <a:t>Reviewer：人工核对</a:t>
            </a:r>
            <a:endParaRPr lang="en-US" sz="1110" dirty="0"/>
          </a:p>
          <a:p>
            <a:pPr indent="0" marL="0">
              <a:buNone/>
            </a:pPr>
            <a:endParaRPr lang="en-US" sz="1110" dirty="0"/>
          </a:p>
          <a:p>
            <a:pPr indent="0" marL="0">
              <a:buNone/>
            </a:pPr>
            <a:r>
              <a:rPr lang="en-US" sz="1110" dirty="0">
                <a:solidFill>
                  <a:srgbClr val="CFD9E4"/>
                </a:solidFill>
                <a:latin typeface="Microsoft YaHei" pitchFamily="34" charset="0"/>
                <a:ea typeface="Microsoft YaHei" pitchFamily="34" charset="-122"/>
                <a:cs typeface="Microsoft YaHei" pitchFamily="34" charset="-120"/>
              </a:rPr>
              <a:t>结果：31 vs 11；差异主要来自两张 BOM</a:t>
            </a:r>
            <a:endParaRPr lang="en-US" sz="1110" dirty="0"/>
          </a:p>
        </p:txBody>
      </p:sp>
      <p:sp>
        <p:nvSpPr>
          <p:cNvPr id="20" name="Shape 17"/>
          <p:cNvSpPr/>
          <p:nvPr/>
        </p:nvSpPr>
        <p:spPr>
          <a:xfrm>
            <a:off x="566928" y="5532120"/>
            <a:ext cx="11064240" cy="777240"/>
          </a:xfrm>
          <a:prstGeom prst="roundRect">
            <a:avLst>
              <a:gd name="adj" fmla="val 9412"/>
            </a:avLst>
          </a:prstGeom>
          <a:solidFill>
            <a:srgbClr val="0B1220"/>
          </a:solidFill>
          <a:ln w="10160">
            <a:solidFill>
              <a:srgbClr val="42B4FF"/>
            </a:solidFill>
            <a:prstDash val="solid"/>
          </a:ln>
        </p:spPr>
      </p:sp>
      <p:sp>
        <p:nvSpPr>
          <p:cNvPr id="21" name="Text 18"/>
          <p:cNvSpPr/>
          <p:nvPr/>
        </p:nvSpPr>
        <p:spPr>
          <a:xfrm>
            <a:off x="822960" y="5532120"/>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实验主线：应用侧规则学习 → 托管 EPISODIC 记录生成 → 托管 Records 跨 session 验证</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5</a:t>
            </a:r>
            <a:endParaRPr lang="en-US" sz="1050" dirty="0"/>
          </a:p>
        </p:txBody>
      </p:sp>
      <p:sp>
        <p:nvSpPr>
          <p:cNvPr id="6" name="Text 3"/>
          <p:cNvSpPr/>
          <p:nvPr/>
        </p:nvSpPr>
        <p:spPr>
          <a:xfrm>
            <a:off x="566928" y="1115568"/>
            <a:ext cx="2057400" cy="1234440"/>
          </a:xfrm>
          <a:prstGeom prst="rect">
            <a:avLst/>
          </a:prstGeom>
          <a:noFill/>
          <a:ln/>
        </p:spPr>
        <p:txBody>
          <a:bodyPr wrap="square" lIns="0" tIns="0" rIns="0" bIns="0" rtlCol="0" anchor="ctr"/>
          <a:lstStyle/>
          <a:p>
            <a:pPr indent="0" marL="0">
              <a:buNone/>
            </a:pPr>
            <a:r>
              <a:rPr lang="en-US" sz="7200" b="1" dirty="0">
                <a:solidFill>
                  <a:srgbClr val="FF6A3D"/>
                </a:solidFill>
                <a:latin typeface="Amazon Ember Display" pitchFamily="34" charset="0"/>
                <a:ea typeface="Amazon Ember Display" pitchFamily="34" charset="-122"/>
                <a:cs typeface="Amazon Ember Display" pitchFamily="34" charset="-120"/>
              </a:rPr>
              <a:t>01</a:t>
            </a:r>
            <a:endParaRPr lang="en-US" sz="7200" dirty="0"/>
          </a:p>
        </p:txBody>
      </p:sp>
      <p:sp>
        <p:nvSpPr>
          <p:cNvPr id="7" name="Text 4"/>
          <p:cNvSpPr/>
          <p:nvPr/>
        </p:nvSpPr>
        <p:spPr>
          <a:xfrm>
            <a:off x="2898648" y="1188720"/>
            <a:ext cx="8503920" cy="74980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应用侧 Reflection LLM：只看 Harness Agent 输出能学到什么？</a:t>
            </a:r>
            <a:endParaRPr lang="en-US" sz="2700" dirty="0"/>
          </a:p>
        </p:txBody>
      </p:sp>
      <p:sp>
        <p:nvSpPr>
          <p:cNvPr id="8" name="Text 5"/>
          <p:cNvSpPr/>
          <p:nvPr/>
        </p:nvSpPr>
        <p:spPr>
          <a:xfrm>
            <a:off x="2926080" y="2057400"/>
            <a:ext cx="8229600" cy="658368"/>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Application 只向 Reflection LLM 提供 Harness Agent 已抽取的 JSON，不提供源文档。</a:t>
            </a:r>
            <a:endParaRPr lang="en-US" sz="1800" dirty="0"/>
          </a:p>
        </p:txBody>
      </p:sp>
      <p:sp>
        <p:nvSpPr>
          <p:cNvPr id="9" name="Shape 6"/>
          <p:cNvSpPr/>
          <p:nvPr/>
        </p:nvSpPr>
        <p:spPr>
          <a:xfrm>
            <a:off x="566928" y="3127248"/>
            <a:ext cx="11064240" cy="1508760"/>
          </a:xfrm>
          <a:prstGeom prst="roundRect">
            <a:avLst>
              <a:gd name="adj" fmla="val 4848"/>
            </a:avLst>
          </a:prstGeom>
          <a:solidFill>
            <a:srgbClr val="0B1220"/>
          </a:solidFill>
          <a:ln w="10160">
            <a:solidFill>
              <a:srgbClr val="FF6A3D"/>
            </a:solidFill>
            <a:prstDash val="solid"/>
          </a:ln>
        </p:spPr>
      </p:sp>
      <p:sp>
        <p:nvSpPr>
          <p:cNvPr id="10" name="Text 7"/>
          <p:cNvSpPr/>
          <p:nvPr/>
        </p:nvSpPr>
        <p:spPr>
          <a:xfrm>
            <a:off x="978408" y="3127248"/>
            <a:ext cx="10241280" cy="1508760"/>
          </a:xfrm>
          <a:prstGeom prst="rect">
            <a:avLst/>
          </a:prstGeom>
          <a:noFill/>
          <a:ln/>
        </p:spPr>
        <p:txBody>
          <a:bodyPr wrap="square" lIns="0" tIns="0" rIns="0" bIns="0" rtlCol="0" anchor="ctr"/>
          <a:lstStyle/>
          <a:p>
            <a:pPr algn="ctr" indent="0" marL="0">
              <a:buNone/>
            </a:pPr>
            <a:r>
              <a:rPr lang="en-US" sz="2000" b="1" dirty="0">
                <a:solidFill>
                  <a:srgbClr val="FF6A3D"/>
                </a:solidFill>
                <a:latin typeface="Microsoft YaHei" pitchFamily="34" charset="0"/>
                <a:ea typeface="Microsoft YaHei" pitchFamily="34" charset="-122"/>
                <a:cs typeface="Microsoft YaHei" pitchFamily="34" charset="-120"/>
              </a:rPr>
              <a:t>实验边界：Application 调用 Reflection LLM 生成规则，再调用 Consolidation LLM 合并；本段不使用 AgentCore EPISODIC。</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PROMPTS</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6</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应用侧两个 LLM 调用的真实 Prompt</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先把 Harness Agent 输出发送给 Reflection LLM，再把新规则与旧规则发送给 Consolidation LLM。</a:t>
            </a:r>
            <a:endParaRPr lang="en-US" sz="1400" dirty="0"/>
          </a:p>
        </p:txBody>
      </p:sp>
      <p:sp>
        <p:nvSpPr>
          <p:cNvPr id="8" name="Shape 5"/>
          <p:cNvSpPr/>
          <p:nvPr/>
        </p:nvSpPr>
        <p:spPr>
          <a:xfrm>
            <a:off x="566928" y="1737360"/>
            <a:ext cx="5394960" cy="3246120"/>
          </a:xfrm>
          <a:prstGeom prst="roundRect">
            <a:avLst>
              <a:gd name="adj" fmla="val 2254"/>
            </a:avLst>
          </a:prstGeom>
          <a:solidFill>
            <a:srgbClr val="1C2740"/>
          </a:solidFill>
          <a:ln w="10160">
            <a:solidFill>
              <a:srgbClr val="2E3B57"/>
            </a:solidFill>
            <a:prstDash val="solid"/>
          </a:ln>
        </p:spPr>
      </p:sp>
      <p:sp>
        <p:nvSpPr>
          <p:cNvPr id="9" name="Text 6"/>
          <p:cNvSpPr/>
          <p:nvPr/>
        </p:nvSpPr>
        <p:spPr>
          <a:xfrm>
            <a:off x="749808" y="1865376"/>
            <a:ext cx="502920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APPLICATION → REFLECTION LLM</a:t>
            </a:r>
            <a:endParaRPr lang="en-US" sz="1150" dirty="0"/>
          </a:p>
        </p:txBody>
      </p:sp>
      <p:sp>
        <p:nvSpPr>
          <p:cNvPr id="10" name="Shape 7"/>
          <p:cNvSpPr/>
          <p:nvPr/>
        </p:nvSpPr>
        <p:spPr>
          <a:xfrm>
            <a:off x="749808" y="2194560"/>
            <a:ext cx="5029200" cy="2633472"/>
          </a:xfrm>
          <a:prstGeom prst="roundRect">
            <a:avLst>
              <a:gd name="adj" fmla="val 2778"/>
            </a:avLst>
          </a:prstGeom>
          <a:solidFill>
            <a:srgbClr val="0B1220"/>
          </a:solidFill>
          <a:ln w="10160">
            <a:solidFill>
              <a:srgbClr val="2E3B57"/>
            </a:solidFill>
            <a:prstDash val="solid"/>
          </a:ln>
        </p:spPr>
      </p:sp>
      <p:sp>
        <p:nvSpPr>
          <p:cNvPr id="11" name="Text 8"/>
          <p:cNvSpPr/>
          <p:nvPr/>
        </p:nvSpPr>
        <p:spPr>
          <a:xfrm>
            <a:off x="859536" y="2267712"/>
            <a:ext cx="4809744" cy="2496312"/>
          </a:xfrm>
          <a:prstGeom prst="rect">
            <a:avLst/>
          </a:prstGeom>
          <a:noFill/>
          <a:ln/>
        </p:spPr>
        <p:txBody>
          <a:bodyPr wrap="square" lIns="0" tIns="0" rIns="0" bIns="0" rtlCol="0" anchor="t"/>
          <a:lstStyle/>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你是「抽取经验提炼器」。</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给你一次抽取结果，总结可复用于</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同类文档的抽取规则：</a:t>
            </a:r>
            <a:endParaRPr lang="en-US" sz="1200" dirty="0"/>
          </a:p>
          <a:p>
            <a:pPr indent="0" marL="0">
              <a:buNone/>
            </a:pP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每条必须可操作</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只讲规则，不讲具体数值</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不超过 10 条</a:t>
            </a:r>
            <a:endParaRPr lang="en-US" sz="1200" dirty="0"/>
          </a:p>
        </p:txBody>
      </p:sp>
      <p:sp>
        <p:nvSpPr>
          <p:cNvPr id="12" name="Shape 9"/>
          <p:cNvSpPr/>
          <p:nvPr/>
        </p:nvSpPr>
        <p:spPr>
          <a:xfrm>
            <a:off x="6236208" y="1737360"/>
            <a:ext cx="5394960" cy="3246120"/>
          </a:xfrm>
          <a:prstGeom prst="roundRect">
            <a:avLst>
              <a:gd name="adj" fmla="val 2254"/>
            </a:avLst>
          </a:prstGeom>
          <a:solidFill>
            <a:srgbClr val="1C2740"/>
          </a:solidFill>
          <a:ln w="10160">
            <a:solidFill>
              <a:srgbClr val="2E3B57"/>
            </a:solidFill>
            <a:prstDash val="solid"/>
          </a:ln>
        </p:spPr>
      </p:sp>
      <p:sp>
        <p:nvSpPr>
          <p:cNvPr id="13" name="Text 10"/>
          <p:cNvSpPr/>
          <p:nvPr/>
        </p:nvSpPr>
        <p:spPr>
          <a:xfrm>
            <a:off x="6419088" y="1865376"/>
            <a:ext cx="5029200"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APPLICATION → CONSOLIDATION LLM</a:t>
            </a:r>
            <a:endParaRPr lang="en-US" sz="1150" dirty="0"/>
          </a:p>
        </p:txBody>
      </p:sp>
      <p:sp>
        <p:nvSpPr>
          <p:cNvPr id="14" name="Shape 11"/>
          <p:cNvSpPr/>
          <p:nvPr/>
        </p:nvSpPr>
        <p:spPr>
          <a:xfrm>
            <a:off x="6419088" y="2194560"/>
            <a:ext cx="5029200" cy="2633472"/>
          </a:xfrm>
          <a:prstGeom prst="roundRect">
            <a:avLst>
              <a:gd name="adj" fmla="val 2778"/>
            </a:avLst>
          </a:prstGeom>
          <a:solidFill>
            <a:srgbClr val="0B1220"/>
          </a:solidFill>
          <a:ln w="10160">
            <a:solidFill>
              <a:srgbClr val="2E3B57"/>
            </a:solidFill>
            <a:prstDash val="solid"/>
          </a:ln>
        </p:spPr>
      </p:sp>
      <p:sp>
        <p:nvSpPr>
          <p:cNvPr id="15" name="Text 12"/>
          <p:cNvSpPr/>
          <p:nvPr/>
        </p:nvSpPr>
        <p:spPr>
          <a:xfrm>
            <a:off x="6528816" y="2267712"/>
            <a:ext cx="4809744" cy="2496312"/>
          </a:xfrm>
          <a:prstGeom prst="rect">
            <a:avLst/>
          </a:prstGeom>
          <a:noFill/>
          <a:ln/>
        </p:spPr>
        <p:txBody>
          <a:bodyPr wrap="square" lIns="0" tIns="0" rIns="0" bIns="0" rtlCol="0" anchor="t"/>
          <a:lstStyle/>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把「现有规则集 + 本轮新规则」</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合并成一份规范规则集：</a:t>
            </a:r>
            <a:endParaRPr lang="en-US" sz="1200" dirty="0"/>
          </a:p>
          <a:p>
            <a:pPr indent="0" marL="0">
              <a:buNone/>
            </a:pP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去重</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不超过 15 条</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每条必须可操作</a:t>
            </a:r>
            <a:endParaRPr lang="en-US" sz="1200" dirty="0"/>
          </a:p>
          <a:p>
            <a:pPr indent="0" marL="0">
              <a:buNone/>
            </a:pPr>
            <a:r>
              <a:rPr lang="en-US" sz="1200" dirty="0">
                <a:solidFill>
                  <a:srgbClr val="CFD9E4"/>
                </a:solidFill>
                <a:latin typeface="Amazon Ember Mono" pitchFamily="34" charset="0"/>
                <a:ea typeface="Amazon Ember Mono" pitchFamily="34" charset="-122"/>
                <a:cs typeface="Amazon Ember Mono" pitchFamily="34" charset="-120"/>
              </a:rPr>
              <a:t>· 只输出最终规则集</a:t>
            </a:r>
            <a:endParaRPr lang="en-US" sz="1200" dirty="0"/>
          </a:p>
        </p:txBody>
      </p:sp>
      <p:sp>
        <p:nvSpPr>
          <p:cNvPr id="16" name="Shape 13"/>
          <p:cNvSpPr/>
          <p:nvPr/>
        </p:nvSpPr>
        <p:spPr>
          <a:xfrm>
            <a:off x="566928" y="5285232"/>
            <a:ext cx="11064240" cy="777240"/>
          </a:xfrm>
          <a:prstGeom prst="roundRect">
            <a:avLst>
              <a:gd name="adj" fmla="val 9412"/>
            </a:avLst>
          </a:prstGeom>
          <a:solidFill>
            <a:srgbClr val="0B1220"/>
          </a:solidFill>
          <a:ln w="10160">
            <a:solidFill>
              <a:srgbClr val="FF6A3D"/>
            </a:solidFill>
            <a:prstDash val="solid"/>
          </a:ln>
        </p:spPr>
      </p:sp>
      <p:sp>
        <p:nvSpPr>
          <p:cNvPr id="17" name="Text 14"/>
          <p:cNvSpPr/>
          <p:nvPr/>
        </p:nvSpPr>
        <p:spPr>
          <a:xfrm>
            <a:off x="822960" y="5285232"/>
            <a:ext cx="10552176" cy="777240"/>
          </a:xfrm>
          <a:prstGeom prst="rect">
            <a:avLst/>
          </a:prstGeom>
          <a:noFill/>
          <a:ln/>
        </p:spPr>
        <p:txBody>
          <a:bodyPr wrap="square" lIns="0" tIns="0" rIns="0" bIns="0" rtlCol="0" anchor="ctr"/>
          <a:lstStyle/>
          <a:p>
            <a:pPr algn="ctr" indent="0" marL="0">
              <a:buNone/>
            </a:pPr>
            <a:r>
              <a:rPr lang="en-US" sz="1650" b="1" dirty="0">
                <a:solidFill>
                  <a:srgbClr val="FF6A3D"/>
                </a:solidFill>
                <a:latin typeface="Amazon Ember Display" pitchFamily="34" charset="0"/>
                <a:ea typeface="Amazon Ember Display" pitchFamily="34" charset="-122"/>
                <a:cs typeface="Amazon Ember Display" pitchFamily="34" charset="-120"/>
              </a:rPr>
              <a:t>输入盲区：Reflection LLM 只看到 Harness Agent 输出，因此无法观察被整块漏掉的原文区域。</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MEMORY</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7</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Consolidation LLM 最终合并出 15 条规则</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每轮把 canonical rules 注入下一次 Harness Agent 调用；4 轮后规则集收敛为 15 条。</a:t>
            </a:r>
            <a:endParaRPr lang="en-US" sz="1400" dirty="0"/>
          </a:p>
        </p:txBody>
      </p:sp>
      <p:sp>
        <p:nvSpPr>
          <p:cNvPr id="8" name="Shape 5"/>
          <p:cNvSpPr/>
          <p:nvPr/>
        </p:nvSpPr>
        <p:spPr>
          <a:xfrm>
            <a:off x="566928" y="1572768"/>
            <a:ext cx="3529584" cy="3730752"/>
          </a:xfrm>
          <a:prstGeom prst="roundRect">
            <a:avLst>
              <a:gd name="adj" fmla="val 2073"/>
            </a:avLst>
          </a:prstGeom>
          <a:solidFill>
            <a:srgbClr val="1C2740"/>
          </a:solidFill>
          <a:ln w="10160">
            <a:solidFill>
              <a:srgbClr val="2E3B57"/>
            </a:solidFill>
            <a:prstDash val="solid"/>
          </a:ln>
        </p:spPr>
      </p:sp>
      <p:sp>
        <p:nvSpPr>
          <p:cNvPr id="9" name="Text 6"/>
          <p:cNvSpPr/>
          <p:nvPr/>
        </p:nvSpPr>
        <p:spPr>
          <a:xfrm>
            <a:off x="768096" y="1709928"/>
            <a:ext cx="3127248"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规则 1–5</a:t>
            </a:r>
            <a:endParaRPr lang="en-US" sz="1150" dirty="0"/>
          </a:p>
        </p:txBody>
      </p:sp>
      <p:sp>
        <p:nvSpPr>
          <p:cNvPr id="10" name="Text 7"/>
          <p:cNvSpPr/>
          <p:nvPr/>
        </p:nvSpPr>
        <p:spPr>
          <a:xfrm>
            <a:off x="768096" y="2057400"/>
            <a:ext cx="3127248" cy="3118104"/>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1. 设备主体识别：标题/首段的“容量+介质+设备类型”作为主体，全文统一。</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2. 整体性能归属：介质、容积、压力、温度、绝热等归“储罐整体”。</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3. 运输/交货独立：封存压力、气体、露点、封堵状态独立成条。</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4. 子系统/附件独立：增压器、安全装置、仪表、阀门、管口单独成部件。</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5. 多部件拆分：同句多个部件按部件拆分，保留完整原文。</a:t>
            </a:r>
            <a:endParaRPr lang="en-US" sz="1050" dirty="0"/>
          </a:p>
        </p:txBody>
      </p:sp>
      <p:sp>
        <p:nvSpPr>
          <p:cNvPr id="11" name="Shape 8"/>
          <p:cNvSpPr/>
          <p:nvPr/>
        </p:nvSpPr>
        <p:spPr>
          <a:xfrm>
            <a:off x="4334256" y="1572768"/>
            <a:ext cx="3529584" cy="3730752"/>
          </a:xfrm>
          <a:prstGeom prst="roundRect">
            <a:avLst>
              <a:gd name="adj" fmla="val 2073"/>
            </a:avLst>
          </a:prstGeom>
          <a:solidFill>
            <a:srgbClr val="2A2418"/>
          </a:solidFill>
          <a:ln w="10160">
            <a:solidFill>
              <a:srgbClr val="2E3B57"/>
            </a:solidFill>
            <a:prstDash val="solid"/>
          </a:ln>
        </p:spPr>
      </p:sp>
      <p:sp>
        <p:nvSpPr>
          <p:cNvPr id="12" name="Text 9"/>
          <p:cNvSpPr/>
          <p:nvPr/>
        </p:nvSpPr>
        <p:spPr>
          <a:xfrm>
            <a:off x="4535424" y="1709928"/>
            <a:ext cx="3127248"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规则 6–10</a:t>
            </a:r>
            <a:endParaRPr lang="en-US" sz="1150" dirty="0"/>
          </a:p>
        </p:txBody>
      </p:sp>
      <p:sp>
        <p:nvSpPr>
          <p:cNvPr id="13" name="Text 10"/>
          <p:cNvSpPr/>
          <p:nvPr/>
        </p:nvSpPr>
        <p:spPr>
          <a:xfrm>
            <a:off x="4535424" y="2057400"/>
            <a:ext cx="3127248" cy="3118104"/>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6. 复合指标拆分：通径、压力、规格、数量、备注按指标分别成条。</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7. 指标名称规范：同义属性统一；检测拆成标准、比例、技术等级、合格级别。</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8. 管口/接口规格：保留原格式、不换算；DN 与压力等级分别抽取。</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9. 阀门/仪表清单：规格与数量分条，附加说明另生成备注。</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10. 材料分层：内罐、外罐、管道、阀门材料分别成条。</a:t>
            </a:r>
            <a:endParaRPr lang="en-US" sz="1050" dirty="0"/>
          </a:p>
        </p:txBody>
      </p:sp>
      <p:sp>
        <p:nvSpPr>
          <p:cNvPr id="14" name="Shape 11"/>
          <p:cNvSpPr/>
          <p:nvPr/>
        </p:nvSpPr>
        <p:spPr>
          <a:xfrm>
            <a:off x="8101584" y="1572768"/>
            <a:ext cx="3529584" cy="3730752"/>
          </a:xfrm>
          <a:prstGeom prst="roundRect">
            <a:avLst>
              <a:gd name="adj" fmla="val 2073"/>
            </a:avLst>
          </a:prstGeom>
          <a:solidFill>
            <a:srgbClr val="12331F"/>
          </a:solidFill>
          <a:ln w="10160">
            <a:solidFill>
              <a:srgbClr val="2E3B57"/>
            </a:solidFill>
            <a:prstDash val="solid"/>
          </a:ln>
        </p:spPr>
      </p:sp>
      <p:sp>
        <p:nvSpPr>
          <p:cNvPr id="15" name="Text 12"/>
          <p:cNvSpPr/>
          <p:nvPr/>
        </p:nvSpPr>
        <p:spPr>
          <a:xfrm>
            <a:off x="8302752" y="1709928"/>
            <a:ext cx="312724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规则 11–15</a:t>
            </a:r>
            <a:endParaRPr lang="en-US" sz="1150" dirty="0"/>
          </a:p>
        </p:txBody>
      </p:sp>
      <p:sp>
        <p:nvSpPr>
          <p:cNvPr id="16" name="Text 13"/>
          <p:cNvSpPr/>
          <p:nvPr/>
        </p:nvSpPr>
        <p:spPr>
          <a:xfrm>
            <a:off x="8302752" y="2057400"/>
            <a:ext cx="3127248" cy="3118104"/>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11. 检测标准完整：标准编号、比例、技术等级、合格级别齐全；RT/PT 分条。</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12. 工艺/结构要求：防涡、液封、双阀、清洁度、焊接结构独立抽取。</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13. 限值符号保留：≤、≥、不少于等原样保留，范围上下限完整。</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14. 功能/描述要求：无数值文本完整保留，不替换为空值或泛化词。</a:t>
            </a:r>
            <a:endParaRPr lang="en-US" sz="1050" dirty="0"/>
          </a:p>
          <a:p>
            <a:pPr indent="0" marL="0">
              <a:buNone/>
            </a:pPr>
            <a:endParaRPr lang="en-US" sz="1050" dirty="0"/>
          </a:p>
          <a:p>
            <a:pPr indent="0" marL="0">
              <a:buNone/>
            </a:pPr>
            <a:r>
              <a:rPr lang="en-US" sz="1050" dirty="0">
                <a:solidFill>
                  <a:srgbClr val="CFD9E4"/>
                </a:solidFill>
                <a:latin typeface="Microsoft YaHei" pitchFamily="34" charset="0"/>
                <a:ea typeface="Microsoft YaHei" pitchFamily="34" charset="-122"/>
                <a:cs typeface="Microsoft YaHei" pitchFamily="34" charset="-120"/>
              </a:rPr>
              <a:t>15. 原文溯源：保留编号和标点；OCR 错误可修特征，但原文不改。</a:t>
            </a:r>
            <a:endParaRPr lang="en-US" sz="1050" dirty="0"/>
          </a:p>
        </p:txBody>
      </p:sp>
      <p:sp>
        <p:nvSpPr>
          <p:cNvPr id="17" name="Shape 14"/>
          <p:cNvSpPr/>
          <p:nvPr/>
        </p:nvSpPr>
        <p:spPr>
          <a:xfrm>
            <a:off x="566928" y="5504688"/>
            <a:ext cx="11064240" cy="658368"/>
          </a:xfrm>
          <a:prstGeom prst="roundRect">
            <a:avLst>
              <a:gd name="adj" fmla="val 11111"/>
            </a:avLst>
          </a:prstGeom>
          <a:solidFill>
            <a:srgbClr val="0B1220"/>
          </a:solidFill>
          <a:ln w="10160">
            <a:solidFill>
              <a:srgbClr val="FF6A3D"/>
            </a:solidFill>
            <a:prstDash val="solid"/>
          </a:ln>
        </p:spPr>
      </p:sp>
      <p:sp>
        <p:nvSpPr>
          <p:cNvPr id="18" name="Text 15"/>
          <p:cNvSpPr/>
          <p:nvPr/>
        </p:nvSpPr>
        <p:spPr>
          <a:xfrm>
            <a:off x="795528" y="5504688"/>
            <a:ext cx="10607040" cy="658368"/>
          </a:xfrm>
          <a:prstGeom prst="rect">
            <a:avLst/>
          </a:prstGeom>
          <a:noFill/>
          <a:ln/>
        </p:spPr>
        <p:txBody>
          <a:bodyPr wrap="square" lIns="0" tIns="0" rIns="0" bIns="0" rtlCol="0" anchor="ctr"/>
          <a:lstStyle/>
          <a:p>
            <a:pPr algn="ctr" indent="0" marL="0">
              <a:buNone/>
            </a:pPr>
            <a:r>
              <a:rPr lang="en-US" sz="1550" b="1" dirty="0">
                <a:solidFill>
                  <a:srgbClr val="FF6A3D"/>
                </a:solidFill>
                <a:latin typeface="Amazon Ember Display" pitchFamily="34" charset="0"/>
                <a:ea typeface="Amazon Ember Display" pitchFamily="34" charset="-122"/>
                <a:cs typeface="Amazon Ember Display" pitchFamily="34" charset="-120"/>
              </a:rPr>
              <a:t>Harness Agent 4 轮输出：90 → 93 → 95 → 102 条　|　Consolidation LLM：15 条规则　|　53 个唯一原文</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1 · CONCLUSION</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8</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实验一结论：Reflection LLM 看不到 Harness Agent 的整块遗漏</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没有把源文档提供给 Reflection LLM；规则和条数增加并不能证明 Harness Agent 覆盖了更多原文区域。</a:t>
            </a:r>
            <a:endParaRPr lang="en-US" sz="1400" dirty="0"/>
          </a:p>
        </p:txBody>
      </p:sp>
      <p:sp>
        <p:nvSpPr>
          <p:cNvPr id="8" name="Shape 5"/>
          <p:cNvSpPr/>
          <p:nvPr/>
        </p:nvSpPr>
        <p:spPr>
          <a:xfrm>
            <a:off x="566928" y="1783080"/>
            <a:ext cx="5349240" cy="3474720"/>
          </a:xfrm>
          <a:prstGeom prst="roundRect">
            <a:avLst>
              <a:gd name="adj" fmla="val 2105"/>
            </a:avLst>
          </a:prstGeom>
          <a:solidFill>
            <a:srgbClr val="0C3440"/>
          </a:solidFill>
          <a:ln w="10160">
            <a:solidFill>
              <a:srgbClr val="2E3B57"/>
            </a:solidFill>
            <a:prstDash val="solid"/>
          </a:ln>
        </p:spPr>
      </p:sp>
      <p:sp>
        <p:nvSpPr>
          <p:cNvPr id="9" name="Text 6"/>
          <p:cNvSpPr/>
          <p:nvPr/>
        </p:nvSpPr>
        <p:spPr>
          <a:xfrm>
            <a:off x="768096" y="1920240"/>
            <a:ext cx="494690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类型 A · HARNESS AGENT 可自审</a:t>
            </a:r>
            <a:endParaRPr lang="en-US" sz="1150" dirty="0"/>
          </a:p>
        </p:txBody>
      </p:sp>
      <p:sp>
        <p:nvSpPr>
          <p:cNvPr id="10" name="Text 7"/>
          <p:cNvSpPr/>
          <p:nvPr/>
        </p:nvSpPr>
        <p:spPr>
          <a:xfrm>
            <a:off x="768096" y="2267712"/>
            <a:ext cx="494690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源覆盖问题</a:t>
            </a:r>
            <a:endParaRPr lang="en-US" sz="1700" dirty="0"/>
          </a:p>
        </p:txBody>
      </p:sp>
      <p:sp>
        <p:nvSpPr>
          <p:cNvPr id="11" name="Text 8"/>
          <p:cNvSpPr/>
          <p:nvPr/>
        </p:nvSpPr>
        <p:spPr>
          <a:xfrm>
            <a:off x="768096" y="2724912"/>
            <a:ext cx="4946904" cy="2404872"/>
          </a:xfrm>
          <a:prstGeom prst="rect">
            <a:avLst/>
          </a:prstGeom>
          <a:noFill/>
          <a:ln/>
        </p:spPr>
        <p:txBody>
          <a:bodyPr wrap="square" lIns="0" tIns="0" rIns="0" bIns="0" rtlCol="0" anchor="t"/>
          <a:lstStyle/>
          <a:p>
            <a:pPr indent="0" marL="0">
              <a:buNone/>
            </a:pPr>
            <a:r>
              <a:rPr lang="en-US" sz="1350" dirty="0">
                <a:solidFill>
                  <a:srgbClr val="CFD9E4"/>
                </a:solidFill>
                <a:latin typeface="Microsoft YaHei" pitchFamily="34" charset="0"/>
                <a:ea typeface="Microsoft YaHei" pitchFamily="34" charset="-122"/>
                <a:cs typeface="Microsoft YaHei" pitchFamily="34" charset="-120"/>
              </a:rPr>
              <a:t>定义：原文中出现了 X，但 Harness Agent 输出中没有 X。</a:t>
            </a:r>
            <a:endParaRPr lang="en-US" sz="1350" dirty="0"/>
          </a:p>
          <a:p>
            <a:pPr indent="0" marL="0">
              <a:buNone/>
            </a:pP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例子：</a:t>
            </a: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 整张 BOM 没抽</a:t>
            </a: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 漏掉章节或附注</a:t>
            </a: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 重复记录</a:t>
            </a: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 字段为空或格式错误</a:t>
            </a:r>
            <a:endParaRPr lang="en-US" sz="1350" dirty="0"/>
          </a:p>
          <a:p>
            <a:pPr indent="0" marL="0">
              <a:buNone/>
            </a:pP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发现主体：Harness Agent 同时读取原文 + 草稿</a:t>
            </a:r>
            <a:endParaRPr lang="en-US" sz="1350" dirty="0"/>
          </a:p>
        </p:txBody>
      </p:sp>
      <p:sp>
        <p:nvSpPr>
          <p:cNvPr id="12" name="Shape 9"/>
          <p:cNvSpPr/>
          <p:nvPr/>
        </p:nvSpPr>
        <p:spPr>
          <a:xfrm>
            <a:off x="6281928" y="1783080"/>
            <a:ext cx="5349240" cy="3474720"/>
          </a:xfrm>
          <a:prstGeom prst="roundRect">
            <a:avLst>
              <a:gd name="adj" fmla="val 2105"/>
            </a:avLst>
          </a:prstGeom>
          <a:solidFill>
            <a:srgbClr val="2A2418"/>
          </a:solidFill>
          <a:ln w="10160">
            <a:solidFill>
              <a:srgbClr val="2E3B57"/>
            </a:solidFill>
            <a:prstDash val="solid"/>
          </a:ln>
        </p:spPr>
      </p:sp>
      <p:sp>
        <p:nvSpPr>
          <p:cNvPr id="13" name="Text 10"/>
          <p:cNvSpPr/>
          <p:nvPr/>
        </p:nvSpPr>
        <p:spPr>
          <a:xfrm>
            <a:off x="6483096" y="1920240"/>
            <a:ext cx="494690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类型 B · REVIEWER 决定</a:t>
            </a:r>
            <a:endParaRPr lang="en-US" sz="1150" dirty="0"/>
          </a:p>
        </p:txBody>
      </p:sp>
      <p:sp>
        <p:nvSpPr>
          <p:cNvPr id="14" name="Text 11"/>
          <p:cNvSpPr/>
          <p:nvPr/>
        </p:nvSpPr>
        <p:spPr>
          <a:xfrm>
            <a:off x="6483096" y="2267712"/>
            <a:ext cx="494690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任务边界问题</a:t>
            </a:r>
            <a:endParaRPr lang="en-US" sz="1700" dirty="0"/>
          </a:p>
        </p:txBody>
      </p:sp>
      <p:sp>
        <p:nvSpPr>
          <p:cNvPr id="15" name="Text 12"/>
          <p:cNvSpPr/>
          <p:nvPr/>
        </p:nvSpPr>
        <p:spPr>
          <a:xfrm>
            <a:off x="6483096" y="2724912"/>
            <a:ext cx="4946904" cy="2404872"/>
          </a:xfrm>
          <a:prstGeom prst="rect">
            <a:avLst/>
          </a:prstGeom>
          <a:noFill/>
          <a:ln/>
        </p:spPr>
        <p:txBody>
          <a:bodyPr wrap="square" lIns="0" tIns="0" rIns="0" bIns="0" rtlCol="0" anchor="t"/>
          <a:lstStyle/>
          <a:p>
            <a:pPr indent="0" marL="0">
              <a:buNone/>
            </a:pPr>
            <a:r>
              <a:rPr lang="en-US" sz="1350" dirty="0">
                <a:solidFill>
                  <a:srgbClr val="CFD9E4"/>
                </a:solidFill>
                <a:latin typeface="Microsoft YaHei" pitchFamily="34" charset="0"/>
                <a:ea typeface="Microsoft YaHei" pitchFamily="34" charset="-122"/>
                <a:cs typeface="Microsoft YaHei" pitchFamily="34" charset="-120"/>
              </a:rPr>
              <a:t>定义：Harness Agent 不知道 X 是否属于抽取目标。</a:t>
            </a:r>
            <a:endParaRPr lang="en-US" sz="1350" dirty="0"/>
          </a:p>
          <a:p>
            <a:pPr indent="0" marL="0">
              <a:buNone/>
            </a:pP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例子：</a:t>
            </a: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 流程与见证要求</a:t>
            </a: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 报告与交付文件</a:t>
            </a: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 待确认事项</a:t>
            </a: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 什么粒度算一条</a:t>
            </a:r>
            <a:endParaRPr lang="en-US" sz="1350" dirty="0"/>
          </a:p>
          <a:p>
            <a:pPr indent="0" marL="0">
              <a:buNone/>
            </a:pPr>
            <a:endParaRPr lang="en-US" sz="1350" dirty="0"/>
          </a:p>
          <a:p>
            <a:pPr indent="0" marL="0">
              <a:buNone/>
            </a:pPr>
            <a:r>
              <a:rPr lang="en-US" sz="1350" dirty="0">
                <a:solidFill>
                  <a:srgbClr val="CFD9E4"/>
                </a:solidFill>
                <a:latin typeface="Microsoft YaHei" pitchFamily="34" charset="0"/>
                <a:ea typeface="Microsoft YaHei" pitchFamily="34" charset="-122"/>
                <a:cs typeface="Microsoft YaHei" pitchFamily="34" charset="-120"/>
              </a:rPr>
              <a:t>判断主体：任务规范制定者 / Reviewer / Human</a:t>
            </a:r>
            <a:endParaRPr lang="en-US" sz="1350" dirty="0"/>
          </a:p>
        </p:txBody>
      </p:sp>
      <p:sp>
        <p:nvSpPr>
          <p:cNvPr id="16" name="Shape 13"/>
          <p:cNvSpPr/>
          <p:nvPr/>
        </p:nvSpPr>
        <p:spPr>
          <a:xfrm>
            <a:off x="566928" y="5504688"/>
            <a:ext cx="11064240" cy="777240"/>
          </a:xfrm>
          <a:prstGeom prst="roundRect">
            <a:avLst>
              <a:gd name="adj" fmla="val 9412"/>
            </a:avLst>
          </a:prstGeom>
          <a:solidFill>
            <a:srgbClr val="0B1220"/>
          </a:solidFill>
          <a:ln w="10160">
            <a:solidFill>
              <a:srgbClr val="42B4FF"/>
            </a:solidFill>
            <a:prstDash val="solid"/>
          </a:ln>
        </p:spPr>
      </p:sp>
      <p:sp>
        <p:nvSpPr>
          <p:cNvPr id="17" name="Text 14"/>
          <p:cNvSpPr/>
          <p:nvPr/>
        </p:nvSpPr>
        <p:spPr>
          <a:xfrm>
            <a:off x="822960" y="5504688"/>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Harness Agent 可用原文自审源覆盖；Reviewer / Human 负责定义任务边界。</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9</a:t>
            </a:r>
            <a:endParaRPr lang="en-US" sz="1050" dirty="0"/>
          </a:p>
        </p:txBody>
      </p:sp>
      <p:sp>
        <p:nvSpPr>
          <p:cNvPr id="6" name="Text 3"/>
          <p:cNvSpPr/>
          <p:nvPr/>
        </p:nvSpPr>
        <p:spPr>
          <a:xfrm>
            <a:off x="566928" y="1115568"/>
            <a:ext cx="2057400" cy="1234440"/>
          </a:xfrm>
          <a:prstGeom prst="rect">
            <a:avLst/>
          </a:prstGeom>
          <a:noFill/>
          <a:ln/>
        </p:spPr>
        <p:txBody>
          <a:bodyPr wrap="square" lIns="0" tIns="0" rIns="0" bIns="0" rtlCol="0" anchor="ctr"/>
          <a:lstStyle/>
          <a:p>
            <a:pPr indent="0" marL="0">
              <a:buNone/>
            </a:pPr>
            <a:r>
              <a:rPr lang="en-US" sz="7200" b="1" dirty="0">
                <a:solidFill>
                  <a:srgbClr val="42B4FF"/>
                </a:solidFill>
                <a:latin typeface="Amazon Ember Display" pitchFamily="34" charset="0"/>
                <a:ea typeface="Amazon Ember Display" pitchFamily="34" charset="-122"/>
                <a:cs typeface="Amazon Ember Display" pitchFamily="34" charset="-120"/>
              </a:rPr>
              <a:t>02</a:t>
            </a:r>
            <a:endParaRPr lang="en-US" sz="7200" dirty="0"/>
          </a:p>
        </p:txBody>
      </p:sp>
      <p:sp>
        <p:nvSpPr>
          <p:cNvPr id="7" name="Text 4"/>
          <p:cNvSpPr/>
          <p:nvPr/>
        </p:nvSpPr>
        <p:spPr>
          <a:xfrm>
            <a:off x="2898648" y="1188720"/>
            <a:ext cx="8503920" cy="74980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 产出轨迹；Memory System 生成 Records</a:t>
            </a:r>
            <a:endParaRPr lang="en-US" sz="2700" dirty="0"/>
          </a:p>
        </p:txBody>
      </p:sp>
      <p:sp>
        <p:nvSpPr>
          <p:cNvPr id="8" name="Text 5"/>
          <p:cNvSpPr/>
          <p:nvPr/>
        </p:nvSpPr>
        <p:spPr>
          <a:xfrm>
            <a:off x="2926080" y="2057400"/>
            <a:ext cx="8229600" cy="658368"/>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Application 顺序调用 Harness Agent 两个阶段；Harness Agent 对照原文自审并修订。</a:t>
            </a:r>
            <a:endParaRPr lang="en-US" sz="1800" dirty="0"/>
          </a:p>
        </p:txBody>
      </p:sp>
      <p:sp>
        <p:nvSpPr>
          <p:cNvPr id="9" name="Shape 6"/>
          <p:cNvSpPr/>
          <p:nvPr/>
        </p:nvSpPr>
        <p:spPr>
          <a:xfrm>
            <a:off x="566928" y="3127248"/>
            <a:ext cx="11064240" cy="1508760"/>
          </a:xfrm>
          <a:prstGeom prst="roundRect">
            <a:avLst>
              <a:gd name="adj" fmla="val 4848"/>
            </a:avLst>
          </a:prstGeom>
          <a:solidFill>
            <a:srgbClr val="0B1220"/>
          </a:solidFill>
          <a:ln w="10160">
            <a:solidFill>
              <a:srgbClr val="42B4FF"/>
            </a:solidFill>
            <a:prstDash val="solid"/>
          </a:ln>
        </p:spPr>
      </p:sp>
      <p:sp>
        <p:nvSpPr>
          <p:cNvPr id="10" name="Text 7"/>
          <p:cNvSpPr/>
          <p:nvPr/>
        </p:nvSpPr>
        <p:spPr>
          <a:xfrm>
            <a:off x="978408" y="3127248"/>
            <a:ext cx="10241280" cy="1508760"/>
          </a:xfrm>
          <a:prstGeom prst="rect">
            <a:avLst/>
          </a:prstGeom>
          <a:noFill/>
          <a:ln/>
        </p:spPr>
        <p:txBody>
          <a:bodyPr wrap="square" lIns="0" tIns="0" rIns="0" bIns="0" rtlCol="0" anchor="ctr"/>
          <a:lstStyle/>
          <a:p>
            <a:pPr algn="ctr" indent="0" marL="0">
              <a:buNone/>
            </a:pPr>
            <a:r>
              <a:rPr lang="en-US" sz="2000" b="1" dirty="0">
                <a:solidFill>
                  <a:srgbClr val="42B4FF"/>
                </a:solidFill>
                <a:latin typeface="Microsoft YaHei" pitchFamily="34" charset="0"/>
                <a:ea typeface="Microsoft YaHei" pitchFamily="34" charset="-122"/>
                <a:cs typeface="Microsoft YaHei" pitchFamily="34" charset="-120"/>
              </a:rPr>
              <a:t>实验边界：AgentCore Memory System 使用内置 EPISODIC 处理源 session，生成 1 条 episode 和 2 条 actor reflections。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 · HARNESS AGENT</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10</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Agent：两阶段 Self-review</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连续调用同一 Harness Agent；Harness Agent 执行自审与修订；Memory System 保存同一 session 的 events。</a:t>
            </a:r>
            <a:endParaRPr lang="en-US" sz="1400" dirty="0"/>
          </a:p>
        </p:txBody>
      </p:sp>
      <p:sp>
        <p:nvSpPr>
          <p:cNvPr id="8" name="Shape 5"/>
          <p:cNvSpPr/>
          <p:nvPr/>
        </p:nvSpPr>
        <p:spPr>
          <a:xfrm>
            <a:off x="566928" y="1664208"/>
            <a:ext cx="5440680" cy="3794760"/>
          </a:xfrm>
          <a:prstGeom prst="roundRect">
            <a:avLst>
              <a:gd name="adj" fmla="val 1928"/>
            </a:avLst>
          </a:prstGeom>
          <a:solidFill>
            <a:srgbClr val="1C2740"/>
          </a:solidFill>
          <a:ln w="10160">
            <a:solidFill>
              <a:srgbClr val="2E3B57"/>
            </a:solidFill>
            <a:prstDash val="solid"/>
          </a:ln>
        </p:spPr>
      </p:sp>
      <p:sp>
        <p:nvSpPr>
          <p:cNvPr id="9" name="Text 6"/>
          <p:cNvSpPr/>
          <p:nvPr/>
        </p:nvSpPr>
        <p:spPr>
          <a:xfrm>
            <a:off x="749808" y="1792224"/>
            <a:ext cx="507492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APPLICATION 调用 → HARNESS AGENT 阶段一</a:t>
            </a:r>
            <a:endParaRPr lang="en-US" sz="1150" dirty="0"/>
          </a:p>
        </p:txBody>
      </p:sp>
      <p:sp>
        <p:nvSpPr>
          <p:cNvPr id="10" name="Shape 7"/>
          <p:cNvSpPr/>
          <p:nvPr/>
        </p:nvSpPr>
        <p:spPr>
          <a:xfrm>
            <a:off x="749808" y="2121408"/>
            <a:ext cx="5074920" cy="3182112"/>
          </a:xfrm>
          <a:prstGeom prst="roundRect">
            <a:avLst>
              <a:gd name="adj" fmla="val 2299"/>
            </a:avLst>
          </a:prstGeom>
          <a:solidFill>
            <a:srgbClr val="0B1220"/>
          </a:solidFill>
          <a:ln w="10160">
            <a:solidFill>
              <a:srgbClr val="2E3B57"/>
            </a:solidFill>
            <a:prstDash val="solid"/>
          </a:ln>
        </p:spPr>
      </p:sp>
      <p:sp>
        <p:nvSpPr>
          <p:cNvPr id="11" name="Text 8"/>
          <p:cNvSpPr/>
          <p:nvPr/>
        </p:nvSpPr>
        <p:spPr>
          <a:xfrm>
            <a:off x="859536" y="2194560"/>
            <a:ext cx="4855464" cy="3044952"/>
          </a:xfrm>
          <a:prstGeom prst="rect">
            <a:avLst/>
          </a:prstGeom>
          <a:noFill/>
          <a:ln/>
        </p:spPr>
        <p:txBody>
          <a:bodyPr wrap="square" lIns="0" tIns="0" rIns="0" bIns="0" rtlCol="0" anchor="t"/>
          <a:lstStyle/>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先在内部形成完整抽取草稿，再审查草稿；</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不要输出草稿。</a:t>
            </a:r>
            <a:endParaRPr lang="en-US" sz="1080" dirty="0"/>
          </a:p>
          <a:p>
            <a:pPr indent="0" marL="0">
              <a:buNone/>
            </a:pP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"self_review":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"coverage":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"omissions":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"format":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"granularity":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"next_actions":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  }</a:t>
            </a:r>
            <a:endParaRPr lang="en-US" sz="1080" dirty="0"/>
          </a:p>
          <a:p>
            <a:pPr indent="0" marL="0">
              <a:buNone/>
            </a:pPr>
            <a:r>
              <a:rPr lang="en-US" sz="1080" dirty="0">
                <a:solidFill>
                  <a:srgbClr val="CFD9E4"/>
                </a:solidFill>
                <a:latin typeface="Amazon Ember Mono" pitchFamily="34" charset="0"/>
                <a:ea typeface="Amazon Ember Mono" pitchFamily="34" charset="-122"/>
                <a:cs typeface="Amazon Ember Mono" pitchFamily="34" charset="-120"/>
              </a:rPr>
              <a:t>}</a:t>
            </a:r>
            <a:endParaRPr lang="en-US" sz="1080" dirty="0"/>
          </a:p>
        </p:txBody>
      </p:sp>
      <p:sp>
        <p:nvSpPr>
          <p:cNvPr id="12" name="Shape 9"/>
          <p:cNvSpPr/>
          <p:nvPr/>
        </p:nvSpPr>
        <p:spPr>
          <a:xfrm>
            <a:off x="6236208" y="1664208"/>
            <a:ext cx="5394960" cy="3794760"/>
          </a:xfrm>
          <a:prstGeom prst="roundRect">
            <a:avLst>
              <a:gd name="adj" fmla="val 1928"/>
            </a:avLst>
          </a:prstGeom>
          <a:solidFill>
            <a:srgbClr val="1C2740"/>
          </a:solidFill>
          <a:ln w="10160">
            <a:solidFill>
              <a:srgbClr val="2E3B57"/>
            </a:solidFill>
            <a:prstDash val="solid"/>
          </a:ln>
        </p:spPr>
      </p:sp>
      <p:sp>
        <p:nvSpPr>
          <p:cNvPr id="13" name="Text 10"/>
          <p:cNvSpPr/>
          <p:nvPr/>
        </p:nvSpPr>
        <p:spPr>
          <a:xfrm>
            <a:off x="6419088" y="1792224"/>
            <a:ext cx="5029200"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APPLICATION 调用 → HARNESS AGENT 阶段二</a:t>
            </a:r>
            <a:endParaRPr lang="en-US" sz="1150" dirty="0"/>
          </a:p>
        </p:txBody>
      </p:sp>
      <p:sp>
        <p:nvSpPr>
          <p:cNvPr id="14" name="Shape 11"/>
          <p:cNvSpPr/>
          <p:nvPr/>
        </p:nvSpPr>
        <p:spPr>
          <a:xfrm>
            <a:off x="6419088" y="2121408"/>
            <a:ext cx="5029200" cy="3182112"/>
          </a:xfrm>
          <a:prstGeom prst="roundRect">
            <a:avLst>
              <a:gd name="adj" fmla="val 2299"/>
            </a:avLst>
          </a:prstGeom>
          <a:solidFill>
            <a:srgbClr val="0B1220"/>
          </a:solidFill>
          <a:ln w="10160">
            <a:solidFill>
              <a:srgbClr val="2E3B57"/>
            </a:solidFill>
            <a:prstDash val="solid"/>
          </a:ln>
        </p:spPr>
      </p:sp>
      <p:sp>
        <p:nvSpPr>
          <p:cNvPr id="15" name="Text 12"/>
          <p:cNvSpPr/>
          <p:nvPr/>
        </p:nvSpPr>
        <p:spPr>
          <a:xfrm>
            <a:off x="6528816" y="2194560"/>
            <a:ext cx="4809744" cy="3044952"/>
          </a:xfrm>
          <a:prstGeom prst="rect">
            <a:avLst/>
          </a:prstGeom>
          <a:noFill/>
          <a:ln/>
        </p:spPr>
        <p:txBody>
          <a:bodyPr wrap="square" lIns="0" tIns="0" rIns="0" bIns="0" rtlCol="0" anchor="t"/>
          <a:lstStyle/>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读取原始文档和 self_review。</a:t>
            </a:r>
            <a:endParaRPr lang="en-US" sz="1120" dirty="0"/>
          </a:p>
          <a:p>
            <a:pPr indent="0" marL="0">
              <a:buNone/>
            </a:pP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根据 next_actions 重新完成抽取，</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并逐项复核：</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coverage</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omissions</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format</a:t>
            </a: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 granularity</a:t>
            </a:r>
            <a:endParaRPr lang="en-US" sz="1120" dirty="0"/>
          </a:p>
          <a:p>
            <a:pPr indent="0" marL="0">
              <a:buNone/>
            </a:pPr>
            <a:endParaRPr lang="en-US" sz="1120" dirty="0"/>
          </a:p>
          <a:p>
            <a:pPr indent="0" marL="0">
              <a:buNone/>
            </a:pPr>
            <a:r>
              <a:rPr lang="en-US" sz="1120" dirty="0">
                <a:solidFill>
                  <a:srgbClr val="CFD9E4"/>
                </a:solidFill>
                <a:latin typeface="Amazon Ember Mono" pitchFamily="34" charset="0"/>
                <a:ea typeface="Amazon Ember Mono" pitchFamily="34" charset="-122"/>
                <a:cs typeface="Amazon Ember Mono" pitchFamily="34" charset="-120"/>
              </a:rPr>
              <a:t>只输出最终五字段 JSON。</a:t>
            </a:r>
            <a:endParaRPr lang="en-US" sz="1120" dirty="0"/>
          </a:p>
        </p:txBody>
      </p:sp>
      <p:sp>
        <p:nvSpPr>
          <p:cNvPr id="16" name="Shape 13"/>
          <p:cNvSpPr/>
          <p:nvPr/>
        </p:nvSpPr>
        <p:spPr>
          <a:xfrm>
            <a:off x="566928" y="5650992"/>
            <a:ext cx="11064240" cy="777240"/>
          </a:xfrm>
          <a:prstGeom prst="roundRect">
            <a:avLst>
              <a:gd name="adj" fmla="val 9412"/>
            </a:avLst>
          </a:prstGeom>
          <a:solidFill>
            <a:srgbClr val="0B1220"/>
          </a:solidFill>
          <a:ln w="10160">
            <a:solidFill>
              <a:srgbClr val="00E500"/>
            </a:solidFill>
            <a:prstDash val="solid"/>
          </a:ln>
        </p:spPr>
      </p:sp>
      <p:sp>
        <p:nvSpPr>
          <p:cNvPr id="17" name="Text 14"/>
          <p:cNvSpPr/>
          <p:nvPr/>
        </p:nvSpPr>
        <p:spPr>
          <a:xfrm>
            <a:off x="822960" y="5650992"/>
            <a:ext cx="10552176" cy="777240"/>
          </a:xfrm>
          <a:prstGeom prst="rect">
            <a:avLst/>
          </a:prstGeom>
          <a:noFill/>
          <a:ln/>
        </p:spPr>
        <p:txBody>
          <a:bodyPr wrap="square" lIns="0" tIns="0" rIns="0" bIns="0" rtlCol="0" anchor="ctr"/>
          <a:lstStyle/>
          <a:p>
            <a:pPr algn="ctr" indent="0" marL="0">
              <a:buNone/>
            </a:pPr>
            <a:r>
              <a:rPr lang="en-US" sz="1650" b="1" dirty="0">
                <a:solidFill>
                  <a:srgbClr val="00E500"/>
                </a:solidFill>
                <a:latin typeface="Amazon Ember Display" pitchFamily="34" charset="0"/>
                <a:ea typeface="Amazon Ember Display" pitchFamily="34" charset="-122"/>
                <a:cs typeface="Amazon Ember Display" pitchFamily="34" charset="-120"/>
              </a:rPr>
              <a:t>Application：顺序调用　|　Harness Agent：self_review + 最终 JSON　|　Memory System：保存 session events</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 · MEMORY SYSTEM</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11</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Memory System：EPISODIC 处理链</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Memory System 异步处理 Harness Agent 的 session events；新 session 中，AgentCore Harness 调用 Retrieval 并注入 Records。</a:t>
            </a:r>
            <a:endParaRPr lang="en-US" sz="1400" dirty="0"/>
          </a:p>
        </p:txBody>
      </p:sp>
      <p:sp>
        <p:nvSpPr>
          <p:cNvPr id="8" name="Shape 5"/>
          <p:cNvSpPr/>
          <p:nvPr/>
        </p:nvSpPr>
        <p:spPr>
          <a:xfrm>
            <a:off x="566928" y="1828800"/>
            <a:ext cx="2286000" cy="1417320"/>
          </a:xfrm>
          <a:prstGeom prst="roundRect">
            <a:avLst>
              <a:gd name="adj" fmla="val 5161"/>
            </a:avLst>
          </a:prstGeom>
          <a:solidFill>
            <a:srgbClr val="1C2740"/>
          </a:solidFill>
          <a:ln w="10160">
            <a:solidFill>
              <a:srgbClr val="2E3B57"/>
            </a:solidFill>
            <a:prstDash val="solid"/>
          </a:ln>
        </p:spPr>
      </p:sp>
      <p:sp>
        <p:nvSpPr>
          <p:cNvPr id="9" name="Text 6"/>
          <p:cNvSpPr/>
          <p:nvPr/>
        </p:nvSpPr>
        <p:spPr>
          <a:xfrm>
            <a:off x="768096" y="1965960"/>
            <a:ext cx="1883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MEMORY · EVENT STORAGE</a:t>
            </a:r>
            <a:endParaRPr lang="en-US" sz="1150" dirty="0"/>
          </a:p>
        </p:txBody>
      </p:sp>
      <p:sp>
        <p:nvSpPr>
          <p:cNvPr id="10" name="Text 7"/>
          <p:cNvSpPr/>
          <p:nvPr/>
        </p:nvSpPr>
        <p:spPr>
          <a:xfrm>
            <a:off x="768096" y="2313432"/>
            <a:ext cx="1883664" cy="384048"/>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保存 Session Events</a:t>
            </a:r>
            <a:endParaRPr lang="en-US" sz="1400" dirty="0"/>
          </a:p>
        </p:txBody>
      </p:sp>
      <p:sp>
        <p:nvSpPr>
          <p:cNvPr id="11" name="Text 8"/>
          <p:cNvSpPr/>
          <p:nvPr/>
        </p:nvSpPr>
        <p:spPr>
          <a:xfrm>
            <a:off x="768096" y="2770632"/>
            <a:ext cx="1883664" cy="347472"/>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Harness Agent 产物：原文 + self_review + 最终 JSON</a:t>
            </a:r>
            <a:endParaRPr lang="en-US" sz="1050" dirty="0"/>
          </a:p>
        </p:txBody>
      </p:sp>
      <p:sp>
        <p:nvSpPr>
          <p:cNvPr id="12" name="Text 9"/>
          <p:cNvSpPr/>
          <p:nvPr/>
        </p:nvSpPr>
        <p:spPr>
          <a:xfrm>
            <a:off x="2898648"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3" name="Shape 10"/>
          <p:cNvSpPr/>
          <p:nvPr/>
        </p:nvSpPr>
        <p:spPr>
          <a:xfrm>
            <a:off x="3310128" y="1828800"/>
            <a:ext cx="2286000" cy="1417320"/>
          </a:xfrm>
          <a:prstGeom prst="roundRect">
            <a:avLst>
              <a:gd name="adj" fmla="val 5161"/>
            </a:avLst>
          </a:prstGeom>
          <a:solidFill>
            <a:srgbClr val="0C3440"/>
          </a:solidFill>
          <a:ln w="10160">
            <a:solidFill>
              <a:srgbClr val="2E3B57"/>
            </a:solidFill>
            <a:prstDash val="solid"/>
          </a:ln>
        </p:spPr>
      </p:sp>
      <p:sp>
        <p:nvSpPr>
          <p:cNvPr id="14" name="Text 11"/>
          <p:cNvSpPr/>
          <p:nvPr/>
        </p:nvSpPr>
        <p:spPr>
          <a:xfrm>
            <a:off x="3511296" y="1965960"/>
            <a:ext cx="18836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MEMORY · EXTRACTION</a:t>
            </a:r>
            <a:endParaRPr lang="en-US" sz="1150" dirty="0"/>
          </a:p>
        </p:txBody>
      </p:sp>
      <p:sp>
        <p:nvSpPr>
          <p:cNvPr id="15" name="Text 12"/>
          <p:cNvSpPr/>
          <p:nvPr/>
        </p:nvSpPr>
        <p:spPr>
          <a:xfrm>
            <a:off x="3511296" y="2313432"/>
            <a:ext cx="1883664" cy="384048"/>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分析每个 Turn</a:t>
            </a:r>
            <a:endParaRPr lang="en-US" sz="1400" dirty="0"/>
          </a:p>
        </p:txBody>
      </p:sp>
      <p:sp>
        <p:nvSpPr>
          <p:cNvPr id="16" name="Text 13"/>
          <p:cNvSpPr/>
          <p:nvPr/>
        </p:nvSpPr>
        <p:spPr>
          <a:xfrm>
            <a:off x="3511296" y="2770632"/>
            <a:ext cx="1883664" cy="347472"/>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Memory System 识别行为、结果与任务信号</a:t>
            </a:r>
            <a:endParaRPr lang="en-US" sz="1050" dirty="0"/>
          </a:p>
        </p:txBody>
      </p:sp>
      <p:sp>
        <p:nvSpPr>
          <p:cNvPr id="17" name="Text 14"/>
          <p:cNvSpPr/>
          <p:nvPr/>
        </p:nvSpPr>
        <p:spPr>
          <a:xfrm>
            <a:off x="5641848"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18" name="Shape 15"/>
          <p:cNvSpPr/>
          <p:nvPr/>
        </p:nvSpPr>
        <p:spPr>
          <a:xfrm>
            <a:off x="6053328" y="1828800"/>
            <a:ext cx="2286000" cy="1417320"/>
          </a:xfrm>
          <a:prstGeom prst="roundRect">
            <a:avLst>
              <a:gd name="adj" fmla="val 5161"/>
            </a:avLst>
          </a:prstGeom>
          <a:solidFill>
            <a:srgbClr val="2A2418"/>
          </a:solidFill>
          <a:ln w="10160">
            <a:solidFill>
              <a:srgbClr val="2E3B57"/>
            </a:solidFill>
            <a:prstDash val="solid"/>
          </a:ln>
        </p:spPr>
      </p:sp>
      <p:sp>
        <p:nvSpPr>
          <p:cNvPr id="19" name="Text 16"/>
          <p:cNvSpPr/>
          <p:nvPr/>
        </p:nvSpPr>
        <p:spPr>
          <a:xfrm>
            <a:off x="6254496" y="1965960"/>
            <a:ext cx="188366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MEMORY · CONSOLIDATION</a:t>
            </a:r>
            <a:endParaRPr lang="en-US" sz="1150" dirty="0"/>
          </a:p>
        </p:txBody>
      </p:sp>
      <p:sp>
        <p:nvSpPr>
          <p:cNvPr id="20" name="Text 17"/>
          <p:cNvSpPr/>
          <p:nvPr/>
        </p:nvSpPr>
        <p:spPr>
          <a:xfrm>
            <a:off x="6254496" y="2313432"/>
            <a:ext cx="1883664" cy="384048"/>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生成 Episode</a:t>
            </a:r>
            <a:endParaRPr lang="en-US" sz="1400" dirty="0"/>
          </a:p>
        </p:txBody>
      </p:sp>
      <p:sp>
        <p:nvSpPr>
          <p:cNvPr id="21" name="Text 18"/>
          <p:cNvSpPr/>
          <p:nvPr/>
        </p:nvSpPr>
        <p:spPr>
          <a:xfrm>
            <a:off x="6254496" y="2770632"/>
            <a:ext cx="1883664" cy="347472"/>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Memory System 形成 session-level episode</a:t>
            </a:r>
            <a:endParaRPr lang="en-US" sz="1050" dirty="0"/>
          </a:p>
        </p:txBody>
      </p:sp>
      <p:sp>
        <p:nvSpPr>
          <p:cNvPr id="22" name="Text 19"/>
          <p:cNvSpPr/>
          <p:nvPr/>
        </p:nvSpPr>
        <p:spPr>
          <a:xfrm>
            <a:off x="8385048" y="2267712"/>
            <a:ext cx="384048" cy="548640"/>
          </a:xfrm>
          <a:prstGeom prst="rect">
            <a:avLst/>
          </a:prstGeom>
          <a:noFill/>
          <a:ln/>
        </p:spPr>
        <p:txBody>
          <a:bodyPr wrap="square" lIns="0" tIns="0" rIns="0" bIns="0" rtlCol="0" anchor="ctr"/>
          <a:lstStyle/>
          <a:p>
            <a:pPr algn="ctr" indent="0" marL="0">
              <a:buNone/>
            </a:pPr>
            <a:r>
              <a:rPr lang="en-US" sz="2000" b="1" dirty="0">
                <a:solidFill>
                  <a:srgbClr val="42B4FF"/>
                </a:solidFill>
                <a:latin typeface="Amazon Ember Display" pitchFamily="34" charset="0"/>
                <a:ea typeface="Amazon Ember Display" pitchFamily="34" charset="-122"/>
                <a:cs typeface="Amazon Ember Display" pitchFamily="34" charset="-120"/>
              </a:rPr>
              <a:t>→</a:t>
            </a:r>
            <a:endParaRPr lang="en-US" sz="2000" dirty="0"/>
          </a:p>
        </p:txBody>
      </p:sp>
      <p:sp>
        <p:nvSpPr>
          <p:cNvPr id="23" name="Shape 20"/>
          <p:cNvSpPr/>
          <p:nvPr/>
        </p:nvSpPr>
        <p:spPr>
          <a:xfrm>
            <a:off x="8796528" y="1828800"/>
            <a:ext cx="2834640" cy="1417320"/>
          </a:xfrm>
          <a:prstGeom prst="roundRect">
            <a:avLst>
              <a:gd name="adj" fmla="val 5161"/>
            </a:avLst>
          </a:prstGeom>
          <a:solidFill>
            <a:srgbClr val="12331F"/>
          </a:solidFill>
          <a:ln w="10160">
            <a:solidFill>
              <a:srgbClr val="2E3B57"/>
            </a:solidFill>
            <a:prstDash val="solid"/>
          </a:ln>
        </p:spPr>
      </p:sp>
      <p:sp>
        <p:nvSpPr>
          <p:cNvPr id="24" name="Text 21"/>
          <p:cNvSpPr/>
          <p:nvPr/>
        </p:nvSpPr>
        <p:spPr>
          <a:xfrm>
            <a:off x="8997696" y="1965960"/>
            <a:ext cx="243230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MEMORY · REFLECTION</a:t>
            </a:r>
            <a:endParaRPr lang="en-US" sz="1150" dirty="0"/>
          </a:p>
        </p:txBody>
      </p:sp>
      <p:sp>
        <p:nvSpPr>
          <p:cNvPr id="25" name="Text 22"/>
          <p:cNvSpPr/>
          <p:nvPr/>
        </p:nvSpPr>
        <p:spPr>
          <a:xfrm>
            <a:off x="8997696" y="2313432"/>
            <a:ext cx="2432304" cy="384048"/>
          </a:xfrm>
          <a:prstGeom prst="rect">
            <a:avLst/>
          </a:prstGeom>
          <a:noFill/>
          <a:ln/>
        </p:spPr>
        <p:txBody>
          <a:bodyPr wrap="square" lIns="0" tIns="0" rIns="0" bIns="0" rtlCol="0" anchor="ctr"/>
          <a:lstStyle/>
          <a:p>
            <a:pPr indent="0" marL="0">
              <a:buNone/>
            </a:pPr>
            <a:r>
              <a:rPr lang="en-US" sz="1400" b="1" dirty="0">
                <a:solidFill>
                  <a:srgbClr val="FFFFFF"/>
                </a:solidFill>
                <a:latin typeface="Microsoft YaHei" pitchFamily="34" charset="0"/>
                <a:ea typeface="Microsoft YaHei" pitchFamily="34" charset="-122"/>
                <a:cs typeface="Microsoft YaHei" pitchFamily="34" charset="-120"/>
              </a:rPr>
              <a:t>生成跨任务方法</a:t>
            </a:r>
            <a:endParaRPr lang="en-US" sz="1400" dirty="0"/>
          </a:p>
        </p:txBody>
      </p:sp>
      <p:sp>
        <p:nvSpPr>
          <p:cNvPr id="26" name="Text 23"/>
          <p:cNvSpPr/>
          <p:nvPr/>
        </p:nvSpPr>
        <p:spPr>
          <a:xfrm>
            <a:off x="8997696" y="2770632"/>
            <a:ext cx="2432304" cy="347472"/>
          </a:xfrm>
          <a:prstGeom prst="rect">
            <a:avLst/>
          </a:prstGeom>
          <a:noFill/>
          <a:ln/>
        </p:spPr>
        <p:txBody>
          <a:bodyPr wrap="square" lIns="0" tIns="0" rIns="0" bIns="0" rtlCol="0" anchor="t"/>
          <a:lstStyle/>
          <a:p>
            <a:pPr indent="0" marL="0">
              <a:buNone/>
            </a:pPr>
            <a:r>
              <a:rPr lang="en-US" sz="1050" dirty="0">
                <a:solidFill>
                  <a:srgbClr val="CFD9E4"/>
                </a:solidFill>
                <a:latin typeface="Microsoft YaHei" pitchFamily="34" charset="0"/>
                <a:ea typeface="Microsoft YaHei" pitchFamily="34" charset="-122"/>
                <a:cs typeface="Microsoft YaHei" pitchFamily="34" charset="-120"/>
              </a:rPr>
              <a:t>Memory System 形成 actor-level reflections</a:t>
            </a:r>
            <a:endParaRPr lang="en-US" sz="1050" dirty="0"/>
          </a:p>
        </p:txBody>
      </p:sp>
      <p:sp>
        <p:nvSpPr>
          <p:cNvPr id="27" name="Shape 24"/>
          <p:cNvSpPr/>
          <p:nvPr/>
        </p:nvSpPr>
        <p:spPr>
          <a:xfrm>
            <a:off x="1572768" y="3794760"/>
            <a:ext cx="3108960" cy="1234440"/>
          </a:xfrm>
          <a:prstGeom prst="roundRect">
            <a:avLst>
              <a:gd name="adj" fmla="val 5926"/>
            </a:avLst>
          </a:prstGeom>
          <a:solidFill>
            <a:srgbClr val="0B1220"/>
          </a:solidFill>
          <a:ln w="10160">
            <a:solidFill>
              <a:srgbClr val="FF6A3D"/>
            </a:solidFill>
            <a:prstDash val="solid"/>
          </a:ln>
        </p:spPr>
      </p:sp>
      <p:sp>
        <p:nvSpPr>
          <p:cNvPr id="28" name="Text 25"/>
          <p:cNvSpPr/>
          <p:nvPr/>
        </p:nvSpPr>
        <p:spPr>
          <a:xfrm>
            <a:off x="1664208" y="3941064"/>
            <a:ext cx="2926080" cy="585216"/>
          </a:xfrm>
          <a:prstGeom prst="rect">
            <a:avLst/>
          </a:prstGeom>
          <a:noFill/>
          <a:ln/>
        </p:spPr>
        <p:txBody>
          <a:bodyPr wrap="square" lIns="0" tIns="0" rIns="0" bIns="0" rtlCol="0" anchor="ctr"/>
          <a:lstStyle/>
          <a:p>
            <a:pPr algn="ctr" indent="0" marL="0">
              <a:buNone/>
            </a:pPr>
            <a:r>
              <a:rPr lang="en-US" sz="3800" b="1" dirty="0">
                <a:solidFill>
                  <a:srgbClr val="FF6A3D"/>
                </a:solidFill>
                <a:latin typeface="Amazon Ember Display" pitchFamily="34" charset="0"/>
                <a:ea typeface="Amazon Ember Display" pitchFamily="34" charset="-122"/>
                <a:cs typeface="Amazon Ember Display" pitchFamily="34" charset="-120"/>
              </a:rPr>
              <a:t>1</a:t>
            </a:r>
            <a:endParaRPr lang="en-US" sz="3800" dirty="0"/>
          </a:p>
        </p:txBody>
      </p:sp>
      <p:sp>
        <p:nvSpPr>
          <p:cNvPr id="29" name="Text 26"/>
          <p:cNvSpPr/>
          <p:nvPr/>
        </p:nvSpPr>
        <p:spPr>
          <a:xfrm>
            <a:off x="1664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System · session-level episode</a:t>
            </a:r>
            <a:endParaRPr lang="en-US" sz="1250" dirty="0"/>
          </a:p>
        </p:txBody>
      </p:sp>
      <p:sp>
        <p:nvSpPr>
          <p:cNvPr id="30" name="Shape 27"/>
          <p:cNvSpPr/>
          <p:nvPr/>
        </p:nvSpPr>
        <p:spPr>
          <a:xfrm>
            <a:off x="5001768" y="3794760"/>
            <a:ext cx="3108960" cy="1234440"/>
          </a:xfrm>
          <a:prstGeom prst="roundRect">
            <a:avLst>
              <a:gd name="adj" fmla="val 5926"/>
            </a:avLst>
          </a:prstGeom>
          <a:solidFill>
            <a:srgbClr val="0B1220"/>
          </a:solidFill>
          <a:ln w="10160">
            <a:solidFill>
              <a:srgbClr val="42B4FF"/>
            </a:solidFill>
            <a:prstDash val="solid"/>
          </a:ln>
        </p:spPr>
      </p:sp>
      <p:sp>
        <p:nvSpPr>
          <p:cNvPr id="31" name="Text 28"/>
          <p:cNvSpPr/>
          <p:nvPr/>
        </p:nvSpPr>
        <p:spPr>
          <a:xfrm>
            <a:off x="5093208" y="3941064"/>
            <a:ext cx="2926080" cy="585216"/>
          </a:xfrm>
          <a:prstGeom prst="rect">
            <a:avLst/>
          </a:prstGeom>
          <a:noFill/>
          <a:ln/>
        </p:spPr>
        <p:txBody>
          <a:bodyPr wrap="square" lIns="0" tIns="0" rIns="0" bIns="0" rtlCol="0" anchor="ctr"/>
          <a:lstStyle/>
          <a:p>
            <a:pPr algn="ctr" indent="0" marL="0">
              <a:buNone/>
            </a:pPr>
            <a:r>
              <a:rPr lang="en-US" sz="3800" b="1" dirty="0">
                <a:solidFill>
                  <a:srgbClr val="42B4FF"/>
                </a:solidFill>
                <a:latin typeface="Amazon Ember Display" pitchFamily="34" charset="0"/>
                <a:ea typeface="Amazon Ember Display" pitchFamily="34" charset="-122"/>
                <a:cs typeface="Amazon Ember Display" pitchFamily="34" charset="-120"/>
              </a:rPr>
              <a:t>2</a:t>
            </a:r>
            <a:endParaRPr lang="en-US" sz="3800" dirty="0"/>
          </a:p>
        </p:txBody>
      </p:sp>
      <p:sp>
        <p:nvSpPr>
          <p:cNvPr id="32" name="Text 29"/>
          <p:cNvSpPr/>
          <p:nvPr/>
        </p:nvSpPr>
        <p:spPr>
          <a:xfrm>
            <a:off x="5093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System · actor-level reflections</a:t>
            </a:r>
            <a:endParaRPr lang="en-US" sz="1250" dirty="0"/>
          </a:p>
        </p:txBody>
      </p:sp>
      <p:sp>
        <p:nvSpPr>
          <p:cNvPr id="33" name="Shape 30"/>
          <p:cNvSpPr/>
          <p:nvPr/>
        </p:nvSpPr>
        <p:spPr>
          <a:xfrm>
            <a:off x="8430768" y="3794760"/>
            <a:ext cx="3108960" cy="1234440"/>
          </a:xfrm>
          <a:prstGeom prst="roundRect">
            <a:avLst>
              <a:gd name="adj" fmla="val 5926"/>
            </a:avLst>
          </a:prstGeom>
          <a:solidFill>
            <a:srgbClr val="0B1220"/>
          </a:solidFill>
          <a:ln w="10160">
            <a:solidFill>
              <a:srgbClr val="00E500"/>
            </a:solidFill>
            <a:prstDash val="solid"/>
          </a:ln>
        </p:spPr>
      </p:sp>
      <p:sp>
        <p:nvSpPr>
          <p:cNvPr id="34" name="Text 31"/>
          <p:cNvSpPr/>
          <p:nvPr/>
        </p:nvSpPr>
        <p:spPr>
          <a:xfrm>
            <a:off x="8522208" y="3941064"/>
            <a:ext cx="2926080" cy="585216"/>
          </a:xfrm>
          <a:prstGeom prst="rect">
            <a:avLst/>
          </a:prstGeom>
          <a:noFill/>
          <a:ln/>
        </p:spPr>
        <p:txBody>
          <a:bodyPr wrap="square" lIns="0" tIns="0" rIns="0" bIns="0" rtlCol="0" anchor="ctr"/>
          <a:lstStyle/>
          <a:p>
            <a:pPr algn="ctr" indent="0" marL="0">
              <a:buNone/>
            </a:pPr>
            <a:r>
              <a:rPr lang="en-US" sz="3800" b="1" dirty="0">
                <a:solidFill>
                  <a:srgbClr val="00E500"/>
                </a:solidFill>
                <a:latin typeface="Amazon Ember Display" pitchFamily="34" charset="0"/>
                <a:ea typeface="Amazon Ember Display" pitchFamily="34" charset="-122"/>
                <a:cs typeface="Amazon Ember Display" pitchFamily="34" charset="-120"/>
              </a:rPr>
              <a:t>新 session</a:t>
            </a:r>
            <a:endParaRPr lang="en-US" sz="3800" dirty="0"/>
          </a:p>
        </p:txBody>
      </p:sp>
      <p:sp>
        <p:nvSpPr>
          <p:cNvPr id="35" name="Text 32"/>
          <p:cNvSpPr/>
          <p:nvPr/>
        </p:nvSpPr>
        <p:spPr>
          <a:xfrm>
            <a:off x="8522208" y="4599432"/>
            <a:ext cx="292608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AgentCore Harness · Retrieval 调用 + 注入</a:t>
            </a:r>
            <a:endParaRPr lang="en-US" sz="1250" dirty="0"/>
          </a:p>
        </p:txBody>
      </p:sp>
      <p:sp>
        <p:nvSpPr>
          <p:cNvPr id="36" name="Shape 33"/>
          <p:cNvSpPr/>
          <p:nvPr/>
        </p:nvSpPr>
        <p:spPr>
          <a:xfrm>
            <a:off x="566928" y="5440680"/>
            <a:ext cx="11064240" cy="777240"/>
          </a:xfrm>
          <a:prstGeom prst="roundRect">
            <a:avLst>
              <a:gd name="adj" fmla="val 9412"/>
            </a:avLst>
          </a:prstGeom>
          <a:solidFill>
            <a:srgbClr val="0B1220"/>
          </a:solidFill>
          <a:ln w="10160">
            <a:solidFill>
              <a:srgbClr val="42B4FF"/>
            </a:solidFill>
            <a:prstDash val="solid"/>
          </a:ln>
        </p:spPr>
      </p:sp>
      <p:sp>
        <p:nvSpPr>
          <p:cNvPr id="37" name="Text 34"/>
          <p:cNvSpPr/>
          <p:nvPr/>
        </p:nvSpPr>
        <p:spPr>
          <a:xfrm>
            <a:off x="822960" y="5440680"/>
            <a:ext cx="10552176" cy="777240"/>
          </a:xfrm>
          <a:prstGeom prst="rect">
            <a:avLst/>
          </a:prstGeom>
          <a:noFill/>
          <a:ln/>
        </p:spPr>
        <p:txBody>
          <a:bodyPr wrap="square" lIns="0" tIns="0" rIns="0" bIns="0" rtlCol="0" anchor="ctr"/>
          <a:lstStyle/>
          <a:p>
            <a:pPr algn="ctr" indent="0" marL="0">
              <a:buNone/>
            </a:pPr>
            <a:r>
              <a:rPr lang="en-US" sz="1650" b="1" dirty="0">
                <a:solidFill>
                  <a:srgbClr val="42B4FF"/>
                </a:solidFill>
                <a:latin typeface="Amazon Ember Display" pitchFamily="34" charset="0"/>
                <a:ea typeface="Amazon Ember Display" pitchFamily="34" charset="-122"/>
                <a:cs typeface="Amazon Ember Display" pitchFamily="34" charset="-120"/>
              </a:rPr>
              <a:t>Memory System：检索 actor Records　|　AgentCore Harness：注入上下文　|　接收方：新 Harness Agent</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2 · REAL MEMORY</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12</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Memory System · EPISODIC 实际生成的 Records</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Memory System 在 Consolidation 阶段生成 session-level episode，在 Reflection 阶段生成 actor-level reflections。</a:t>
            </a:r>
            <a:endParaRPr lang="en-US" sz="1400" dirty="0"/>
          </a:p>
        </p:txBody>
      </p:sp>
      <p:sp>
        <p:nvSpPr>
          <p:cNvPr id="8" name="Shape 5"/>
          <p:cNvSpPr/>
          <p:nvPr/>
        </p:nvSpPr>
        <p:spPr>
          <a:xfrm>
            <a:off x="566928" y="1664208"/>
            <a:ext cx="3657600" cy="3931920"/>
          </a:xfrm>
          <a:prstGeom prst="roundRect">
            <a:avLst>
              <a:gd name="adj" fmla="val 2000"/>
            </a:avLst>
          </a:prstGeom>
          <a:solidFill>
            <a:srgbClr val="0C3440"/>
          </a:solidFill>
          <a:ln w="10160">
            <a:solidFill>
              <a:srgbClr val="2E3B57"/>
            </a:solidFill>
            <a:prstDash val="solid"/>
          </a:ln>
        </p:spPr>
      </p:sp>
      <p:sp>
        <p:nvSpPr>
          <p:cNvPr id="9" name="Text 6"/>
          <p:cNvSpPr/>
          <p:nvPr/>
        </p:nvSpPr>
        <p:spPr>
          <a:xfrm>
            <a:off x="768096" y="1801368"/>
            <a:ext cx="3255264"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MEMORY SYSTEM · EPISODE RECORD</a:t>
            </a:r>
            <a:endParaRPr lang="en-US" sz="1150" dirty="0"/>
          </a:p>
        </p:txBody>
      </p:sp>
      <p:sp>
        <p:nvSpPr>
          <p:cNvPr id="10" name="Text 7"/>
          <p:cNvSpPr/>
          <p:nvPr/>
        </p:nvSpPr>
        <p:spPr>
          <a:xfrm>
            <a:off x="768096" y="2148840"/>
            <a:ext cx="325526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两阶段流程设计有效</a:t>
            </a:r>
            <a:endParaRPr lang="en-US" sz="1700" dirty="0"/>
          </a:p>
        </p:txBody>
      </p:sp>
      <p:sp>
        <p:nvSpPr>
          <p:cNvPr id="11" name="Text 8"/>
          <p:cNvSpPr/>
          <p:nvPr/>
        </p:nvSpPr>
        <p:spPr>
          <a:xfrm>
            <a:off x="768096" y="2606040"/>
            <a:ext cx="3255264" cy="28620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先输出 self_review 再执行修订，避免一次性处理复杂文档时遗漏问题。</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对于 OCR 错误、章节跳号、重复表格和图片内容，分阶段结构化抽取是推荐模式。</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不可完整提取的内容应显式说明限制。</a:t>
            </a:r>
            <a:endParaRPr lang="en-US" sz="1300" dirty="0"/>
          </a:p>
        </p:txBody>
      </p:sp>
      <p:sp>
        <p:nvSpPr>
          <p:cNvPr id="12" name="Shape 9"/>
          <p:cNvSpPr/>
          <p:nvPr/>
        </p:nvSpPr>
        <p:spPr>
          <a:xfrm>
            <a:off x="4453128" y="1664208"/>
            <a:ext cx="3520440" cy="3931920"/>
          </a:xfrm>
          <a:prstGeom prst="roundRect">
            <a:avLst>
              <a:gd name="adj" fmla="val 2078"/>
            </a:avLst>
          </a:prstGeom>
          <a:solidFill>
            <a:srgbClr val="2A2418"/>
          </a:solidFill>
          <a:ln w="10160">
            <a:solidFill>
              <a:srgbClr val="2E3B57"/>
            </a:solidFill>
            <a:prstDash val="solid"/>
          </a:ln>
        </p:spPr>
      </p:sp>
      <p:sp>
        <p:nvSpPr>
          <p:cNvPr id="13" name="Text 10"/>
          <p:cNvSpPr/>
          <p:nvPr/>
        </p:nvSpPr>
        <p:spPr>
          <a:xfrm>
            <a:off x="4654296" y="1801368"/>
            <a:ext cx="3118104" cy="256032"/>
          </a:xfrm>
          <a:prstGeom prst="rect">
            <a:avLst/>
          </a:prstGeom>
          <a:noFill/>
          <a:ln/>
        </p:spPr>
        <p:txBody>
          <a:bodyPr wrap="square" lIns="0" tIns="0" rIns="0" bIns="0" rtlCol="0" anchor="ctr"/>
          <a:lstStyle/>
          <a:p>
            <a:pPr indent="0" marL="0">
              <a:buNone/>
            </a:pPr>
            <a:r>
              <a:rPr lang="en-US" sz="1150" b="1" dirty="0">
                <a:solidFill>
                  <a:srgbClr val="FF6A3D"/>
                </a:solidFill>
                <a:latin typeface="Amazon Ember Display" pitchFamily="34" charset="0"/>
                <a:ea typeface="Amazon Ember Display" pitchFamily="34" charset="-122"/>
                <a:cs typeface="Amazon Ember Display" pitchFamily="34" charset="-120"/>
              </a:rPr>
              <a:t>MEMORY SYSTEM · ACTOR REFLECTION 1</a:t>
            </a:r>
            <a:endParaRPr lang="en-US" sz="1150" dirty="0"/>
          </a:p>
        </p:txBody>
      </p:sp>
      <p:sp>
        <p:nvSpPr>
          <p:cNvPr id="14" name="Text 11"/>
          <p:cNvSpPr/>
          <p:nvPr/>
        </p:nvSpPr>
        <p:spPr>
          <a:xfrm>
            <a:off x="4654296" y="2148840"/>
            <a:ext cx="311810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Two-Phase Structured Extraction</a:t>
            </a:r>
            <a:endParaRPr lang="en-US" sz="1500" dirty="0"/>
          </a:p>
        </p:txBody>
      </p:sp>
      <p:sp>
        <p:nvSpPr>
          <p:cNvPr id="15" name="Text 12"/>
          <p:cNvSpPr/>
          <p:nvPr/>
        </p:nvSpPr>
        <p:spPr>
          <a:xfrm>
            <a:off x="4654296" y="2606040"/>
            <a:ext cx="3118104" cy="2862072"/>
          </a:xfrm>
          <a:prstGeom prst="rect">
            <a:avLst/>
          </a:prstGeom>
          <a:noFill/>
          <a:ln/>
        </p:spPr>
        <p:txBody>
          <a:bodyPr wrap="square" lIns="0" tIns="0" rIns="0" bIns="0" rtlCol="0" anchor="t"/>
          <a:lstStyle/>
          <a:p>
            <a:pPr indent="0" marL="0">
              <a:buNone/>
            </a:pPr>
            <a:r>
              <a:rPr lang="en-US" sz="1280" dirty="0">
                <a:solidFill>
                  <a:srgbClr val="CFD9E4"/>
                </a:solidFill>
                <a:latin typeface="Microsoft YaHei" pitchFamily="34" charset="0"/>
                <a:ea typeface="Microsoft YaHei" pitchFamily="34" charset="-122"/>
                <a:cs typeface="Microsoft YaHei" pitchFamily="34" charset="-120"/>
              </a:rPr>
              <a:t>Phase 1:</a:t>
            </a: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coverage / omissions / format / granularity</a:t>
            </a:r>
            <a:endParaRPr lang="en-US" sz="1280" dirty="0"/>
          </a:p>
          <a:p>
            <a:pPr indent="0" marL="0">
              <a:buNone/>
            </a:pP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Phase 2:</a:t>
            </a: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execute next_actions systematically</a:t>
            </a:r>
            <a:endParaRPr lang="en-US" sz="1280" dirty="0"/>
          </a:p>
          <a:p>
            <a:pPr indent="0" marL="0">
              <a:buNone/>
            </a:pPr>
            <a:endParaRPr lang="en-US" sz="1280" dirty="0"/>
          </a:p>
          <a:p>
            <a:pPr indent="0" marL="0">
              <a:buNone/>
            </a:pPr>
            <a:r>
              <a:rPr lang="en-US" sz="1280" dirty="0">
                <a:solidFill>
                  <a:srgbClr val="CFD9E4"/>
                </a:solidFill>
                <a:latin typeface="Microsoft YaHei" pitchFamily="34" charset="0"/>
                <a:ea typeface="Microsoft YaHei" pitchFamily="34" charset="-122"/>
                <a:cs typeface="Microsoft YaHei" pitchFamily="34" charset="-120"/>
              </a:rPr>
              <a:t>保留原文用于追溯。</a:t>
            </a:r>
            <a:endParaRPr lang="en-US" sz="1280" dirty="0"/>
          </a:p>
        </p:txBody>
      </p:sp>
      <p:sp>
        <p:nvSpPr>
          <p:cNvPr id="16" name="Shape 13"/>
          <p:cNvSpPr/>
          <p:nvPr/>
        </p:nvSpPr>
        <p:spPr>
          <a:xfrm>
            <a:off x="8202168" y="1664208"/>
            <a:ext cx="3429000" cy="3931920"/>
          </a:xfrm>
          <a:prstGeom prst="roundRect">
            <a:avLst>
              <a:gd name="adj" fmla="val 2133"/>
            </a:avLst>
          </a:prstGeom>
          <a:solidFill>
            <a:srgbClr val="12331F"/>
          </a:solidFill>
          <a:ln w="10160">
            <a:solidFill>
              <a:srgbClr val="2E3B57"/>
            </a:solidFill>
            <a:prstDash val="solid"/>
          </a:ln>
        </p:spPr>
      </p:sp>
      <p:sp>
        <p:nvSpPr>
          <p:cNvPr id="17" name="Text 14"/>
          <p:cNvSpPr/>
          <p:nvPr/>
        </p:nvSpPr>
        <p:spPr>
          <a:xfrm>
            <a:off x="8403336" y="1801368"/>
            <a:ext cx="302666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MEMORY SYSTEM · ACTOR REFLECTION 2</a:t>
            </a:r>
            <a:endParaRPr lang="en-US" sz="1150" dirty="0"/>
          </a:p>
        </p:txBody>
      </p:sp>
      <p:sp>
        <p:nvSpPr>
          <p:cNvPr id="18" name="Text 15"/>
          <p:cNvSpPr/>
          <p:nvPr/>
        </p:nvSpPr>
        <p:spPr>
          <a:xfrm>
            <a:off x="8403336" y="2148840"/>
            <a:ext cx="3026664"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Inline Annotation</a:t>
            </a:r>
            <a:endParaRPr lang="en-US" sz="1500" dirty="0"/>
          </a:p>
        </p:txBody>
      </p:sp>
      <p:sp>
        <p:nvSpPr>
          <p:cNvPr id="19" name="Text 16"/>
          <p:cNvSpPr/>
          <p:nvPr/>
        </p:nvSpPr>
        <p:spPr>
          <a:xfrm>
            <a:off x="8403336" y="2606040"/>
            <a:ext cx="3026664" cy="286207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遇到 OCR 错误或表格冲突时：</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不静默丢弃</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保留原文</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标记冲突值</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文档级限制写入 __META__</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3</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13</a:t>
            </a:r>
            <a:endParaRPr lang="en-US" sz="1050" dirty="0"/>
          </a:p>
        </p:txBody>
      </p:sp>
      <p:sp>
        <p:nvSpPr>
          <p:cNvPr id="6" name="Text 3"/>
          <p:cNvSpPr/>
          <p:nvPr/>
        </p:nvSpPr>
        <p:spPr>
          <a:xfrm>
            <a:off x="566928" y="1115568"/>
            <a:ext cx="2057400" cy="1234440"/>
          </a:xfrm>
          <a:prstGeom prst="rect">
            <a:avLst/>
          </a:prstGeom>
          <a:noFill/>
          <a:ln/>
        </p:spPr>
        <p:txBody>
          <a:bodyPr wrap="square" lIns="0" tIns="0" rIns="0" bIns="0" rtlCol="0" anchor="ctr"/>
          <a:lstStyle/>
          <a:p>
            <a:pPr indent="0" marL="0">
              <a:buNone/>
            </a:pPr>
            <a:r>
              <a:rPr lang="en-US" sz="7200" b="1" dirty="0">
                <a:solidFill>
                  <a:srgbClr val="00E500"/>
                </a:solidFill>
                <a:latin typeface="Amazon Ember Display" pitchFamily="34" charset="0"/>
                <a:ea typeface="Amazon Ember Display" pitchFamily="34" charset="-122"/>
                <a:cs typeface="Amazon Ember Display" pitchFamily="34" charset="-120"/>
              </a:rPr>
              <a:t>03</a:t>
            </a:r>
            <a:endParaRPr lang="en-US" sz="7200" dirty="0"/>
          </a:p>
        </p:txBody>
      </p:sp>
      <p:sp>
        <p:nvSpPr>
          <p:cNvPr id="7" name="Text 4"/>
          <p:cNvSpPr/>
          <p:nvPr/>
        </p:nvSpPr>
        <p:spPr>
          <a:xfrm>
            <a:off x="2898648" y="1188720"/>
            <a:ext cx="8503920" cy="74980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Application 启动留出实验：只改变 Retrieval 开关</a:t>
            </a:r>
            <a:endParaRPr lang="en-US" sz="2700" dirty="0"/>
          </a:p>
        </p:txBody>
      </p:sp>
      <p:sp>
        <p:nvSpPr>
          <p:cNvPr id="8" name="Text 5"/>
          <p:cNvSpPr/>
          <p:nvPr/>
        </p:nvSpPr>
        <p:spPr>
          <a:xfrm>
            <a:off x="2926080" y="2057400"/>
            <a:ext cx="8229600" cy="658368"/>
          </a:xfrm>
          <a:prstGeom prst="rect">
            <a:avLst/>
          </a:prstGeom>
          <a:noFill/>
          <a:ln/>
        </p:spPr>
        <p:txBody>
          <a:bodyPr wrap="square" lIns="0" tIns="0" rIns="0" bIns="0" rtlCol="0" anchor="ctr"/>
          <a:lstStyle/>
          <a:p>
            <a:pPr indent="0" marL="0">
              <a:buNone/>
            </a:pPr>
            <a:r>
              <a:rPr lang="en-US" sz="1800" dirty="0">
                <a:solidFill>
                  <a:srgbClr val="CFD9E4"/>
                </a:solidFill>
                <a:latin typeface="Microsoft YaHei" pitchFamily="34" charset="0"/>
                <a:ea typeface="Microsoft YaHei" pitchFamily="34" charset="-122"/>
                <a:cs typeface="Microsoft YaHei" pitchFamily="34" charset="-120"/>
              </a:rPr>
              <a:t>Application 为同一电机图纸创建两组 fresh sessions；Harness Agent 使用相同配置执行抽取。</a:t>
            </a:r>
            <a:endParaRPr lang="en-US" sz="1800" dirty="0"/>
          </a:p>
        </p:txBody>
      </p:sp>
      <p:sp>
        <p:nvSpPr>
          <p:cNvPr id="9" name="Shape 6"/>
          <p:cNvSpPr/>
          <p:nvPr/>
        </p:nvSpPr>
        <p:spPr>
          <a:xfrm>
            <a:off x="566928" y="3127248"/>
            <a:ext cx="11064240" cy="1508760"/>
          </a:xfrm>
          <a:prstGeom prst="roundRect">
            <a:avLst>
              <a:gd name="adj" fmla="val 4848"/>
            </a:avLst>
          </a:prstGeom>
          <a:solidFill>
            <a:srgbClr val="0B1220"/>
          </a:solidFill>
          <a:ln w="10160">
            <a:solidFill>
              <a:srgbClr val="00E500"/>
            </a:solidFill>
            <a:prstDash val="solid"/>
          </a:ln>
        </p:spPr>
      </p:sp>
      <p:sp>
        <p:nvSpPr>
          <p:cNvPr id="10" name="Text 7"/>
          <p:cNvSpPr/>
          <p:nvPr/>
        </p:nvSpPr>
        <p:spPr>
          <a:xfrm>
            <a:off x="978408" y="3127248"/>
            <a:ext cx="10241280" cy="1508760"/>
          </a:xfrm>
          <a:prstGeom prst="rect">
            <a:avLst/>
          </a:prstGeom>
          <a:noFill/>
          <a:ln/>
        </p:spPr>
        <p:txBody>
          <a:bodyPr wrap="square" lIns="0" tIns="0" rIns="0" bIns="0" rtlCol="0" anchor="ctr"/>
          <a:lstStyle/>
          <a:p>
            <a:pPr algn="ctr" indent="0" marL="0">
              <a:buNone/>
            </a:pPr>
            <a:r>
              <a:rPr lang="en-US" sz="2000" b="1" dirty="0">
                <a:solidFill>
                  <a:srgbClr val="00E500"/>
                </a:solidFill>
                <a:latin typeface="Microsoft YaHei" pitchFamily="34" charset="0"/>
                <a:ea typeface="Microsoft YaHei" pitchFamily="34" charset="-122"/>
                <a:cs typeface="Microsoft YaHei" pitchFamily="34" charset="-120"/>
              </a:rPr>
              <a:t>实验边界：enabled 组由 Memory System 执行 Retrieval、AgentCore Harness 注入 Records；disabled 组不接收 Records。</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3 · CONTROL</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14</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500" b="1" dirty="0">
                <a:solidFill>
                  <a:srgbClr val="FFFFFF"/>
                </a:solidFill>
                <a:latin typeface="Amazon Ember Display" pitchFamily="34" charset="0"/>
                <a:ea typeface="Amazon Ember Display" pitchFamily="34" charset="-122"/>
                <a:cs typeface="Amazon Ember Display" pitchFamily="34" charset="-120"/>
              </a:rPr>
              <a:t>Application 控制变量；Harness Agent 执行目标抽取</a:t>
            </a:r>
            <a:endParaRPr lang="en-US" sz="25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固定两组配置；enabled 组由 Memory System 检索 Records、AgentCore Harness 注入上下文。</a:t>
            </a:r>
            <a:endParaRPr lang="en-US" sz="1400" dirty="0"/>
          </a:p>
        </p:txBody>
      </p:sp>
      <p:sp>
        <p:nvSpPr>
          <p:cNvPr id="8" name="Shape 5"/>
          <p:cNvSpPr/>
          <p:nvPr/>
        </p:nvSpPr>
        <p:spPr>
          <a:xfrm>
            <a:off x="566928" y="1627632"/>
            <a:ext cx="5440680" cy="3566160"/>
          </a:xfrm>
          <a:prstGeom prst="roundRect">
            <a:avLst>
              <a:gd name="adj" fmla="val 2051"/>
            </a:avLst>
          </a:prstGeom>
          <a:solidFill>
            <a:srgbClr val="1C2740"/>
          </a:solidFill>
          <a:ln w="10160">
            <a:solidFill>
              <a:srgbClr val="2E3B57"/>
            </a:solidFill>
            <a:prstDash val="solid"/>
          </a:ln>
        </p:spPr>
      </p:sp>
      <p:sp>
        <p:nvSpPr>
          <p:cNvPr id="9" name="Text 6"/>
          <p:cNvSpPr/>
          <p:nvPr/>
        </p:nvSpPr>
        <p:spPr>
          <a:xfrm>
            <a:off x="749808" y="1755648"/>
            <a:ext cx="5074920" cy="256032"/>
          </a:xfrm>
          <a:prstGeom prst="rect">
            <a:avLst/>
          </a:prstGeom>
          <a:noFill/>
          <a:ln/>
        </p:spPr>
        <p:txBody>
          <a:bodyPr wrap="square" lIns="0" tIns="0" rIns="0" bIns="0" rtlCol="0" anchor="ctr"/>
          <a:lstStyle/>
          <a:p>
            <a:pPr indent="0" marL="0">
              <a:buNone/>
            </a:pPr>
            <a:r>
              <a:rPr lang="en-US" sz="1150" b="1" dirty="0">
                <a:solidFill>
                  <a:srgbClr val="42B4FF"/>
                </a:solidFill>
                <a:latin typeface="Amazon Ember Display" pitchFamily="34" charset="0"/>
                <a:ea typeface="Amazon Ember Display" pitchFamily="34" charset="-122"/>
                <a:cs typeface="Amazon Ember Display" pitchFamily="34" charset="-120"/>
              </a:rPr>
              <a:t>APPLICATION 提供 → HARNESS AGENT 执行</a:t>
            </a:r>
            <a:endParaRPr lang="en-US" sz="1150" dirty="0"/>
          </a:p>
        </p:txBody>
      </p:sp>
      <p:sp>
        <p:nvSpPr>
          <p:cNvPr id="10" name="Shape 7"/>
          <p:cNvSpPr/>
          <p:nvPr/>
        </p:nvSpPr>
        <p:spPr>
          <a:xfrm>
            <a:off x="749808" y="2084832"/>
            <a:ext cx="5074920" cy="2953512"/>
          </a:xfrm>
          <a:prstGeom prst="roundRect">
            <a:avLst>
              <a:gd name="adj" fmla="val 2477"/>
            </a:avLst>
          </a:prstGeom>
          <a:solidFill>
            <a:srgbClr val="0B1220"/>
          </a:solidFill>
          <a:ln w="10160">
            <a:solidFill>
              <a:srgbClr val="2E3B57"/>
            </a:solidFill>
            <a:prstDash val="solid"/>
          </a:ln>
        </p:spPr>
      </p:sp>
      <p:sp>
        <p:nvSpPr>
          <p:cNvPr id="11" name="Text 8"/>
          <p:cNvSpPr/>
          <p:nvPr/>
        </p:nvSpPr>
        <p:spPr>
          <a:xfrm>
            <a:off x="859536" y="2157984"/>
            <a:ext cx="4855464" cy="2816352"/>
          </a:xfrm>
          <a:prstGeom prst="rect">
            <a:avLst/>
          </a:prstGeom>
          <a:noFill/>
          <a:ln/>
        </p:spPr>
        <p:txBody>
          <a:bodyPr wrap="square" lIns="0" tIns="0" rIns="0" bIns="0" rtlCol="0" anchor="t"/>
          <a:lstStyle/>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根据用户文档抽取所有可识别的技术要求/参数。</a:t>
            </a:r>
            <a:endParaRPr lang="en-US" sz="1130" dirty="0"/>
          </a:p>
          <a:p>
            <a:pPr indent="0" marL="0">
              <a:buNone/>
            </a:pP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每条输出：</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设备主体 / 设备部件 / 指标名称 /</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指标特征 / 原文。</a:t>
            </a:r>
            <a:endParaRPr lang="en-US" sz="1130" dirty="0"/>
          </a:p>
          <a:p>
            <a:pPr indent="0" marL="0">
              <a:buNone/>
            </a:pP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先在内部自审覆盖、遗漏、格式和粒度，</a:t>
            </a:r>
            <a:endParaRPr lang="en-US" sz="1130" dirty="0"/>
          </a:p>
          <a:p>
            <a:pPr indent="0" marL="0">
              <a:buNone/>
            </a:pPr>
            <a:r>
              <a:rPr lang="en-US" sz="1130" dirty="0">
                <a:solidFill>
                  <a:srgbClr val="CFD9E4"/>
                </a:solidFill>
                <a:latin typeface="Amazon Ember Mono" pitchFamily="34" charset="0"/>
                <a:ea typeface="Amazon Ember Mono" pitchFamily="34" charset="-122"/>
                <a:cs typeface="Amazon Ember Mono" pitchFamily="34" charset="-120"/>
              </a:rPr>
              <a:t>再只输出最终合法 JSON。</a:t>
            </a:r>
            <a:endParaRPr lang="en-US" sz="1130" dirty="0"/>
          </a:p>
        </p:txBody>
      </p:sp>
      <p:sp>
        <p:nvSpPr>
          <p:cNvPr id="12" name="Shape 9"/>
          <p:cNvSpPr/>
          <p:nvPr/>
        </p:nvSpPr>
        <p:spPr>
          <a:xfrm>
            <a:off x="6236208" y="1627632"/>
            <a:ext cx="5394960" cy="3566160"/>
          </a:xfrm>
          <a:prstGeom prst="roundRect">
            <a:avLst>
              <a:gd name="adj" fmla="val 2051"/>
            </a:avLst>
          </a:prstGeom>
          <a:solidFill>
            <a:srgbClr val="1C2740"/>
          </a:solidFill>
          <a:ln w="10160">
            <a:solidFill>
              <a:srgbClr val="2E3B57"/>
            </a:solidFill>
            <a:prstDash val="solid"/>
          </a:ln>
        </p:spPr>
      </p:sp>
      <p:sp>
        <p:nvSpPr>
          <p:cNvPr id="13" name="Text 10"/>
          <p:cNvSpPr/>
          <p:nvPr/>
        </p:nvSpPr>
        <p:spPr>
          <a:xfrm>
            <a:off x="6437376" y="1764792"/>
            <a:ext cx="4992624"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APPLICATION · 实验控制</a:t>
            </a:r>
            <a:endParaRPr lang="en-US" sz="1150" dirty="0"/>
          </a:p>
        </p:txBody>
      </p:sp>
      <p:sp>
        <p:nvSpPr>
          <p:cNvPr id="14" name="Text 11"/>
          <p:cNvSpPr/>
          <p:nvPr/>
        </p:nvSpPr>
        <p:spPr>
          <a:xfrm>
            <a:off x="6437376" y="2112264"/>
            <a:ext cx="4992624" cy="384048"/>
          </a:xfrm>
          <a:prstGeom prst="rect">
            <a:avLst/>
          </a:prstGeom>
          <a:noFill/>
          <a:ln/>
        </p:spPr>
        <p:txBody>
          <a:bodyPr wrap="square" lIns="0" tIns="0" rIns="0" bIns="0" rtlCol="0" anchor="ctr"/>
          <a:lstStyle/>
          <a:p>
            <a:pPr indent="0" marL="0">
              <a:buNone/>
            </a:pPr>
            <a:r>
              <a:rPr lang="en-US" sz="1700" b="1" dirty="0">
                <a:solidFill>
                  <a:srgbClr val="FFFFFF"/>
                </a:solidFill>
                <a:latin typeface="Microsoft YaHei" pitchFamily="34" charset="0"/>
                <a:ea typeface="Microsoft YaHei" pitchFamily="34" charset="-122"/>
                <a:cs typeface="Microsoft YaHei" pitchFamily="34" charset="-120"/>
              </a:rPr>
              <a:t>Application 固定 Harness Agent 配置</a:t>
            </a:r>
            <a:endParaRPr lang="en-US" sz="1700" dirty="0"/>
          </a:p>
        </p:txBody>
      </p:sp>
      <p:sp>
        <p:nvSpPr>
          <p:cNvPr id="15" name="Text 12"/>
          <p:cNvSpPr/>
          <p:nvPr/>
        </p:nvSpPr>
        <p:spPr>
          <a:xfrm>
            <a:off x="6437376" y="2569464"/>
            <a:ext cx="4992624" cy="2496312"/>
          </a:xfrm>
          <a:prstGeom prst="rect">
            <a:avLst/>
          </a:prstGeom>
          <a:noFill/>
          <a:ln/>
        </p:spPr>
        <p:txBody>
          <a:bodyPr wrap="square" lIns="0" tIns="0" rIns="0" bIns="0" rtlCol="0" anchor="t"/>
          <a:lstStyle/>
          <a:p>
            <a:pPr indent="0" marL="0">
              <a:buNone/>
            </a:pPr>
            <a:r>
              <a:rPr lang="en-US" sz="1300" dirty="0">
                <a:solidFill>
                  <a:srgbClr val="CFD9E4"/>
                </a:solidFill>
                <a:latin typeface="Microsoft YaHei" pitchFamily="34" charset="0"/>
                <a:ea typeface="Microsoft YaHei" pitchFamily="34" charset="-122"/>
                <a:cs typeface="Microsoft YaHei" pitchFamily="34" charset="-120"/>
              </a:rPr>
              <a:t>· 同一测试文档与 system prompt</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claude-sonnet-4-6</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temperature=0 · maxTokens=32768</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skills=[] · tools=[]</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 两组均使用全新 session</a:t>
            </a:r>
            <a:endParaRPr lang="en-US" sz="1300" dirty="0"/>
          </a:p>
          <a:p>
            <a:pPr indent="0" marL="0">
              <a:buNone/>
            </a:pP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Enabled：Memory Retrieval + Harness Injection</a:t>
            </a:r>
            <a:endParaRPr lang="en-US" sz="1300" dirty="0"/>
          </a:p>
          <a:p>
            <a:pPr indent="0" marL="0">
              <a:buNone/>
            </a:pPr>
            <a:r>
              <a:rPr lang="en-US" sz="1300" dirty="0">
                <a:solidFill>
                  <a:srgbClr val="CFD9E4"/>
                </a:solidFill>
                <a:latin typeface="Microsoft YaHei" pitchFamily="34" charset="0"/>
                <a:ea typeface="Microsoft YaHei" pitchFamily="34" charset="-122"/>
                <a:cs typeface="Microsoft YaHei" pitchFamily="34" charset="-120"/>
              </a:rPr>
              <a:t>Disabled：不检索、不注入历史 Records</a:t>
            </a:r>
            <a:endParaRPr lang="en-US" sz="1300" dirty="0"/>
          </a:p>
        </p:txBody>
      </p:sp>
      <p:sp>
        <p:nvSpPr>
          <p:cNvPr id="16" name="Shape 13"/>
          <p:cNvSpPr/>
          <p:nvPr/>
        </p:nvSpPr>
        <p:spPr>
          <a:xfrm>
            <a:off x="566928" y="5440680"/>
            <a:ext cx="11064240" cy="777240"/>
          </a:xfrm>
          <a:prstGeom prst="roundRect">
            <a:avLst>
              <a:gd name="adj" fmla="val 9412"/>
            </a:avLst>
          </a:prstGeom>
          <a:solidFill>
            <a:srgbClr val="0B1220"/>
          </a:solidFill>
          <a:ln w="10160">
            <a:solidFill>
              <a:srgbClr val="00E500"/>
            </a:solidFill>
            <a:prstDash val="solid"/>
          </a:ln>
        </p:spPr>
      </p:sp>
      <p:sp>
        <p:nvSpPr>
          <p:cNvPr id="17" name="Text 14"/>
          <p:cNvSpPr/>
          <p:nvPr/>
        </p:nvSpPr>
        <p:spPr>
          <a:xfrm>
            <a:off x="822960" y="5440680"/>
            <a:ext cx="10552176" cy="777240"/>
          </a:xfrm>
          <a:prstGeom prst="rect">
            <a:avLst/>
          </a:prstGeom>
          <a:noFill/>
          <a:ln/>
        </p:spPr>
        <p:txBody>
          <a:bodyPr wrap="square" lIns="0" tIns="0" rIns="0" bIns="0" rtlCol="0" anchor="ctr"/>
          <a:lstStyle/>
          <a:p>
            <a:pPr algn="ctr" indent="0" marL="0">
              <a:buNone/>
            </a:pPr>
            <a:r>
              <a:rPr lang="en-US" sz="1650" b="1" dirty="0">
                <a:solidFill>
                  <a:srgbClr val="00E500"/>
                </a:solidFill>
                <a:latin typeface="Amazon Ember Display" pitchFamily="34" charset="0"/>
                <a:ea typeface="Amazon Ember Display" pitchFamily="34" charset="-122"/>
                <a:cs typeface="Amazon Ember Display" pitchFamily="34" charset="-120"/>
              </a:rPr>
              <a:t>Application 控制变量　|　Memory System 检索　|　AgentCore Harness 注入　|　Harness Agent 抽取</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3 · KEY RESULT</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15</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Harness Agent 结果：31 vs 11</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Enabled 组由 Memory System 检索 EPISODIC Records、AgentCore Harness 注入；两组 Harness Agent 使用相同 Prompt。</a:t>
            </a:r>
            <a:endParaRPr lang="en-US" sz="1400" dirty="0"/>
          </a:p>
        </p:txBody>
      </p:sp>
      <p:sp>
        <p:nvSpPr>
          <p:cNvPr id="8" name="Shape 5"/>
          <p:cNvSpPr/>
          <p:nvPr/>
        </p:nvSpPr>
        <p:spPr>
          <a:xfrm>
            <a:off x="566928" y="1627632"/>
            <a:ext cx="4434840" cy="1234440"/>
          </a:xfrm>
          <a:prstGeom prst="roundRect">
            <a:avLst>
              <a:gd name="adj" fmla="val 5926"/>
            </a:avLst>
          </a:prstGeom>
          <a:solidFill>
            <a:srgbClr val="0B1220"/>
          </a:solidFill>
          <a:ln w="10160">
            <a:solidFill>
              <a:srgbClr val="00E500"/>
            </a:solidFill>
            <a:prstDash val="solid"/>
          </a:ln>
        </p:spPr>
      </p:sp>
      <p:sp>
        <p:nvSpPr>
          <p:cNvPr id="9" name="Text 6"/>
          <p:cNvSpPr/>
          <p:nvPr/>
        </p:nvSpPr>
        <p:spPr>
          <a:xfrm>
            <a:off x="658368" y="1773936"/>
            <a:ext cx="4251960" cy="585216"/>
          </a:xfrm>
          <a:prstGeom prst="rect">
            <a:avLst/>
          </a:prstGeom>
          <a:noFill/>
          <a:ln/>
        </p:spPr>
        <p:txBody>
          <a:bodyPr wrap="square" lIns="0" tIns="0" rIns="0" bIns="0" rtlCol="0" anchor="ctr"/>
          <a:lstStyle/>
          <a:p>
            <a:pPr algn="ctr" indent="0" marL="0">
              <a:buNone/>
            </a:pPr>
            <a:r>
              <a:rPr lang="en-US" sz="3800" b="1" dirty="0">
                <a:solidFill>
                  <a:srgbClr val="00E500"/>
                </a:solidFill>
                <a:latin typeface="Amazon Ember Display" pitchFamily="34" charset="0"/>
                <a:ea typeface="Amazon Ember Display" pitchFamily="34" charset="-122"/>
                <a:cs typeface="Amazon Ember Display" pitchFamily="34" charset="-120"/>
              </a:rPr>
              <a:t>31 条</a:t>
            </a:r>
            <a:endParaRPr lang="en-US" sz="3800" dirty="0"/>
          </a:p>
        </p:txBody>
      </p:sp>
      <p:sp>
        <p:nvSpPr>
          <p:cNvPr id="10" name="Text 7"/>
          <p:cNvSpPr/>
          <p:nvPr/>
        </p:nvSpPr>
        <p:spPr>
          <a:xfrm>
            <a:off x="658368" y="2432304"/>
            <a:ext cx="425196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enabled</a:t>
            </a:r>
            <a:endParaRPr lang="en-US" sz="1250" dirty="0"/>
          </a:p>
        </p:txBody>
      </p:sp>
      <p:sp>
        <p:nvSpPr>
          <p:cNvPr id="11" name="Text 8"/>
          <p:cNvSpPr/>
          <p:nvPr/>
        </p:nvSpPr>
        <p:spPr>
          <a:xfrm>
            <a:off x="5184648" y="1901952"/>
            <a:ext cx="1234440" cy="530352"/>
          </a:xfrm>
          <a:prstGeom prst="rect">
            <a:avLst/>
          </a:prstGeom>
          <a:noFill/>
          <a:ln/>
        </p:spPr>
        <p:txBody>
          <a:bodyPr wrap="square" lIns="0" tIns="0" rIns="0" bIns="0" rtlCol="0" anchor="ctr"/>
          <a:lstStyle/>
          <a:p>
            <a:pPr algn="ctr" indent="0" marL="0">
              <a:buNone/>
            </a:pPr>
            <a:r>
              <a:rPr lang="en-US" sz="2400" b="1" dirty="0">
                <a:solidFill>
                  <a:srgbClr val="FFFFFF"/>
                </a:solidFill>
                <a:latin typeface="Amazon Ember Display" pitchFamily="34" charset="0"/>
                <a:ea typeface="Amazon Ember Display" pitchFamily="34" charset="-122"/>
                <a:cs typeface="Amazon Ember Display" pitchFamily="34" charset="-120"/>
              </a:rPr>
              <a:t>VS</a:t>
            </a:r>
            <a:endParaRPr lang="en-US" sz="2400" dirty="0"/>
          </a:p>
        </p:txBody>
      </p:sp>
      <p:sp>
        <p:nvSpPr>
          <p:cNvPr id="12" name="Shape 9"/>
          <p:cNvSpPr/>
          <p:nvPr/>
        </p:nvSpPr>
        <p:spPr>
          <a:xfrm>
            <a:off x="6583680" y="1627632"/>
            <a:ext cx="4434840" cy="1234440"/>
          </a:xfrm>
          <a:prstGeom prst="roundRect">
            <a:avLst>
              <a:gd name="adj" fmla="val 5926"/>
            </a:avLst>
          </a:prstGeom>
          <a:solidFill>
            <a:srgbClr val="0B1220"/>
          </a:solidFill>
          <a:ln w="10160">
            <a:solidFill>
              <a:srgbClr val="42B4FF"/>
            </a:solidFill>
            <a:prstDash val="solid"/>
          </a:ln>
        </p:spPr>
      </p:sp>
      <p:sp>
        <p:nvSpPr>
          <p:cNvPr id="13" name="Text 10"/>
          <p:cNvSpPr/>
          <p:nvPr/>
        </p:nvSpPr>
        <p:spPr>
          <a:xfrm>
            <a:off x="6675120" y="1773936"/>
            <a:ext cx="4251960" cy="585216"/>
          </a:xfrm>
          <a:prstGeom prst="rect">
            <a:avLst/>
          </a:prstGeom>
          <a:noFill/>
          <a:ln/>
        </p:spPr>
        <p:txBody>
          <a:bodyPr wrap="square" lIns="0" tIns="0" rIns="0" bIns="0" rtlCol="0" anchor="ctr"/>
          <a:lstStyle/>
          <a:p>
            <a:pPr algn="ctr" indent="0" marL="0">
              <a:buNone/>
            </a:pPr>
            <a:r>
              <a:rPr lang="en-US" sz="3800" b="1" dirty="0">
                <a:solidFill>
                  <a:srgbClr val="42B4FF"/>
                </a:solidFill>
                <a:latin typeface="Amazon Ember Display" pitchFamily="34" charset="0"/>
                <a:ea typeface="Amazon Ember Display" pitchFamily="34" charset="-122"/>
                <a:cs typeface="Amazon Ember Display" pitchFamily="34" charset="-120"/>
              </a:rPr>
              <a:t>11 条</a:t>
            </a:r>
            <a:endParaRPr lang="en-US" sz="3800" dirty="0"/>
          </a:p>
        </p:txBody>
      </p:sp>
      <p:sp>
        <p:nvSpPr>
          <p:cNvPr id="14" name="Text 11"/>
          <p:cNvSpPr/>
          <p:nvPr/>
        </p:nvSpPr>
        <p:spPr>
          <a:xfrm>
            <a:off x="6675120" y="2432304"/>
            <a:ext cx="4251960" cy="256032"/>
          </a:xfrm>
          <a:prstGeom prst="rect">
            <a:avLst/>
          </a:prstGeom>
          <a:noFill/>
          <a:ln/>
        </p:spPr>
        <p:txBody>
          <a:bodyPr wrap="square" lIns="0" tIns="0" rIns="0" bIns="0" rtlCol="0" anchor="ctr"/>
          <a:lstStyle/>
          <a:p>
            <a:pPr algn="ctr" indent="0" marL="0">
              <a:buNone/>
            </a:pPr>
            <a:r>
              <a:rPr lang="en-US" sz="1250" dirty="0">
                <a:solidFill>
                  <a:srgbClr val="CFD9E4"/>
                </a:solidFill>
                <a:latin typeface="Microsoft YaHei" pitchFamily="34" charset="0"/>
                <a:ea typeface="Microsoft YaHei" pitchFamily="34" charset="-122"/>
                <a:cs typeface="Microsoft YaHei" pitchFamily="34" charset="-120"/>
              </a:rPr>
              <a:t>Memory disabled</a:t>
            </a:r>
            <a:endParaRPr lang="en-US" sz="1250" dirty="0"/>
          </a:p>
        </p:txBody>
      </p:sp>
      <p:sp>
        <p:nvSpPr>
          <p:cNvPr id="15" name="Shape 12"/>
          <p:cNvSpPr/>
          <p:nvPr/>
        </p:nvSpPr>
        <p:spPr>
          <a:xfrm>
            <a:off x="566928" y="3090672"/>
            <a:ext cx="11064240" cy="987552"/>
          </a:xfrm>
          <a:prstGeom prst="roundRect">
            <a:avLst>
              <a:gd name="adj" fmla="val 7407"/>
            </a:avLst>
          </a:prstGeom>
          <a:solidFill>
            <a:srgbClr val="12331F"/>
          </a:solidFill>
          <a:ln w="10160">
            <a:solidFill>
              <a:srgbClr val="00E500"/>
            </a:solidFill>
            <a:prstDash val="solid"/>
          </a:ln>
        </p:spPr>
      </p:sp>
      <p:sp>
        <p:nvSpPr>
          <p:cNvPr id="16" name="Text 13"/>
          <p:cNvSpPr/>
          <p:nvPr/>
        </p:nvSpPr>
        <p:spPr>
          <a:xfrm>
            <a:off x="886968" y="3090672"/>
            <a:ext cx="10424160" cy="987552"/>
          </a:xfrm>
          <a:prstGeom prst="rect">
            <a:avLst/>
          </a:prstGeom>
          <a:noFill/>
          <a:ln/>
        </p:spPr>
        <p:txBody>
          <a:bodyPr wrap="square" lIns="0" tIns="0" rIns="0" bIns="0" rtlCol="0" anchor="ctr"/>
          <a:lstStyle/>
          <a:p>
            <a:pPr algn="ctr" indent="0" marL="0">
              <a:buNone/>
            </a:pPr>
            <a:r>
              <a:rPr lang="en-US" sz="1900" b="1" dirty="0">
                <a:solidFill>
                  <a:srgbClr val="00E500"/>
                </a:solidFill>
                <a:latin typeface="Amazon Ember Display" pitchFamily="34" charset="0"/>
                <a:ea typeface="Amazon Ember Display" pitchFamily="34" charset="-122"/>
                <a:cs typeface="Amazon Ember Display" pitchFamily="34" charset="-120"/>
              </a:rPr>
              <a:t>AgentCore Harness 注入 Memory Records 后，Harness Agent 多输出约 20 条；新增内容主要来自两张 BOM。</a:t>
            </a:r>
            <a:endParaRPr lang="en-US" sz="1900" dirty="0"/>
          </a:p>
        </p:txBody>
      </p:sp>
      <p:sp>
        <p:nvSpPr>
          <p:cNvPr id="17" name="Shape 14"/>
          <p:cNvSpPr/>
          <p:nvPr/>
        </p:nvSpPr>
        <p:spPr>
          <a:xfrm>
            <a:off x="566928" y="4315968"/>
            <a:ext cx="5358384" cy="1234440"/>
          </a:xfrm>
          <a:prstGeom prst="roundRect">
            <a:avLst>
              <a:gd name="adj" fmla="val 5926"/>
            </a:avLst>
          </a:prstGeom>
          <a:solidFill>
            <a:srgbClr val="1C2740"/>
          </a:solidFill>
          <a:ln w="10160">
            <a:solidFill>
              <a:srgbClr val="2E3B57"/>
            </a:solidFill>
            <a:prstDash val="solid"/>
          </a:ln>
        </p:spPr>
      </p:sp>
      <p:sp>
        <p:nvSpPr>
          <p:cNvPr id="18" name="Text 15"/>
          <p:cNvSpPr/>
          <p:nvPr/>
        </p:nvSpPr>
        <p:spPr>
          <a:xfrm>
            <a:off x="768096" y="4453128"/>
            <a:ext cx="495604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HARNESS AGENT · ENABLED 输出</a:t>
            </a:r>
            <a:endParaRPr lang="en-US" sz="1150" dirty="0"/>
          </a:p>
        </p:txBody>
      </p:sp>
      <p:sp>
        <p:nvSpPr>
          <p:cNvPr id="19" name="Text 16"/>
          <p:cNvSpPr/>
          <p:nvPr/>
        </p:nvSpPr>
        <p:spPr>
          <a:xfrm>
            <a:off x="768096" y="4800600"/>
            <a:ext cx="4956048"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零部件表</a:t>
            </a:r>
            <a:endParaRPr lang="en-US" sz="1500" dirty="0"/>
          </a:p>
        </p:txBody>
      </p:sp>
      <p:sp>
        <p:nvSpPr>
          <p:cNvPr id="20" name="Text 17"/>
          <p:cNvSpPr/>
          <p:nvPr/>
        </p:nvSpPr>
        <p:spPr>
          <a:xfrm>
            <a:off x="768096" y="5257800"/>
            <a:ext cx="4956048" cy="16459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机座 · 前端盖 · 转子 · 轴承</a:t>
            </a:r>
            <a:endParaRPr lang="en-US" sz="1320" dirty="0"/>
          </a:p>
        </p:txBody>
      </p:sp>
      <p:sp>
        <p:nvSpPr>
          <p:cNvPr id="21" name="Shape 18"/>
          <p:cNvSpPr/>
          <p:nvPr/>
        </p:nvSpPr>
        <p:spPr>
          <a:xfrm>
            <a:off x="6272784" y="4315968"/>
            <a:ext cx="5358384" cy="1234440"/>
          </a:xfrm>
          <a:prstGeom prst="roundRect">
            <a:avLst>
              <a:gd name="adj" fmla="val 5926"/>
            </a:avLst>
          </a:prstGeom>
          <a:solidFill>
            <a:srgbClr val="1C2740"/>
          </a:solidFill>
          <a:ln w="10160">
            <a:solidFill>
              <a:srgbClr val="2E3B57"/>
            </a:solidFill>
            <a:prstDash val="solid"/>
          </a:ln>
        </p:spPr>
      </p:sp>
      <p:sp>
        <p:nvSpPr>
          <p:cNvPr id="22" name="Text 19"/>
          <p:cNvSpPr/>
          <p:nvPr/>
        </p:nvSpPr>
        <p:spPr>
          <a:xfrm>
            <a:off x="6473952" y="4453128"/>
            <a:ext cx="4956048" cy="256032"/>
          </a:xfrm>
          <a:prstGeom prst="rect">
            <a:avLst/>
          </a:prstGeom>
          <a:noFill/>
          <a:ln/>
        </p:spPr>
        <p:txBody>
          <a:bodyPr wrap="square" lIns="0" tIns="0" rIns="0" bIns="0" rtlCol="0" anchor="ctr"/>
          <a:lstStyle/>
          <a:p>
            <a:pPr indent="0" marL="0">
              <a:buNone/>
            </a:pPr>
            <a:r>
              <a:rPr lang="en-US" sz="1150" b="1" dirty="0">
                <a:solidFill>
                  <a:srgbClr val="00E500"/>
                </a:solidFill>
                <a:latin typeface="Amazon Ember Display" pitchFamily="34" charset="0"/>
                <a:ea typeface="Amazon Ember Display" pitchFamily="34" charset="-122"/>
                <a:cs typeface="Amazon Ember Display" pitchFamily="34" charset="-120"/>
              </a:rPr>
              <a:t>HARNESS AGENT · ENABLED 输出</a:t>
            </a:r>
            <a:endParaRPr lang="en-US" sz="1150" dirty="0"/>
          </a:p>
        </p:txBody>
      </p:sp>
      <p:sp>
        <p:nvSpPr>
          <p:cNvPr id="23" name="Text 20"/>
          <p:cNvSpPr/>
          <p:nvPr/>
        </p:nvSpPr>
        <p:spPr>
          <a:xfrm>
            <a:off x="6473952" y="4800600"/>
            <a:ext cx="4956048" cy="384048"/>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组件表</a:t>
            </a:r>
            <a:endParaRPr lang="en-US" sz="1500" dirty="0"/>
          </a:p>
        </p:txBody>
      </p:sp>
      <p:sp>
        <p:nvSpPr>
          <p:cNvPr id="24" name="Text 21"/>
          <p:cNvSpPr/>
          <p:nvPr/>
        </p:nvSpPr>
        <p:spPr>
          <a:xfrm>
            <a:off x="6473952" y="5257800"/>
            <a:ext cx="4956048" cy="164592"/>
          </a:xfrm>
          <a:prstGeom prst="rect">
            <a:avLst/>
          </a:prstGeom>
          <a:noFill/>
          <a:ln/>
        </p:spPr>
        <p:txBody>
          <a:bodyPr wrap="square" lIns="0" tIns="0" rIns="0" bIns="0" rtlCol="0" anchor="t"/>
          <a:lstStyle/>
          <a:p>
            <a:pPr indent="0" marL="0">
              <a:buNone/>
            </a:pPr>
            <a:r>
              <a:rPr lang="en-US" sz="1320" dirty="0">
                <a:solidFill>
                  <a:srgbClr val="CFD9E4"/>
                </a:solidFill>
                <a:latin typeface="Microsoft YaHei" pitchFamily="34" charset="0"/>
                <a:ea typeface="Microsoft YaHei" pitchFamily="34" charset="-122"/>
                <a:cs typeface="Microsoft YaHei" pitchFamily="34" charset="-120"/>
              </a:rPr>
              <a:t>壳体组件 · 法兰盘组件 · 散热器组件</a:t>
            </a:r>
            <a:endParaRPr lang="en-US" sz="1320" dirty="0"/>
          </a:p>
        </p:txBody>
      </p:sp>
      <p:sp>
        <p:nvSpPr>
          <p:cNvPr id="25" name="Shape 22"/>
          <p:cNvSpPr/>
          <p:nvPr/>
        </p:nvSpPr>
        <p:spPr>
          <a:xfrm>
            <a:off x="566928" y="5623560"/>
            <a:ext cx="11064240" cy="777240"/>
          </a:xfrm>
          <a:prstGeom prst="roundRect">
            <a:avLst>
              <a:gd name="adj" fmla="val 9412"/>
            </a:avLst>
          </a:prstGeom>
          <a:solidFill>
            <a:srgbClr val="0B1220"/>
          </a:solidFill>
          <a:ln w="10160">
            <a:solidFill>
              <a:srgbClr val="FF6A3D"/>
            </a:solidFill>
            <a:prstDash val="solid"/>
          </a:ln>
        </p:spPr>
      </p:sp>
      <p:sp>
        <p:nvSpPr>
          <p:cNvPr id="26" name="Text 23"/>
          <p:cNvSpPr/>
          <p:nvPr/>
        </p:nvSpPr>
        <p:spPr>
          <a:xfrm>
            <a:off x="822960" y="5623560"/>
            <a:ext cx="10552176" cy="777240"/>
          </a:xfrm>
          <a:prstGeom prst="rect">
            <a:avLst/>
          </a:prstGeom>
          <a:noFill/>
          <a:ln/>
        </p:spPr>
        <p:txBody>
          <a:bodyPr wrap="square" lIns="0" tIns="0" rIns="0" bIns="0" rtlCol="0" anchor="ctr"/>
          <a:lstStyle/>
          <a:p>
            <a:pPr algn="ctr" indent="0" marL="0">
              <a:buNone/>
            </a:pPr>
            <a:r>
              <a:rPr lang="en-US" sz="1650" b="1" dirty="0">
                <a:solidFill>
                  <a:srgbClr val="FF6A3D"/>
                </a:solidFill>
                <a:latin typeface="Amazon Ember Display" pitchFamily="34" charset="0"/>
                <a:ea typeface="Amazon Ember Display" pitchFamily="34" charset="-122"/>
                <a:cs typeface="Amazon Ember Display" pitchFamily="34" charset="-120"/>
              </a:rPr>
              <a:t>Reviewer 人工核对：新增条目基本有原文依据；该实验说明覆盖关注点扩大，不等于质量提升 3 倍。</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EXPERIMENT SYNTHESIS</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16</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三项实验：主体、输入、产物与结论边界</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Application 编排实验；Harness Agent 负责抽取；应用侧 LLM 或 Memory System 负责不同类型的经验形成；Reviewer 负责质量判断。</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64208"/>
          <a:ext cx="11064240" cy="3566160"/>
        </p:xfrm>
        <a:graphic>
          <a:graphicData uri="http://schemas.openxmlformats.org/drawingml/2006/table">
            <a:tbl>
              <a:tblPr/>
              <a:tblGrid>
                <a:gridCol w="1691640"/>
                <a:gridCol w="3063240"/>
                <a:gridCol w="3154680"/>
                <a:gridCol w="3154680"/>
              </a:tblGrid>
              <a:tr h="420624">
                <a:tc>
                  <a:txBody>
                    <a:bodyPr/>
                    <a:lstStyle/>
                    <a:p>
                      <a:pPr indent="0" marL="0">
                        <a:buNone/>
                      </a:pPr>
                      <a:r>
                        <a:rPr lang="en-US" sz="1150" b="1" dirty="0">
                          <a:solidFill>
                            <a:srgbClr val="FFFFFF"/>
                          </a:solidFill>
                          <a:latin typeface="Microsoft YaHei" pitchFamily="34" charset="0"/>
                          <a:ea typeface="Microsoft YaHei" pitchFamily="34" charset="-122"/>
                          <a:cs typeface="Microsoft YaHei" pitchFamily="34" charset="-120"/>
                        </a:rPr>
                        <a:t>实验</a:t>
                      </a:r>
                      <a:endParaRPr lang="en-US" sz="115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c>
                  <a:txBody>
                    <a:bodyPr/>
                    <a:lstStyle/>
                    <a:p>
                      <a:pPr indent="0" marL="0">
                        <a:buNone/>
                      </a:pPr>
                      <a:r>
                        <a:rPr lang="en-US" sz="1150" b="1" dirty="0">
                          <a:solidFill>
                            <a:srgbClr val="FFFFFF"/>
                          </a:solidFill>
                          <a:latin typeface="Microsoft YaHei" pitchFamily="34" charset="0"/>
                          <a:ea typeface="Microsoft YaHei" pitchFamily="34" charset="-122"/>
                          <a:cs typeface="Microsoft YaHei" pitchFamily="34" charset="-120"/>
                        </a:rPr>
                        <a:t>实验一 · 学习信号</a:t>
                      </a:r>
                      <a:endParaRPr lang="en-US" sz="115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c>
                  <a:txBody>
                    <a:bodyPr/>
                    <a:lstStyle/>
                    <a:p>
                      <a:pPr indent="0" marL="0">
                        <a:buNone/>
                      </a:pPr>
                      <a:r>
                        <a:rPr lang="en-US" sz="1150" b="1" dirty="0">
                          <a:solidFill>
                            <a:srgbClr val="FFFFFF"/>
                          </a:solidFill>
                          <a:latin typeface="Microsoft YaHei" pitchFamily="34" charset="0"/>
                          <a:ea typeface="Microsoft YaHei" pitchFamily="34" charset="-122"/>
                          <a:cs typeface="Microsoft YaHei" pitchFamily="34" charset="-120"/>
                        </a:rPr>
                        <a:t>实验二 · Memory 生成</a:t>
                      </a:r>
                      <a:endParaRPr lang="en-US" sz="115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c>
                  <a:txBody>
                    <a:bodyPr/>
                    <a:lstStyle/>
                    <a:p>
                      <a:pPr indent="0" marL="0">
                        <a:buNone/>
                      </a:pPr>
                      <a:r>
                        <a:rPr lang="en-US" sz="1150" b="1" dirty="0">
                          <a:solidFill>
                            <a:srgbClr val="FFFFFF"/>
                          </a:solidFill>
                          <a:latin typeface="Microsoft YaHei" pitchFamily="34" charset="0"/>
                          <a:ea typeface="Microsoft YaHei" pitchFamily="34" charset="-122"/>
                          <a:cs typeface="Microsoft YaHei" pitchFamily="34" charset="-120"/>
                        </a:rPr>
                        <a:t>实验三 · 留出验证</a:t>
                      </a:r>
                      <a:endParaRPr lang="en-US" sz="1150" dirty="0">
                        <a:latin typeface="Microsoft YaHei" charset="0"/>
                        <a:ea typeface="Microsoft YaHei" charset="0"/>
                        <a:cs typeface="Microsoft YaHei" charset="0"/>
                      </a:endParaRPr>
                    </a:p>
                  </a:txBody>
                  <a:tcPr marL="91440" marR="91440" marT="45720" marB="45720">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073E5"/>
                    </a:solidFill>
                  </a:tcPr>
                </a:tc>
              </a:tr>
              <a:tr h="457200">
                <a:tc>
                  <a:txBody>
                    <a:bodyPr/>
                    <a:lstStyle/>
                    <a:p>
                      <a:pPr indent="0" marL="0">
                        <a:buNone/>
                      </a:pPr>
                      <a:r>
                        <a:rPr lang="en-US" sz="1040" b="1" dirty="0">
                          <a:solidFill>
                            <a:srgbClr val="FFFFFF"/>
                          </a:solidFill>
                          <a:latin typeface="Microsoft YaHei" pitchFamily="34" charset="0"/>
                          <a:ea typeface="Microsoft YaHei" pitchFamily="34" charset="-122"/>
                          <a:cs typeface="Microsoft YaHei" pitchFamily="34" charset="-120"/>
                        </a:rPr>
                        <a:t>核心问题</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Reflection LLM 仅看 Harness Agent 输出</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Memory System 能否从轨迹生成 Records</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注入后 Harness Agent 输出是否变化</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57200">
                <a:tc>
                  <a:txBody>
                    <a:bodyPr/>
                    <a:lstStyle/>
                    <a:p>
                      <a:pPr indent="0" marL="0">
                        <a:buNone/>
                      </a:pPr>
                      <a:r>
                        <a:rPr lang="en-US" sz="1040" b="1" dirty="0">
                          <a:solidFill>
                            <a:srgbClr val="FFFFFF"/>
                          </a:solidFill>
                          <a:latin typeface="Microsoft YaHei" pitchFamily="34" charset="0"/>
                          <a:ea typeface="Microsoft YaHei" pitchFamily="34" charset="-122"/>
                          <a:cs typeface="Microsoft YaHei" pitchFamily="34" charset="-120"/>
                        </a:rPr>
                        <a:t>执行主体</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Application + Reflection LLM + Consolidation LLM</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Application + Harness Agent + Memory System</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Application + Memory System + AgentCore Harness + Harness Agent + Reviewer</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57200">
                <a:tc>
                  <a:txBody>
                    <a:bodyPr/>
                    <a:lstStyle/>
                    <a:p>
                      <a:pPr indent="0" marL="0">
                        <a:buNone/>
                      </a:pPr>
                      <a:r>
                        <a:rPr lang="en-US" sz="1040" b="1" dirty="0">
                          <a:solidFill>
                            <a:srgbClr val="FFFFFF"/>
                          </a:solidFill>
                          <a:latin typeface="Microsoft YaHei" pitchFamily="34" charset="0"/>
                          <a:ea typeface="Microsoft YaHei" pitchFamily="34" charset="-122"/>
                          <a:cs typeface="Microsoft YaHei" pitchFamily="34" charset="-120"/>
                        </a:rPr>
                        <a:t>输入/变量</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Reflection LLM 仅收 Harness Agent JSON</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Memory System 接收完整 session events</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Application 只切换 Retrieval + Injection</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75488">
                <a:tc>
                  <a:txBody>
                    <a:bodyPr/>
                    <a:lstStyle/>
                    <a:p>
                      <a:pPr indent="0" marL="0">
                        <a:buNone/>
                      </a:pPr>
                      <a:r>
                        <a:rPr lang="en-US" sz="1040" b="1" dirty="0">
                          <a:solidFill>
                            <a:srgbClr val="FFFFFF"/>
                          </a:solidFill>
                          <a:latin typeface="Microsoft YaHei" pitchFamily="34" charset="0"/>
                          <a:ea typeface="Microsoft YaHei" pitchFamily="34" charset="-122"/>
                          <a:cs typeface="Microsoft YaHei" pitchFamily="34" charset="-120"/>
                        </a:rPr>
                        <a:t>实际产物</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Consolidation LLM：15 条 rules</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Memory System：1 episode + 2 reflections</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040" b="1" dirty="0">
                          <a:solidFill>
                            <a:srgbClr val="00E500"/>
                          </a:solidFill>
                          <a:latin typeface="Microsoft YaHei" pitchFamily="34" charset="0"/>
                          <a:ea typeface="Microsoft YaHei" pitchFamily="34" charset="-122"/>
                          <a:cs typeface="Microsoft YaHei" pitchFamily="34" charset="-120"/>
                        </a:rPr>
                        <a:t>Harness Agent：31 条 vs 11 条</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93776">
                <a:tc>
                  <a:txBody>
                    <a:bodyPr/>
                    <a:lstStyle/>
                    <a:p>
                      <a:pPr indent="0" marL="0">
                        <a:buNone/>
                      </a:pPr>
                      <a:r>
                        <a:rPr lang="en-US" sz="1040" b="1" dirty="0">
                          <a:solidFill>
                            <a:srgbClr val="FFFFFF"/>
                          </a:solidFill>
                          <a:latin typeface="Microsoft YaHei" pitchFamily="34" charset="0"/>
                          <a:ea typeface="Microsoft YaHei" pitchFamily="34" charset="-122"/>
                          <a:cs typeface="Microsoft YaHei" pitchFamily="34" charset="-120"/>
                        </a:rPr>
                        <a:t>观察</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040" b="1" dirty="0">
                          <a:solidFill>
                            <a:srgbClr val="FF6A3D"/>
                          </a:solidFill>
                          <a:latin typeface="Microsoft YaHei" pitchFamily="34" charset="0"/>
                          <a:ea typeface="Microsoft YaHei" pitchFamily="34" charset="-122"/>
                          <a:cs typeface="Microsoft YaHei" pitchFamily="34" charset="-120"/>
                        </a:rPr>
                        <a:t>Harness Agent 输出 90→102，主要拆分变细</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Memory Records 包含覆盖/遗漏处理方法</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040" b="1" dirty="0">
                          <a:solidFill>
                            <a:srgbClr val="00E500"/>
                          </a:solidFill>
                          <a:latin typeface="Microsoft YaHei" pitchFamily="34" charset="0"/>
                          <a:ea typeface="Microsoft YaHei" pitchFamily="34" charset="-122"/>
                          <a:cs typeface="Microsoft YaHei" pitchFamily="34" charset="-120"/>
                        </a:rPr>
                        <a:t>Enabled Harness Agent 展开两张 BOM</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r h="457200">
                <a:tc>
                  <a:txBody>
                    <a:bodyPr/>
                    <a:lstStyle/>
                    <a:p>
                      <a:pPr indent="0" marL="0">
                        <a:buNone/>
                      </a:pPr>
                      <a:r>
                        <a:rPr lang="en-US" sz="1040" b="1" dirty="0">
                          <a:solidFill>
                            <a:srgbClr val="FFFFFF"/>
                          </a:solidFill>
                          <a:latin typeface="Microsoft YaHei" pitchFamily="34" charset="0"/>
                          <a:ea typeface="Microsoft YaHei" pitchFamily="34" charset="-122"/>
                          <a:cs typeface="Microsoft YaHei" pitchFamily="34" charset="-120"/>
                        </a:rPr>
                        <a:t>结论边界</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B122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Reflection LLM 看不见整块遗漏</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35181C"/>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EPISODIC Records 可生成</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0C3440"/>
                    </a:solidFill>
                  </a:tcPr>
                </a:tc>
                <a:tc>
                  <a:txBody>
                    <a:bodyPr/>
                    <a:lstStyle/>
                    <a:p>
                      <a:pPr indent="0" marL="0">
                        <a:buNone/>
                      </a:pPr>
                      <a:r>
                        <a:rPr lang="en-US" sz="1040" dirty="0">
                          <a:solidFill>
                            <a:srgbClr val="CFD9E4"/>
                          </a:solidFill>
                          <a:latin typeface="Microsoft YaHei" pitchFamily="34" charset="0"/>
                          <a:ea typeface="Microsoft YaHei" pitchFamily="34" charset="-122"/>
                          <a:cs typeface="Microsoft YaHei" pitchFamily="34" charset="-120"/>
                        </a:rPr>
                        <a:t>关注点变化；质量由 Reviewer 判断</a:t>
                      </a:r>
                      <a:endParaRPr lang="en-US" sz="1040" dirty="0">
                        <a:latin typeface="Microsoft YaHei" charset="0"/>
                        <a:ea typeface="Microsoft YaHei" charset="0"/>
                        <a:cs typeface="Microsoft YaHei" charset="0"/>
                      </a:endParaRPr>
                    </a:p>
                  </a:txBody>
                  <a:tcPr marL="91440" marR="91440" marT="45720" marB="45720" anchor="ctr">
                    <a:lnL w="9525" cap="flat" cmpd="sng" algn="ctr">
                      <a:solidFill>
                        <a:srgbClr val="2E3B57"/>
                      </a:solidFill>
                      <a:prstDash val="solid"/>
                      <a:round/>
                      <a:headEnd type="none" w="med" len="med"/>
                      <a:tailEnd type="none" w="med" len="med"/>
                    </a:lnL>
                    <a:lnR w="9525" cap="flat" cmpd="sng" algn="ctr">
                      <a:solidFill>
                        <a:srgbClr val="2E3B57"/>
                      </a:solidFill>
                      <a:prstDash val="solid"/>
                      <a:round/>
                      <a:headEnd type="none" w="med" len="med"/>
                      <a:tailEnd type="none" w="med" len="med"/>
                    </a:lnR>
                    <a:lnT w="9525" cap="flat" cmpd="sng" algn="ctr">
                      <a:solidFill>
                        <a:srgbClr val="2E3B57"/>
                      </a:solidFill>
                      <a:prstDash val="solid"/>
                      <a:round/>
                      <a:headEnd type="none" w="med" len="med"/>
                      <a:tailEnd type="none" w="med" len="med"/>
                    </a:lnT>
                    <a:lnB w="9525" cap="flat" cmpd="sng" algn="ctr">
                      <a:solidFill>
                        <a:srgbClr val="2E3B57"/>
                      </a:solidFill>
                      <a:prstDash val="solid"/>
                      <a:round/>
                      <a:headEnd type="none" w="med" len="med"/>
                      <a:tailEnd type="none" w="med" len="med"/>
                    </a:lnB>
                    <a:solidFill>
                      <a:srgbClr val="12331F"/>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E2D"/>
        </a:solidFill>
      </p:bgPr>
    </p:bg>
    <p:spTree>
      <p:nvGrpSpPr>
        <p:cNvPr id="1" name=""/>
        <p:cNvGrpSpPr/>
        <p:nvPr/>
      </p:nvGrpSpPr>
      <p:grpSpPr>
        <a:xfrm>
          <a:off x="0" y="0"/>
          <a:ext cx="0" cy="0"/>
          <a:chOff x="0" y="0"/>
          <a:chExt cx="0" cy="0"/>
        </a:xfrm>
      </p:grpSpPr>
      <p:pic>
        <p:nvPicPr>
          <p:cNvPr id="2" name="Image 0" descr="assets/leftbar.png">    </p:cNvPr>
          <p:cNvPicPr>
            <a:picLocks noChangeAspect="1"/>
          </p:cNvPicPr>
          <p:nvPr/>
        </p:nvPicPr>
        <p:blipFill>
          <a:blip r:embed="rId1"/>
          <a:stretch>
            <a:fillRect/>
          </a:stretch>
        </p:blipFill>
        <p:spPr>
          <a:xfrm>
            <a:off x="0" y="0"/>
            <a:ext cx="146304" cy="6858000"/>
          </a:xfrm>
          <a:prstGeom prst="rect">
            <a:avLst/>
          </a:prstGeom>
        </p:spPr>
      </p:pic>
      <p:sp>
        <p:nvSpPr>
          <p:cNvPr id="3" name="Text 0"/>
          <p:cNvSpPr/>
          <p:nvPr/>
        </p:nvSpPr>
        <p:spPr>
          <a:xfrm>
            <a:off x="6400800" y="365760"/>
            <a:ext cx="5212080" cy="274320"/>
          </a:xfrm>
          <a:prstGeom prst="rect">
            <a:avLst/>
          </a:prstGeom>
          <a:noFill/>
          <a:ln/>
        </p:spPr>
        <p:txBody>
          <a:bodyPr wrap="square" lIns="0" tIns="0" rIns="0" bIns="0" rtlCol="0" anchor="ctr"/>
          <a:lstStyle/>
          <a:p>
            <a:pPr algn="r" indent="0" marL="0">
              <a:buNone/>
            </a:pPr>
            <a:r>
              <a:rPr lang="en-US" sz="1200" b="1" spc="300" kern="0" dirty="0">
                <a:solidFill>
                  <a:srgbClr val="42B4FF"/>
                </a:solidFill>
                <a:latin typeface="Amazon Ember Display" pitchFamily="34" charset="0"/>
                <a:ea typeface="Amazon Ember Display" pitchFamily="34" charset="-122"/>
                <a:cs typeface="Amazon Ember Display" pitchFamily="34" charset="-120"/>
              </a:rPr>
              <a:t>BEST PRACTICES</a:t>
            </a:r>
            <a:endParaRPr lang="en-US" sz="1200" dirty="0"/>
          </a:p>
        </p:txBody>
      </p:sp>
      <p:sp>
        <p:nvSpPr>
          <p:cNvPr id="4" name="Text 1"/>
          <p:cNvSpPr/>
          <p:nvPr/>
        </p:nvSpPr>
        <p:spPr>
          <a:xfrm>
            <a:off x="566928" y="6473952"/>
            <a:ext cx="2743200" cy="228600"/>
          </a:xfrm>
          <a:prstGeom prst="rect">
            <a:avLst/>
          </a:prstGeom>
          <a:noFill/>
          <a:ln/>
        </p:spPr>
        <p:txBody>
          <a:bodyPr wrap="square" lIns="0" tIns="0" rIns="0" bIns="0" rtlCol="0" anchor="ctr"/>
          <a:lstStyle/>
          <a:p>
            <a:pPr indent="0" marL="0">
              <a:buNone/>
            </a:pPr>
            <a:r>
              <a:rPr lang="en-US" sz="1100" b="1" dirty="0">
                <a:solidFill>
                  <a:srgbClr val="A8C7E8"/>
                </a:solidFill>
                <a:latin typeface="Amazon Ember Display" pitchFamily="34" charset="0"/>
                <a:ea typeface="Amazon Ember Display" pitchFamily="34" charset="-122"/>
                <a:cs typeface="Amazon Ember Display" pitchFamily="34" charset="-120"/>
              </a:rPr>
              <a:t>亚马逊云科技</a:t>
            </a:r>
            <a:endParaRPr lang="en-US" sz="1100" dirty="0"/>
          </a:p>
        </p:txBody>
      </p:sp>
      <p:sp>
        <p:nvSpPr>
          <p:cNvPr id="5" name="Text 2"/>
          <p:cNvSpPr/>
          <p:nvPr/>
        </p:nvSpPr>
        <p:spPr>
          <a:xfrm>
            <a:off x="11430000" y="6446520"/>
            <a:ext cx="411480" cy="228600"/>
          </a:xfrm>
          <a:prstGeom prst="rect">
            <a:avLst/>
          </a:prstGeom>
          <a:noFill/>
          <a:ln/>
        </p:spPr>
        <p:txBody>
          <a:bodyPr wrap="square" lIns="0" tIns="0" rIns="0" bIns="0" rtlCol="0" anchor="ctr"/>
          <a:lstStyle/>
          <a:p>
            <a:pPr algn="r" indent="0" marL="0">
              <a:buNone/>
            </a:pPr>
            <a:r>
              <a:rPr lang="en-US" sz="1050" dirty="0">
                <a:solidFill>
                  <a:srgbClr val="8496A8"/>
                </a:solidFill>
                <a:latin typeface="Amazon Ember Display" pitchFamily="34" charset="0"/>
                <a:ea typeface="Amazon Ember Display" pitchFamily="34" charset="-122"/>
                <a:cs typeface="Amazon Ember Display" pitchFamily="34" charset="-120"/>
              </a:rPr>
              <a:t>17</a:t>
            </a:r>
            <a:endParaRPr lang="en-US" sz="1050" dirty="0"/>
          </a:p>
        </p:txBody>
      </p:sp>
      <p:sp>
        <p:nvSpPr>
          <p:cNvPr id="6" name="Text 3"/>
          <p:cNvSpPr/>
          <p:nvPr/>
        </p:nvSpPr>
        <p:spPr>
          <a:xfrm>
            <a:off x="566928" y="347472"/>
            <a:ext cx="10515600" cy="566928"/>
          </a:xfrm>
          <a:prstGeom prst="rect">
            <a:avLst/>
          </a:prstGeom>
          <a:noFill/>
          <a:ln/>
        </p:spPr>
        <p:txBody>
          <a:bodyPr wrap="square" lIns="0" tIns="0" rIns="0" bIns="0" rtlCol="0" anchor="ctr"/>
          <a:lstStyle/>
          <a:p>
            <a:pPr indent="0" marL="0">
              <a:buNone/>
            </a:pPr>
            <a:r>
              <a:rPr lang="en-US" sz="2700" b="1" dirty="0">
                <a:solidFill>
                  <a:srgbClr val="FFFFFF"/>
                </a:solidFill>
                <a:latin typeface="Amazon Ember Display" pitchFamily="34" charset="0"/>
                <a:ea typeface="Amazon Ember Display" pitchFamily="34" charset="-122"/>
                <a:cs typeface="Amazon Ember Display" pitchFamily="34" charset="-120"/>
              </a:rPr>
              <a:t>各组件在 Memory 学习回路中的最佳实践</a:t>
            </a:r>
            <a:endParaRPr lang="en-US" sz="2700" dirty="0"/>
          </a:p>
        </p:txBody>
      </p:sp>
      <p:sp>
        <p:nvSpPr>
          <p:cNvPr id="7" name="Text 4"/>
          <p:cNvSpPr/>
          <p:nvPr/>
        </p:nvSpPr>
        <p:spPr>
          <a:xfrm>
            <a:off x="566928" y="1005840"/>
            <a:ext cx="11064240" cy="530352"/>
          </a:xfrm>
          <a:prstGeom prst="rect">
            <a:avLst/>
          </a:prstGeom>
          <a:noFill/>
          <a:ln/>
        </p:spPr>
        <p:txBody>
          <a:bodyPr wrap="square" lIns="0" tIns="0" rIns="0" bIns="0" rtlCol="0" anchor="ctr"/>
          <a:lstStyle/>
          <a:p>
            <a:pPr indent="0" marL="0">
              <a:buNone/>
            </a:pPr>
            <a:r>
              <a:rPr lang="en-US" sz="1400" dirty="0">
                <a:solidFill>
                  <a:srgbClr val="CFD9E4"/>
                </a:solidFill>
                <a:latin typeface="Microsoft YaHei" pitchFamily="34" charset="0"/>
                <a:ea typeface="Microsoft YaHei" pitchFamily="34" charset="-122"/>
                <a:cs typeface="Microsoft YaHei" pitchFamily="34" charset="-120"/>
              </a:rPr>
              <a:t>每条实践都明确责任主体，避免把 Application 编排、Harness Agent 推理和 Memory System 托管能力混为一谈。</a:t>
            </a:r>
            <a:endParaRPr lang="en-US" sz="1400" dirty="0"/>
          </a:p>
        </p:txBody>
      </p:sp>
      <p:sp>
        <p:nvSpPr>
          <p:cNvPr id="8" name="Shape 5"/>
          <p:cNvSpPr/>
          <p:nvPr/>
        </p:nvSpPr>
        <p:spPr>
          <a:xfrm>
            <a:off x="566928" y="1600200"/>
            <a:ext cx="5394960" cy="868680"/>
          </a:xfrm>
          <a:prstGeom prst="roundRect">
            <a:avLst>
              <a:gd name="adj" fmla="val 8421"/>
            </a:avLst>
          </a:prstGeom>
          <a:solidFill>
            <a:srgbClr val="1C2740"/>
          </a:solidFill>
          <a:ln w="10160">
            <a:solidFill>
              <a:srgbClr val="2E3B57"/>
            </a:solidFill>
            <a:prstDash val="solid"/>
          </a:ln>
        </p:spPr>
      </p:sp>
      <p:sp>
        <p:nvSpPr>
          <p:cNvPr id="9" name="Text 6"/>
          <p:cNvSpPr/>
          <p:nvPr/>
        </p:nvSpPr>
        <p:spPr>
          <a:xfrm>
            <a:off x="731520" y="1773936"/>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1</a:t>
            </a:r>
            <a:endParaRPr lang="en-US" sz="1500" dirty="0"/>
          </a:p>
        </p:txBody>
      </p:sp>
      <p:sp>
        <p:nvSpPr>
          <p:cNvPr id="10" name="Text 7"/>
          <p:cNvSpPr/>
          <p:nvPr/>
        </p:nvSpPr>
        <p:spPr>
          <a:xfrm>
            <a:off x="1316736" y="1719072"/>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Harness Agent · Review 看原文</a:t>
            </a:r>
            <a:endParaRPr lang="en-US" sz="1450" dirty="0"/>
          </a:p>
        </p:txBody>
      </p:sp>
      <p:sp>
        <p:nvSpPr>
          <p:cNvPr id="11" name="Text 8"/>
          <p:cNvSpPr/>
          <p:nvPr/>
        </p:nvSpPr>
        <p:spPr>
          <a:xfrm>
            <a:off x="1316736" y="2039112"/>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不要只对输出做抽象总结。</a:t>
            </a:r>
            <a:endParaRPr lang="en-US" sz="1170" dirty="0"/>
          </a:p>
        </p:txBody>
      </p:sp>
      <p:sp>
        <p:nvSpPr>
          <p:cNvPr id="12" name="Shape 9"/>
          <p:cNvSpPr/>
          <p:nvPr/>
        </p:nvSpPr>
        <p:spPr>
          <a:xfrm>
            <a:off x="6236208" y="1600200"/>
            <a:ext cx="5394960" cy="868680"/>
          </a:xfrm>
          <a:prstGeom prst="roundRect">
            <a:avLst>
              <a:gd name="adj" fmla="val 8421"/>
            </a:avLst>
          </a:prstGeom>
          <a:solidFill>
            <a:srgbClr val="1C2740"/>
          </a:solidFill>
          <a:ln w="10160">
            <a:solidFill>
              <a:srgbClr val="2E3B57"/>
            </a:solidFill>
            <a:prstDash val="solid"/>
          </a:ln>
        </p:spPr>
      </p:sp>
      <p:sp>
        <p:nvSpPr>
          <p:cNvPr id="13" name="Text 10"/>
          <p:cNvSpPr/>
          <p:nvPr/>
        </p:nvSpPr>
        <p:spPr>
          <a:xfrm>
            <a:off x="6400800" y="1773936"/>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2</a:t>
            </a:r>
            <a:endParaRPr lang="en-US" sz="1500" dirty="0"/>
          </a:p>
        </p:txBody>
      </p:sp>
      <p:sp>
        <p:nvSpPr>
          <p:cNvPr id="14" name="Text 11"/>
          <p:cNvSpPr/>
          <p:nvPr/>
        </p:nvSpPr>
        <p:spPr>
          <a:xfrm>
            <a:off x="6986016" y="1719072"/>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Harness Agent · 输出 Artifact</a:t>
            </a:r>
            <a:endParaRPr lang="en-US" sz="1450" dirty="0"/>
          </a:p>
        </p:txBody>
      </p:sp>
      <p:sp>
        <p:nvSpPr>
          <p:cNvPr id="15" name="Text 12"/>
          <p:cNvSpPr/>
          <p:nvPr/>
        </p:nvSpPr>
        <p:spPr>
          <a:xfrm>
            <a:off x="6986016" y="2039112"/>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固定 coverage / omissions / format / granularity。</a:t>
            </a:r>
            <a:endParaRPr lang="en-US" sz="1170" dirty="0"/>
          </a:p>
        </p:txBody>
      </p:sp>
      <p:sp>
        <p:nvSpPr>
          <p:cNvPr id="16" name="Shape 13"/>
          <p:cNvSpPr/>
          <p:nvPr/>
        </p:nvSpPr>
        <p:spPr>
          <a:xfrm>
            <a:off x="566928" y="2633472"/>
            <a:ext cx="5394960" cy="868680"/>
          </a:xfrm>
          <a:prstGeom prst="roundRect">
            <a:avLst>
              <a:gd name="adj" fmla="val 8421"/>
            </a:avLst>
          </a:prstGeom>
          <a:solidFill>
            <a:srgbClr val="1C2740"/>
          </a:solidFill>
          <a:ln w="10160">
            <a:solidFill>
              <a:srgbClr val="2E3B57"/>
            </a:solidFill>
            <a:prstDash val="solid"/>
          </a:ln>
        </p:spPr>
      </p:sp>
      <p:sp>
        <p:nvSpPr>
          <p:cNvPr id="17" name="Text 14"/>
          <p:cNvSpPr/>
          <p:nvPr/>
        </p:nvSpPr>
        <p:spPr>
          <a:xfrm>
            <a:off x="731520" y="2807208"/>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3</a:t>
            </a:r>
            <a:endParaRPr lang="en-US" sz="1500" dirty="0"/>
          </a:p>
        </p:txBody>
      </p:sp>
      <p:sp>
        <p:nvSpPr>
          <p:cNvPr id="18" name="Text 15"/>
          <p:cNvSpPr/>
          <p:nvPr/>
        </p:nvSpPr>
        <p:spPr>
          <a:xfrm>
            <a:off x="1316736" y="2752344"/>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Application · 编排两阶段</a:t>
            </a:r>
            <a:endParaRPr lang="en-US" sz="1450" dirty="0"/>
          </a:p>
        </p:txBody>
      </p:sp>
      <p:sp>
        <p:nvSpPr>
          <p:cNvPr id="19" name="Text 16"/>
          <p:cNvSpPr/>
          <p:nvPr/>
        </p:nvSpPr>
        <p:spPr>
          <a:xfrm>
            <a:off x="1316736" y="3072384"/>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顺序调用 Review 与 Revision，并保持同一 session。</a:t>
            </a:r>
            <a:endParaRPr lang="en-US" sz="1170" dirty="0"/>
          </a:p>
        </p:txBody>
      </p:sp>
      <p:sp>
        <p:nvSpPr>
          <p:cNvPr id="20" name="Shape 17"/>
          <p:cNvSpPr/>
          <p:nvPr/>
        </p:nvSpPr>
        <p:spPr>
          <a:xfrm>
            <a:off x="6236208" y="2633472"/>
            <a:ext cx="5394960" cy="868680"/>
          </a:xfrm>
          <a:prstGeom prst="roundRect">
            <a:avLst>
              <a:gd name="adj" fmla="val 8421"/>
            </a:avLst>
          </a:prstGeom>
          <a:solidFill>
            <a:srgbClr val="1C2740"/>
          </a:solidFill>
          <a:ln w="10160">
            <a:solidFill>
              <a:srgbClr val="2E3B57"/>
            </a:solidFill>
            <a:prstDash val="solid"/>
          </a:ln>
        </p:spPr>
      </p:sp>
      <p:sp>
        <p:nvSpPr>
          <p:cNvPr id="21" name="Text 18"/>
          <p:cNvSpPr/>
          <p:nvPr/>
        </p:nvSpPr>
        <p:spPr>
          <a:xfrm>
            <a:off x="6400800" y="2807208"/>
            <a:ext cx="438912" cy="438912"/>
          </a:xfrm>
          <a:prstGeom prst="ellipse">
            <a:avLst/>
          </a:prstGeom>
          <a:solidFill>
            <a:srgbClr val="FF6A3D"/>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4</a:t>
            </a:r>
            <a:endParaRPr lang="en-US" sz="1500" dirty="0"/>
          </a:p>
        </p:txBody>
      </p:sp>
      <p:sp>
        <p:nvSpPr>
          <p:cNvPr id="22" name="Text 19"/>
          <p:cNvSpPr/>
          <p:nvPr/>
        </p:nvSpPr>
        <p:spPr>
          <a:xfrm>
            <a:off x="6986016" y="2752344"/>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Reviewer / Human · 定义边界</a:t>
            </a:r>
            <a:endParaRPr lang="en-US" sz="1450" dirty="0"/>
          </a:p>
        </p:txBody>
      </p:sp>
      <p:sp>
        <p:nvSpPr>
          <p:cNvPr id="23" name="Text 20"/>
          <p:cNvSpPr/>
          <p:nvPr/>
        </p:nvSpPr>
        <p:spPr>
          <a:xfrm>
            <a:off x="6986016" y="3072384"/>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Harness Agent 自审源覆盖；Reviewer 定义业务边界。</a:t>
            </a:r>
            <a:endParaRPr lang="en-US" sz="1170" dirty="0"/>
          </a:p>
        </p:txBody>
      </p:sp>
      <p:sp>
        <p:nvSpPr>
          <p:cNvPr id="24" name="Shape 21"/>
          <p:cNvSpPr/>
          <p:nvPr/>
        </p:nvSpPr>
        <p:spPr>
          <a:xfrm>
            <a:off x="566928" y="3666744"/>
            <a:ext cx="5394960" cy="868680"/>
          </a:xfrm>
          <a:prstGeom prst="roundRect">
            <a:avLst>
              <a:gd name="adj" fmla="val 8421"/>
            </a:avLst>
          </a:prstGeom>
          <a:solidFill>
            <a:srgbClr val="1C2740"/>
          </a:solidFill>
          <a:ln w="10160">
            <a:solidFill>
              <a:srgbClr val="2E3B57"/>
            </a:solidFill>
            <a:prstDash val="solid"/>
          </a:ln>
        </p:spPr>
      </p:sp>
      <p:sp>
        <p:nvSpPr>
          <p:cNvPr id="25" name="Text 22"/>
          <p:cNvSpPr/>
          <p:nvPr/>
        </p:nvSpPr>
        <p:spPr>
          <a:xfrm>
            <a:off x="731520" y="3840480"/>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5</a:t>
            </a:r>
            <a:endParaRPr lang="en-US" sz="1500" dirty="0"/>
          </a:p>
        </p:txBody>
      </p:sp>
      <p:sp>
        <p:nvSpPr>
          <p:cNvPr id="26" name="Text 23"/>
          <p:cNvSpPr/>
          <p:nvPr/>
        </p:nvSpPr>
        <p:spPr>
          <a:xfrm>
            <a:off x="1316736" y="3785616"/>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Memory 设计者 · 保存方法</a:t>
            </a:r>
            <a:endParaRPr lang="en-US" sz="1450" dirty="0"/>
          </a:p>
        </p:txBody>
      </p:sp>
      <p:sp>
        <p:nvSpPr>
          <p:cNvPr id="27" name="Text 24"/>
          <p:cNvSpPr/>
          <p:nvPr/>
        </p:nvSpPr>
        <p:spPr>
          <a:xfrm>
            <a:off x="1316736" y="4105656"/>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要求 Records 描述何时适用、检查什么、避免什么。</a:t>
            </a:r>
            <a:endParaRPr lang="en-US" sz="1170" dirty="0"/>
          </a:p>
        </p:txBody>
      </p:sp>
      <p:sp>
        <p:nvSpPr>
          <p:cNvPr id="28" name="Shape 25"/>
          <p:cNvSpPr/>
          <p:nvPr/>
        </p:nvSpPr>
        <p:spPr>
          <a:xfrm>
            <a:off x="6236208" y="3666744"/>
            <a:ext cx="5394960" cy="868680"/>
          </a:xfrm>
          <a:prstGeom prst="roundRect">
            <a:avLst>
              <a:gd name="adj" fmla="val 8421"/>
            </a:avLst>
          </a:prstGeom>
          <a:solidFill>
            <a:srgbClr val="1C2740"/>
          </a:solidFill>
          <a:ln w="10160">
            <a:solidFill>
              <a:srgbClr val="2E3B57"/>
            </a:solidFill>
            <a:prstDash val="solid"/>
          </a:ln>
        </p:spPr>
      </p:sp>
      <p:sp>
        <p:nvSpPr>
          <p:cNvPr id="29" name="Text 26"/>
          <p:cNvSpPr/>
          <p:nvPr/>
        </p:nvSpPr>
        <p:spPr>
          <a:xfrm>
            <a:off x="6400800" y="3840480"/>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6</a:t>
            </a:r>
            <a:endParaRPr lang="en-US" sz="1500" dirty="0"/>
          </a:p>
        </p:txBody>
      </p:sp>
      <p:sp>
        <p:nvSpPr>
          <p:cNvPr id="30" name="Text 27"/>
          <p:cNvSpPr/>
          <p:nvPr/>
        </p:nvSpPr>
        <p:spPr>
          <a:xfrm>
            <a:off x="6986016" y="3785616"/>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Memory System · 区分 Records</a:t>
            </a:r>
            <a:endParaRPr lang="en-US" sz="1450" dirty="0"/>
          </a:p>
        </p:txBody>
      </p:sp>
      <p:sp>
        <p:nvSpPr>
          <p:cNvPr id="31" name="Text 28"/>
          <p:cNvSpPr/>
          <p:nvPr/>
        </p:nvSpPr>
        <p:spPr>
          <a:xfrm>
            <a:off x="6986016" y="4105656"/>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EPISODIC：Episode 记一次任务；Reflection 沉淀跨任务方法。</a:t>
            </a:r>
            <a:endParaRPr lang="en-US" sz="1170" dirty="0"/>
          </a:p>
        </p:txBody>
      </p:sp>
      <p:sp>
        <p:nvSpPr>
          <p:cNvPr id="32" name="Shape 29"/>
          <p:cNvSpPr/>
          <p:nvPr/>
        </p:nvSpPr>
        <p:spPr>
          <a:xfrm>
            <a:off x="566928" y="4700016"/>
            <a:ext cx="5394960" cy="868680"/>
          </a:xfrm>
          <a:prstGeom prst="roundRect">
            <a:avLst>
              <a:gd name="adj" fmla="val 8421"/>
            </a:avLst>
          </a:prstGeom>
          <a:solidFill>
            <a:srgbClr val="1C2740"/>
          </a:solidFill>
          <a:ln w="10160">
            <a:solidFill>
              <a:srgbClr val="2E3B57"/>
            </a:solidFill>
            <a:prstDash val="solid"/>
          </a:ln>
        </p:spPr>
      </p:sp>
      <p:sp>
        <p:nvSpPr>
          <p:cNvPr id="33" name="Text 30"/>
          <p:cNvSpPr/>
          <p:nvPr/>
        </p:nvSpPr>
        <p:spPr>
          <a:xfrm>
            <a:off x="731520" y="4873752"/>
            <a:ext cx="438912" cy="438912"/>
          </a:xfrm>
          <a:prstGeom prst="ellipse">
            <a:avLst/>
          </a:prstGeom>
          <a:solidFill>
            <a:srgbClr val="FF6A3D"/>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7</a:t>
            </a:r>
            <a:endParaRPr lang="en-US" sz="1500" dirty="0"/>
          </a:p>
        </p:txBody>
      </p:sp>
      <p:sp>
        <p:nvSpPr>
          <p:cNvPr id="34" name="Text 31"/>
          <p:cNvSpPr/>
          <p:nvPr/>
        </p:nvSpPr>
        <p:spPr>
          <a:xfrm>
            <a:off x="1316736" y="4818888"/>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AgentCore Harness · 控制注入</a:t>
            </a:r>
            <a:endParaRPr lang="en-US" sz="1450" dirty="0"/>
          </a:p>
        </p:txBody>
      </p:sp>
      <p:sp>
        <p:nvSpPr>
          <p:cNvPr id="35" name="Text 32"/>
          <p:cNvSpPr/>
          <p:nvPr/>
        </p:nvSpPr>
        <p:spPr>
          <a:xfrm>
            <a:off x="1316736" y="5138928"/>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调用 Retrieval、设置 topK，并记录向 Harness Agent 注入的 Records。</a:t>
            </a:r>
            <a:endParaRPr lang="en-US" sz="1170" dirty="0"/>
          </a:p>
        </p:txBody>
      </p:sp>
      <p:sp>
        <p:nvSpPr>
          <p:cNvPr id="36" name="Shape 33"/>
          <p:cNvSpPr/>
          <p:nvPr/>
        </p:nvSpPr>
        <p:spPr>
          <a:xfrm>
            <a:off x="6236208" y="4700016"/>
            <a:ext cx="5394960" cy="868680"/>
          </a:xfrm>
          <a:prstGeom prst="roundRect">
            <a:avLst>
              <a:gd name="adj" fmla="val 8421"/>
            </a:avLst>
          </a:prstGeom>
          <a:solidFill>
            <a:srgbClr val="1C2740"/>
          </a:solidFill>
          <a:ln w="10160">
            <a:solidFill>
              <a:srgbClr val="2E3B57"/>
            </a:solidFill>
            <a:prstDash val="solid"/>
          </a:ln>
        </p:spPr>
      </p:sp>
      <p:sp>
        <p:nvSpPr>
          <p:cNvPr id="37" name="Text 34"/>
          <p:cNvSpPr/>
          <p:nvPr/>
        </p:nvSpPr>
        <p:spPr>
          <a:xfrm>
            <a:off x="6400800" y="4873752"/>
            <a:ext cx="438912" cy="438912"/>
          </a:xfrm>
          <a:prstGeom prst="ellipse">
            <a:avLst/>
          </a:prstGeom>
          <a:solidFill>
            <a:srgbClr val="0073E5"/>
          </a:solidFill>
          <a:ln/>
        </p:spPr>
        <p:txBody>
          <a:bodyPr wrap="square" lIns="0" tIns="0" rIns="0" bIns="0" rtlCol="0" anchor="ctr"/>
          <a:lstStyle/>
          <a:p>
            <a:pPr algn="ctr" indent="0" marL="0">
              <a:buNone/>
            </a:pPr>
            <a:r>
              <a:rPr lang="en-US" sz="1500" b="1" dirty="0">
                <a:solidFill>
                  <a:srgbClr val="FFFFFF"/>
                </a:solidFill>
                <a:latin typeface="Amazon Ember Display" pitchFamily="34" charset="0"/>
                <a:ea typeface="Amazon Ember Display" pitchFamily="34" charset="-122"/>
                <a:cs typeface="Amazon Ember Display" pitchFamily="34" charset="-120"/>
              </a:rPr>
              <a:t>8</a:t>
            </a:r>
            <a:endParaRPr lang="en-US" sz="1500" dirty="0"/>
          </a:p>
        </p:txBody>
      </p:sp>
      <p:sp>
        <p:nvSpPr>
          <p:cNvPr id="38" name="Text 35"/>
          <p:cNvSpPr/>
          <p:nvPr/>
        </p:nvSpPr>
        <p:spPr>
          <a:xfrm>
            <a:off x="6986016" y="4818888"/>
            <a:ext cx="4434840" cy="274320"/>
          </a:xfrm>
          <a:prstGeom prst="rect">
            <a:avLst/>
          </a:prstGeom>
          <a:noFill/>
          <a:ln/>
        </p:spPr>
        <p:txBody>
          <a:bodyPr wrap="square" lIns="0" tIns="0" rIns="0" bIns="0" rtlCol="0" anchor="ctr"/>
          <a:lstStyle/>
          <a:p>
            <a:pPr indent="0" marL="0">
              <a:buNone/>
            </a:pPr>
            <a:r>
              <a:rPr lang="en-US" sz="1450" b="1" dirty="0">
                <a:solidFill>
                  <a:srgbClr val="FFFFFF"/>
                </a:solidFill>
                <a:latin typeface="Microsoft YaHei" pitchFamily="34" charset="0"/>
                <a:ea typeface="Microsoft YaHei" pitchFamily="34" charset="-122"/>
                <a:cs typeface="Microsoft YaHei" pitchFamily="34" charset="-120"/>
              </a:rPr>
              <a:t>Reviewer / Human · 校准结果</a:t>
            </a:r>
            <a:endParaRPr lang="en-US" sz="1450" dirty="0"/>
          </a:p>
        </p:txBody>
      </p:sp>
      <p:sp>
        <p:nvSpPr>
          <p:cNvPr id="39" name="Text 36"/>
          <p:cNvSpPr/>
          <p:nvPr/>
        </p:nvSpPr>
        <p:spPr>
          <a:xfrm>
            <a:off x="6986016" y="5138928"/>
            <a:ext cx="4389120" cy="256032"/>
          </a:xfrm>
          <a:prstGeom prst="rect">
            <a:avLst/>
          </a:prstGeom>
          <a:noFill/>
          <a:ln/>
        </p:spPr>
        <p:txBody>
          <a:bodyPr wrap="square" lIns="0" tIns="0" rIns="0" bIns="0" rtlCol="0" anchor="ctr"/>
          <a:lstStyle/>
          <a:p>
            <a:pPr indent="0" marL="0">
              <a:buNone/>
            </a:pPr>
            <a:r>
              <a:rPr lang="en-US" sz="1170" dirty="0">
                <a:solidFill>
                  <a:srgbClr val="CFD9E4"/>
                </a:solidFill>
                <a:latin typeface="Microsoft YaHei" pitchFamily="34" charset="0"/>
                <a:ea typeface="Microsoft YaHei" pitchFamily="34" charset="-122"/>
                <a:cs typeface="Microsoft YaHei" pitchFamily="34" charset="-120"/>
              </a:rPr>
              <a:t>分别检查忠实性、完整性、粒度、过度抽取和业务边界。</a:t>
            </a:r>
            <a:endParaRPr lang="en-US" sz="1170" dirty="0"/>
          </a:p>
        </p:txBody>
      </p:sp>
      <p:sp>
        <p:nvSpPr>
          <p:cNvPr id="40" name="Shape 37"/>
          <p:cNvSpPr/>
          <p:nvPr/>
        </p:nvSpPr>
        <p:spPr>
          <a:xfrm>
            <a:off x="1664208" y="5650992"/>
            <a:ext cx="8869680" cy="502920"/>
          </a:xfrm>
          <a:prstGeom prst="roundRect">
            <a:avLst>
              <a:gd name="adj" fmla="val 14545"/>
            </a:avLst>
          </a:prstGeom>
          <a:solidFill>
            <a:srgbClr val="0B1220"/>
          </a:solidFill>
          <a:ln w="10160">
            <a:solidFill>
              <a:srgbClr val="42B4FF"/>
            </a:solidFill>
            <a:prstDash val="solid"/>
          </a:ln>
        </p:spPr>
      </p:sp>
      <p:sp>
        <p:nvSpPr>
          <p:cNvPr id="41" name="Text 38"/>
          <p:cNvSpPr/>
          <p:nvPr/>
        </p:nvSpPr>
        <p:spPr>
          <a:xfrm>
            <a:off x="1920240" y="5650992"/>
            <a:ext cx="8357616" cy="502920"/>
          </a:xfrm>
          <a:prstGeom prst="rect">
            <a:avLst/>
          </a:prstGeom>
          <a:noFill/>
          <a:ln/>
        </p:spPr>
        <p:txBody>
          <a:bodyPr wrap="square" lIns="0" tIns="0" rIns="0" bIns="0" rtlCol="0" anchor="ctr"/>
          <a:lstStyle/>
          <a:p>
            <a:pPr algn="ctr" indent="0" marL="0">
              <a:buNone/>
            </a:pPr>
            <a:r>
              <a:rPr lang="en-US" sz="1550" b="1" dirty="0">
                <a:solidFill>
                  <a:srgbClr val="42B4FF"/>
                </a:solidFill>
                <a:latin typeface="Amazon Ember Display" pitchFamily="34" charset="0"/>
                <a:ea typeface="Amazon Ember Display" pitchFamily="34" charset="-122"/>
                <a:cs typeface="Amazon Ember Display" pitchFamily="34" charset="-120"/>
              </a:rPr>
              <a:t>Harness Agent 产 Review；Memory System 生成/检索；AgentCore Harness 注入；Reviewer / Human 判断质量。</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mazon Emb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亚马逊云科技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记忆最佳实践</dc:title>
  <dc:subject>Agent memory best practices for structured data extraction</dc:subject>
  <dc:creator>Amazon Web Services</dc:creator>
  <cp:lastModifiedBy>Amazon Web Services</cp:lastModifiedBy>
  <cp:revision>1</cp:revision>
  <dcterms:created xsi:type="dcterms:W3CDTF">2026-09-12T04:20:35Z</dcterms:created>
  <dcterms:modified xsi:type="dcterms:W3CDTF">2026-09-12T04:20:35Z</dcterms:modified>
</cp:coreProperties>
</file>