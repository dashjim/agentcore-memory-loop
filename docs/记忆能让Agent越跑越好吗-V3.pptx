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43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AGENTCORE MEMORY · V3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572768"/>
            <a:ext cx="10789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显式自审形成的记忆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能迁移到下一份文档吗？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3310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用一次真实的 EPISODIC Memory 生成与单页留出实验，直接观察 Memory 如何改变抽取行为。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85800" y="3977640"/>
            <a:ext cx="10104120" cy="1051560"/>
          </a:xfrm>
          <a:prstGeom prst="roundRect">
            <a:avLst>
              <a:gd name="adj" fmla="val 6957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977640"/>
            <a:ext cx="9646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2B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页源文档 → self_review → 1 episode + 2 reflections → 新 session 抽取电机图纸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54864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6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Memory-Loop V3 · us-west-2 · 完整输出交由人工审阅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6419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这次只问一个问题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无人工反馈、无外部评分参与 Memory 形成：Agent 自审产生的托管记忆，会不会改变下一份文档的抽取？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0C34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965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SOURCE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230428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页液氮罐文档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2743200"/>
            <a:ext cx="2980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两阶段执行：先形成显式 self_review，再根据 next_actions 修订最终结果。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70248" y="1828800"/>
            <a:ext cx="3383280" cy="2103120"/>
          </a:xfrm>
          <a:prstGeom prst="roundRect">
            <a:avLst>
              <a:gd name="adj" fmla="val 3478"/>
            </a:avLst>
          </a:prstGeom>
          <a:solidFill>
            <a:srgbClr val="2A2418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71416" y="19659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MANAGED MEMORY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471416" y="230428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EPISODIC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471416" y="2743200"/>
            <a:ext cx="29809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后台从完整 session 提炼 episode，并跨 episode 生成可复用 reflection。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73568" y="18288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12331F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74736" y="196596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TARGET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74736" y="2304288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一页电机图纸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174736" y="2743200"/>
            <a:ext cx="32552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同一抽取 prompt，对比 Memory enabled 与 Memory disabled 的输出差异。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42519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不是“模型记住了答案”，而是“模型记住了处理复杂文档的方法”。</a:t>
            </a:r>
            <a:endParaRPr lang="en-US" sz="2200" dirty="0"/>
          </a:p>
        </p:txBody>
      </p:sp>
      <p:sp>
        <p:nvSpPr>
          <p:cNvPr id="21" name="Shape 18"/>
          <p:cNvSpPr/>
          <p:nvPr/>
        </p:nvSpPr>
        <p:spPr>
          <a:xfrm>
            <a:off x="2395728" y="4983480"/>
            <a:ext cx="7406640" cy="749808"/>
          </a:xfrm>
          <a:prstGeom prst="roundRect">
            <a:avLst>
              <a:gd name="adj" fmla="val 9756"/>
            </a:avLst>
          </a:prstGeom>
          <a:solidFill>
            <a:srgbClr val="0B122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96896" y="5458968"/>
            <a:ext cx="70043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不报告自动分数，完整结果由人工判断是否忠实、完整、存在臆造。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THE 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从自审到跨任务复用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形成与目标测试分成两个清晰阶段；目标测试使用新的 runtime session。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1945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①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2532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内部草稿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29718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通读源文档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96312" y="2331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898648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0C34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99816" y="21945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②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099816" y="2532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显式自审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099816" y="29718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coverage / omissions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 / granularity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28032" y="2331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230368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31536" y="21945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③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31536" y="2532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431536" y="29718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next_actions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159752" y="2331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562088" y="2057400"/>
            <a:ext cx="1901952" cy="1143000"/>
          </a:xfrm>
          <a:prstGeom prst="roundRect">
            <a:avLst>
              <a:gd name="adj" fmla="val 6400"/>
            </a:avLst>
          </a:prstGeom>
          <a:solidFill>
            <a:srgbClr val="2A2418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63256" y="21945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④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763256" y="2532888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托管提炼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763256" y="2971800"/>
            <a:ext cx="14996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 + reflections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491472" y="23317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893808" y="205740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12331F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094976" y="219456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⑤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094976" y="253288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目标测试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10094976" y="2971800"/>
            <a:ext cx="13350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session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66928" y="3794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FF6A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39410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3800" dirty="0"/>
          </a:p>
        </p:txBody>
      </p:sp>
      <p:sp>
        <p:nvSpPr>
          <p:cNvPr id="34" name="Text 31"/>
          <p:cNvSpPr/>
          <p:nvPr/>
        </p:nvSpPr>
        <p:spPr>
          <a:xfrm>
            <a:off x="658368" y="4599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session-level episode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389120" y="3794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42B4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80560" y="39410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2</a:t>
            </a:r>
            <a:endParaRPr lang="en-US" sz="3800" dirty="0"/>
          </a:p>
        </p:txBody>
      </p:sp>
      <p:sp>
        <p:nvSpPr>
          <p:cNvPr id="37" name="Text 34"/>
          <p:cNvSpPr/>
          <p:nvPr/>
        </p:nvSpPr>
        <p:spPr>
          <a:xfrm>
            <a:off x="4480560" y="4599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actor-level reflections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211312" y="37947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00E50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02752" y="394106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</a:t>
            </a:r>
            <a:endParaRPr lang="en-US" sz="3800" dirty="0"/>
          </a:p>
        </p:txBody>
      </p:sp>
      <p:sp>
        <p:nvSpPr>
          <p:cNvPr id="40" name="Text 37"/>
          <p:cNvSpPr/>
          <p:nvPr/>
        </p:nvSpPr>
        <p:spPr>
          <a:xfrm>
            <a:off x="8302752" y="45994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actor</a:t>
            </a:r>
            <a:endParaRPr lang="en-US" sz="1250" dirty="0"/>
          </a:p>
        </p:txBody>
      </p:sp>
      <p:sp>
        <p:nvSpPr>
          <p:cNvPr id="41" name="Text 38"/>
          <p:cNvSpPr/>
          <p:nvPr/>
        </p:nvSpPr>
        <p:spPr>
          <a:xfrm>
            <a:off x="8211312" y="5230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actor: ep-review-1789102186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CONTENT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AgentCore 实际记住了什么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不是字段值，而是处理复杂技术文档的工作模式与质量控制经验。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1737360"/>
            <a:ext cx="3657600" cy="3611880"/>
          </a:xfrm>
          <a:prstGeom prst="roundRect">
            <a:avLst>
              <a:gd name="adj" fmla="val 2025"/>
            </a:avLst>
          </a:prstGeom>
          <a:solidFill>
            <a:srgbClr val="0C34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87452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EPISODE REFLECTION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2212848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两阶段流程设计有效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68096" y="2651760"/>
            <a:ext cx="325526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 self_review 再执行修订，降低一次性处理复杂文档时的遗漏风险。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将质量问题与对应 JSON 记录关联，保留可追溯性。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图片或 ASCII 图无法完整提取时，应显式说明限制。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53128" y="173736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2A2418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54296" y="187452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ACTOR REFLECTION 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54296" y="2212848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Two-Phase Structured Extraction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54296" y="2651760"/>
            <a:ext cx="311810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先检查覆盖、遗漏、格式和粒度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再执行结构化抽取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保留原文用于追溯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对不可抽取内容明确说明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02168" y="1737360"/>
            <a:ext cx="3429000" cy="3611880"/>
          </a:xfrm>
          <a:prstGeom prst="roundRect">
            <a:avLst>
              <a:gd name="adj" fmla="val 2133"/>
            </a:avLst>
          </a:prstGeom>
          <a:solidFill>
            <a:srgbClr val="12331F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03336" y="1874520"/>
            <a:ext cx="3026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ACTOR REFLECTION 2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03336" y="221284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Inline Annotation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03336" y="2651760"/>
            <a:ext cx="3026664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遇到 OCR 错误或冲突信息时不静默丢弃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将质量说明关联到对应记录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保留冲突值与原文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文档级限制放入 __META__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的抽象层级：任务执行方法 &gt; 当前文档事实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CONTROL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5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目标端只改变 Memory 开关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测试文档、模型、推理参数、prompt 和输出约束保持一致。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64240" cy="3337560"/>
        </p:xfrm>
        <a:graphic>
          <a:graphicData uri="http://schemas.openxmlformats.org/drawingml/2006/table">
            <a:tbl>
              <a:tblPr/>
              <a:tblGrid>
                <a:gridCol w="2468880"/>
                <a:gridCol w="6217920"/>
                <a:gridCol w="2377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控制项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3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测试文档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2477080009简图-8.16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System prompt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 invocation-level prompt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claude-sonnet-4-6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推理参数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temperature=0 · maxTokens=32768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工具与 Skill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skills=[] · tools=[]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Runtime session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两组均使用全新 session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 Memory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FD9E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enabled / disabled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E5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唯一变量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B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1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167128" y="5321808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0B122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368296" y="5797296"/>
            <a:ext cx="7461504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组复用 source actor；No Memory 组绑定 disabled Harness。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RESULT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改变了抽取覆盖范围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两组都抽出了标题栏与技术要求；Memory 组进一步系统展开了两张 BOM 表。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00E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92938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31 条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58368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首次运行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19088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0160">
            <a:solidFill>
              <a:srgbClr val="42B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10528" y="192938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11 条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6510528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Memory 首次运行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6928" y="3337560"/>
            <a:ext cx="10424160" cy="402336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66928" y="3337560"/>
            <a:ext cx="10424160" cy="402336"/>
          </a:xfrm>
          <a:prstGeom prst="rect">
            <a:avLst/>
          </a:prstGeom>
          <a:solidFill>
            <a:srgbClr val="00E500"/>
          </a:solidFill>
          <a:ln w="12700">
            <a:solidFill>
              <a:srgbClr val="00E5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4069080"/>
            <a:ext cx="3703320" cy="402336"/>
          </a:xfrm>
          <a:prstGeom prst="rect">
            <a:avLst/>
          </a:prstGeom>
          <a:solidFill>
            <a:srgbClr val="42B4FF"/>
          </a:solidFill>
          <a:ln w="12700">
            <a:solidFill>
              <a:srgbClr val="42B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30358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3767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No Memory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47091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2331F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484632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多出的主要内容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8096" y="5184648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机座、前后端盖、转子、定子、轴承，以及壳体/法兰盘/散热器等组件明细。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19088" y="47091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0C34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0256" y="4846320"/>
            <a:ext cx="4809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人工初看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20256" y="5184648"/>
            <a:ext cx="4809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新增条目基本都能在两张 BOM 表中找到原文依据，没有明显臆造。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EXAMPLES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同一份图纸，输出关注点不同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组把表格行当成需要完整保留的结构化信息；No Memory 组更聚焦技术要求。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1819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· BOM 条目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" y="2148840"/>
            <a:ext cx="5029200" cy="2953512"/>
          </a:xfrm>
          <a:prstGeom prst="roundRect">
            <a:avLst>
              <a:gd name="adj" fmla="val 2477"/>
            </a:avLst>
          </a:prstGeom>
          <a:solidFill>
            <a:srgbClr val="0B122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221992"/>
            <a:ext cx="4809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"设备部件": "机座",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"指标名称": "零件明细（表1-序号1）",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"指标特征": "数量：1；其余字段原文为「-」"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"设备部件": "壳体组件",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"指标名称": "组件明细（表2-序号1）",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"指标特征": "数量：1；其余字段原文为「-」"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36208" y="16916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9088" y="1819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NO MEMORY · 技术要求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19088" y="2148840"/>
            <a:ext cx="5029200" cy="2953512"/>
          </a:xfrm>
          <a:prstGeom prst="roundRect">
            <a:avLst>
              <a:gd name="adj" fmla="val 2477"/>
            </a:avLst>
          </a:prstGeom>
          <a:solidFill>
            <a:srgbClr val="0B122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8816" y="2221992"/>
            <a:ext cx="4809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"设备部件": "整机",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"指标名称": "未注公差等级",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"指标特征": "GB/T 1804-m级"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"设备部件": "轴承",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"指标名称": "装配数量",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  "指标特征": "2件"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FD9E4"/>
                </a:solidFill>
                <a:latin typeface="Amazon Ember Mono" pitchFamily="34" charset="0"/>
                <a:ea typeface="Amazon Ember Mono" pitchFamily="34" charset="-122"/>
                <a:cs typeface="Amazon Ember Mono" pitchFamily="34" charset="-120"/>
              </a:rPr>
              <a:t>]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32688" y="54864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观察：Memory 没有简单复读源文档事实，而是改变了“什么值得结构化”的判断。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E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ef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365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TAKEAWAY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66928" y="6473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7E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亚马逊云科技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43000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6A8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34747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V3 能说什么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005840"/>
            <a:ext cx="11064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这是一次行为观察：结果值得人工检查，但还不是统计结论。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2331F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192024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00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可以确认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2258568"/>
            <a:ext cx="4946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显式 self_review 能被托管 EPISODIC 提炼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actor-level reflection 能跨 session 复用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Memory 组明显扩大了 BOM 覆盖范围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新增条目初看有原文依据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81928" y="178308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2A2418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3096" y="1920240"/>
            <a:ext cx="4946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A3D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仍需人工判断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83096" y="2258568"/>
            <a:ext cx="4946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BOM 是否都属于任务目标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31 条是否存在过度抽取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两次运行的随机方差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9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reflection 的适用边界与噪声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66928" y="43891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C2740"/>
          </a:solidFill>
          <a:ln w="10160">
            <a:solidFill>
              <a:srgbClr val="2E3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38912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Memory 让 Agent 更主动地覆盖结构化表格；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2B4FF"/>
                </a:solidFill>
                <a:latin typeface="Amazon Ember Display" pitchFamily="34" charset="0"/>
                <a:ea typeface="Amazon Ember Display" pitchFamily="34" charset="-122"/>
                <a:cs typeface="Amazon Ember Display" pitchFamily="34" charset="-120"/>
              </a:rPr>
              <a:t>这种变化是改进还是过抽，最终要由任务口径决定。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mazon Emb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亚马逊云科技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Memory-Loop V3</dc:title>
  <dc:subject>AgentCore Memory V3 explicit self-review experiment</dc:subject>
  <dc:creator>Amazon Web Services</dc:creator>
  <cp:lastModifiedBy>Amazon Web Services</cp:lastModifiedBy>
  <cp:revision>1</cp:revision>
  <dcterms:created xsi:type="dcterms:W3CDTF">2026-09-11T07:53:54Z</dcterms:created>
  <dcterms:modified xsi:type="dcterms:W3CDTF">2026-09-11T07:53:54Z</dcterms:modified>
</cp:coreProperties>
</file>