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今天讨论一个具体问题：在结构化数据抽取场景中，怎样让 Harness Agent 从过去任务中学习，并在下一份文档中抽得更完整。
这里的 Memory 不应只是保存历史答案。更有价值的是保存 Review 发现的遗漏模式、检查方法和可复用抽取策略，再由 AgentCore Memory System 在后续任务中检索并注入给 Harness Agent。
接下来通过三项相互独立、前后递进的实验，说明什么样的学习信号能形成有用 Memory，以及 Memory 最终如何改变留出文档的抽取行为。
过渡： 先看结构化抽取真正困难的部分。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当前模型生成合法 JSON 并不困难，真正困难的是完整性。
工业文档的信息可能分散在正文、技术要求、BOM 表格、附注、图纸说明和 OCR 结果中。Harness Agent 往往优先关注明显的参数和数值，却可能把整张 BOM 或整个章节当成背景材料。
因此，结果即使格式完全正确，也可能只覆盖技术要求，没有覆盖表格中的零部件和组件。
核心挑战不是“Harness Agent 能不能输出 JSON”，而是“Harness Agent 如何发现自己漏了什么，并把这种发现带到下一次任务中”。
过渡： 这决定了 Memory 在抽取回路中应该承担什么角色。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Harness Agent 先执行抽取和 Review；AgentCore Memory System 再保存 session events，并根据配置的策略提炼可复用记录。
在后续任务开始前，AgentCore Memory System 检索相关记录，Harness 将这些记录作为上下文注入新的 Harness Agent session。
有价值的 Memory 应描述方法，例如：
• Harness Agent 应检查哪些文档区域；
• Harness Agent 应如何处理遗漏、冲突和重复；
• Harness Agent 输出前应执行哪些明确动作；
• Harness Agent 应如何选择抽取粒度。
Memory 不应直接复制上一份文档的业务答案，因为历史答案既占上下文，也可能误导新任务。
过渡： 为了判断哪种方法有效，我们把探索拆成三项边界清晰的实验。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三项实验回答三个不同问题。
实验一研究“只看输出能学到什么”。应用侧把 Harness Agent 的已有输出交给反思模型，再通过自定义 consolidation 维护 canonical memory，观察规则和抽取结果如何变化。
实验二研究“怎样产生可被托管 Memory 提炼的轨迹”。Harness Agent 同时查看原文和内部草稿，执行两阶段结构化 Self-review；AgentCore Memory System 使用内置 EPISODIC strategy 提炼完整 session。
实验三研究“已有 Memory 是否改变下一份文档的抽取”。Harness Agent 在留出文档上执行 Memory 开关对照；AgentCore Memory System 只在 Memory 组检索并注入 records。
三项实验依次对应：抽象规则学习、源任务 Memory 生成、目标任务效果验证。
过渡： 先进入实验一，只允许反思模型看到已经抽出的输出。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这是第一项独立实验的章节页。
实验一的输入边界是：反思模型只能看到 Harness Agent 已经抽出的结果，看不到原文，也看不到被完全遗漏的章节或表格。
应用侧负责调用反思模型生成规则，再调用 consolidation prompt 合并、去重并维护 canonical memory。这里形成的是自定义规则记忆，不是 AgentCore Memory System 内置 EPISODIC strategy 生成的 episode 或 reflection。
本实验的目标是判断：仅依赖输出侧自省，规则是否会逐轮收敛，以及抽取数量增加究竟代表覆盖提升还是拆分变细。
前后边界： 前四页是问题定义和实验地图；从本页到第 8 页只讨论实验一。第 9 页开始切换到新的源任务流程，不沿用实验一的输入条件。
过渡： 下一页先展示实验一真实使用的 reflection 与 consolidation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第一步，应用侧把某轮 Harness Agent 输出交给反思模型。Reflection prompt 要求模型总结不超过十条、可用于未来任务的规则。
第二步，应用侧把已有规则和新规则一起交给 consolidation 模型。Consolidation prompt 负责合并同义项、删除重复项，并把规则集控制在十五条以内。
这个流程每轮都能产生新的规则，而且规则会持续合并，因此形式上像一个自进化闭环。
但反思模型的观察范围只包含“已经抽出来的内容”。如果 Harness Agent 完全漏掉了一张 BOM，这张表不会出现在输出里，反思模型也无法从缺失信息中推导出遗漏。
过渡： 因此要同时看规则内容、抽取条数和原文覆盖，而不能只看 Memory 数量。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四轮 consolidation 最终形成了完整的 15 条 canonical memory：
1. 先识别指标所属主体，避免把部件指标错误归到整机；
2. 整体性能指标与部件性能指标分别记录；
3. 运输、交付和包装要求独立成条；
4. 子系统、附件和独立部件的要求分别记录；
5. 同一句涉及多个部件时，按部件拆分记录；
6. 同一句包含多个指标时，按指标拆分记录；
7. 指标名称应规范化，避免把完整句子直接作为名称；
8. 接管、接口和连接要求按接口对象分别记录；
9. 阀门、仪表和附件清单中的对象分别记录；
10. 不同部位、不同层次的材料要求分别记录；
11. 无损检测方法、比例、级别和标准应完整保留；
12. 制造工艺和结构要求应与性能指标区分；
13. 上下限、范围及大于小于符号必须忠实保留；
14. 功能性和描述性要求不能因为缺少数值而忽略；
15. 每条结果保留对应原文，支持追溯和复核。
这些规则并非都没有价值。限值符号保留、描述性要求保留和原文追溯都是合理的质量要求。
但规则集中有多条持续强调“分别成条”和“独立拆分”。四轮抽取条数从 90、93、95 增加到 102，最终 102 条只来自约 53 个唯一原文片段，平均每段原文被拆成 1.92 条。
因此，90→102 主要反映拆分粒度变细，不能直接证明覆盖了更多文档区域。
过渡： 实验一的结果需要用两类错误来解释。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第一类是源覆盖问题：信息明确存在于原文，但 Harness Agent 没有输出，例如漏掉 BOM、漏掉章节、重复记录或字段为空。
第二类是任务边界问题：Harness Agent 不知道某类内容是否属于目标，或者不知道一段原文应该拆成几条。这需要任务规范、Reviewer 或人工反馈。
实验一说明，只看输出的抽象自省可以改善格式、规范化和局部拆分规则，但无法稳定发现完全未进入输出的区域。规则增加和条数增加也可能只是过度拆分。
因此，正确结论不是“Self-reflection 没用”，而是“只看输出时，反思模型获得的学习信号不足”。
过渡： 实验二改变输入条件，让 Harness Agent 的 Review 同时看到原文和内部草稿。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这是第二项独立实验的章节页。
实验二不再沿用实验一“只看输出”的抽象自省。Harness Agent 在同一个源任务 session 中读取 13 页液氮罐技术要求，先形成内部草稿，再输出结构化 self_review，最后根据 next_actions 修订并输出最终 JSON。
Harness Agent 负责抽取、自审和修订；AgentCore Memory System 负责保存 session events，并使用内置 EPISODIC strategy 异步执行 Extraction、Consolidation 和 Reflection。
本实验的目标不是直接比较最终条数，而是构造一条包含“原文、Review、修订结果”的高质量轨迹，观察托管 Memory 能否从中提炼出 episode 和 actor-level reflections。
前后边界： 第 5 至第 8 页的实验一到此结束；第 9 至第 12 页只讨论源任务如何产生托管 Memory。第 13 页才开始在另一份留出文档上验证效果。
过渡： 下一页先看 Harness Agent 如何执行两阶段 Self-review。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阶段一的执行主体是 Harness Agent。
Harness Agent 在内部形成草稿，但不向用户输出草稿，只输出结构化 self_review。固定检查项包括 coverage、omissions、format、granularity 和 next_actions。
阶段二仍由同一个 Harness Agent 执行。Harness Agent 重新读取原文和 self_review，逐项落实 next_actions，再输出最终五字段 JSON。
这个设计不要求模型暴露完整思维过程。它要求 Harness Agent 产生一个可观察、可执行的 Review artifact，并在同一 session 中留下修订前后的因果轨迹。
应用或 Harness 负责两阶段调用顺序和输出约束；此时 AgentCore Memory System 尚不负责抽取业务数据，也不替 Harness Agent 做 Review。
过渡： 完整 session 结束后，AgentCore Memory System 才开始提炼这条轨迹。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这一页的执行主体是 AgentCore Memory System，策略类型是内置 EPISODIC strategy。
Harness Agent 已经在 session events 中留下原文、结构化 self_review、最终 JSON 和任务结束信号。AgentCore Memory System 随后异步执行三个处理阶段：
1. Episode Extraction：分析 session 中的行为、Review 与结果；
2. Consolidation：形成 session-level episode；
3. Reflection：从 episode 中抽象 actor-level 可复用策略。
Session-level episode 的作用域是当前 actor 和 session，namespace 为 /episodes/{actorId}/{sessionId}。
Actor-level reflection 的作用域是当前 actor，namespace 为 /episodes/{actorId}，用于后续 session 的跨任务召回。
EPISODIC 提炼是异步过程，短 session 不保证一定生成 Memory。本次 13 页源任务提供了足够完整的执行轨迹。
过渡： 下一页展示 AgentCore Memory System 实际生成的 records，而不是概念示例。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AgentCore Memory System 的内置 EPISODIC strategy 最终生成了 1 条 session-level episode 和 2 条 actor-level reflections。
Session-level episode 总结了本次任务发生了什么：Harness Agent 使用两阶段流程，先输出 self_review，再执行修订；面对 OCR 错误、章节跳号、重复表格和图片限制时，应显式处理并保留可追溯信息。
两条 actor-level reflections 把本次经验抽象成未来可复用的方法：
• Harness Agent 应先系统检查 coverage、omissions、format 和 granularity，再执行明确的 next_actions；
• Harness Agent 应保留原文用于追溯，遇到冲突或无法完整结构化的内容时，不应静默丢弃信息。
Episode 回答“这一次任务发生了什么”；actor reflection 回答“未来遇到类似任务时应该怎么做”。
这些 records 的生成主体是 AgentCore Memory System，不是 Harness Agent 手工写入，也不是应用侧沿用实验一的自定义 canonical rules。
过渡： 实验二到此只证明 Memory 已经形成；实验三才验证这些 records 是否会改变新文档的抽取。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这是第三项独立实验的章节页，也是效果验证实验。
源任务仍是实验二的 13 页液氮罐技术要求；目标任务换成一页电机图纸“2477080009简图-8.16”，并使用全新的 runtime session。
Harness Agent 在目标文档上执行抽取。Memory 组由 AgentCore Memory System 检索实验二形成的 EPISODIC records，并由 Harness 注入给 Harness Agent；No Memory 组完全禁用 Memory。
本实验不再生成或比较新的自省规则，问题只有一个：在其他条件相同的情况下，Memory 注入是否改变 Harness Agent 对目标文档的覆盖重点。
前后边界： 第 9 至第 12 页的实验二是 Memory 生成阶段；从本页到第 15 页是留出文档验证阶段。源任务的答案不会提供给目标任务，目标 Harness Agent 只接收托管 Memory 中的方法性 records。
过渡： 为了让结果可解释，下一页先锁定控制变量。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两组目标抽取都由 Harness Agent 执行，并保持以下条件一致：
• 相同的一页电机图纸；
• 相同的 invocation-level system prompt；
• 相同模型 claude-sonnet-4-6；
• 相同 temperature=0；
• 相同 maxTokens=32768；
• 都禁用 Skill 和 tools；
• 都使用全新 session；
• 都执行单次抽取，并在内部自审后输出最终 JSON。
唯一变量是 AgentCore Memory System 是否参与 Retrieval 和 context injection。
Memory 组使用 extractor_ep_review，复用 source actor ep-review-1789102186。AgentCore Memory System 检索该 actor 的 EPISODIC records，Harness 将其注入目标 Harness Agent。
No Memory 组使用 extractor_ep_review_nomem，Harness 的 Memory 配置为 disabled。
过渡： 在这组严格对照下，最重要的结果不是格式差异，而是 Harness Agent 是否开始系统覆盖两张 BOM。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这是全套实验最重要的一页。
首次运行中，Memory 组由 Harness Agent 输出 31 条记录；No Memory 组由 Harness Agent 输出 11 条记录。这里不能表述为“质量提升三倍”，因为条数不是质量分数。
真正值得关注的是新增内容的来源。Memory 组多出的约 20 条记录主要来自图纸中的两张 BOM，Harness Agent 系统展开了其中的零部件和组件，例如机座、前端盖、转子、轴承、壳体组件、法兰盘组件和散热器组件。
No Memory 组主要关注标题栏和技术要求，只零散抽取了少量数量信息，没有同样系统地展开两张 BOM。
人眼核对后，这些新增条目基本能够在原文表格中找到依据，并非明显臆造。但这仍然不代表每一条都符合最终业务边界，条目是否应纳入正式结果仍需 Reviewer 或人工评审。
因此，本页的准确结论是：
AgentCore Memory System 注入方法性 EPISODIC records 后，Harness Agent 改变了对“什么值得结构化”的判断，并显著扩大了对两张 BOM 的覆盖。
过渡： 把三项实验放在一起，可以得到一个比“Memory 有效或无效”更具体的结论。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实验一说明：当反思模型只看 Harness Agent 输出时，自定义 canonical memory 会学到格式、规范化和拆分规则，但无法稳定发现完全遗漏的文档区域，条数增长也可能来自过度拆分。
实验二说明：当 Harness Agent 同时查看原文和内部草稿，并输出结构化 self_review 与可执行 next_actions 时，完整 session 能为 AgentCore Memory System 的内置 EPISODIC strategy 提供更有价值的提炼轨迹。
实验三说明：AgentCore Memory System 在目标任务中检索并注入这些方法性 records 后，Harness Agent 的关注点发生变化；在一页电机图纸上，输出从 11 条变为 31 条，新增内容主要来自两张 BOM，且人眼看基本有原文依据。
统一结论不是“有 Memory 就一定更好”，而是：
• Memory 的价值取决于上游 Review 是否获得了足够的事实信号；
• 源覆盖问题适合由原文驱动的结构化 Self-review 改善；
• AgentCore EPISODIC Memory 适合沉淀和跨 session 复用方法；
• 任务边界与最终质量判断仍需规范、Reviewer 或人工反馈。
过渡： 最后把这些发现收敛成可执行的工程实践。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第一，Harness Agent 的 Review 必须同时查看原文和内部草稿，不能只看已有输出做抽象总结。
第二，Harness Agent 应输出结构化 Review artifact，固定检查覆盖、遗漏、格式和粒度，并形成明确、可执行的 next_actions。
第三，应用或 Harness 应明确控制两阶段调用、结束信号和实验变量，不要把编排动作误写成 Memory System 的能力。
第四，AgentCore Memory System 使用内置 EPISODIC strategy 时，应明确区分 session-level episode 与 actor-level reflection，以及 Extraction、Consolidation、Reflection 和 Retrieval 各阶段。
第五，AgentCore Memory System 保存和检索的重点应是方法性经验，而不是历史业务答案；Harness 将检索结果注入新的 Harness Agent session。
第六，团队应区分源覆盖问题和任务边界问题。前者可以通过原文驱动的 Self-review 改善，后者仍需任务规范、Reviewer 或人工反馈。
第七，评估时不能把记录条数直接当作质量分数。Reviewer 应分别检查忠实性、完整性、粒度、过度抽取和业务边界。
最终 takeaway 是：
Memory 的价值不是让 Harness Agent 记住上一份答案，而是让 AgentCore Memory System 复用一次高质量 Review 中形成的抽取方法。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85800" y="1097280"/>
            <a:ext cx="10058400" cy="347472"/>
          </a:xfrm>
          <a:prstGeom prst="rect">
            <a:avLst/>
          </a:prstGeom>
          <a:noFill/>
          <a:ln/>
        </p:spPr>
        <p:txBody>
          <a:bodyPr wrap="square" lIns="0" tIns="0" rIns="0" bIns="0" rtlCol="0" anchor="ctr"/>
          <a:lstStyle/>
          <a:p>
            <a:pPr indent="0" marL="0">
              <a:buNone/>
            </a:pPr>
            <a:r>
              <a:rPr lang="en-US" sz="1400" b="1" spc="300" kern="0" dirty="0">
                <a:solidFill>
                  <a:srgbClr val="42B4FF"/>
                </a:solidFill>
                <a:latin typeface="Amazon Ember Display" pitchFamily="34" charset="0"/>
                <a:ea typeface="Amazon Ember Display" pitchFamily="34" charset="-122"/>
                <a:cs typeface="Amazon Ember Display" pitchFamily="34" charset="-120"/>
              </a:rPr>
              <a:t>AGENTCORE MEMORY · STRUCTURED EXTRACTION</a:t>
            </a:r>
            <a:endParaRPr lang="en-US" sz="1400" dirty="0"/>
          </a:p>
        </p:txBody>
      </p:sp>
      <p:sp>
        <p:nvSpPr>
          <p:cNvPr id="4" name="Text 1"/>
          <p:cNvSpPr/>
          <p:nvPr/>
        </p:nvSpPr>
        <p:spPr>
          <a:xfrm>
            <a:off x="658368" y="1600200"/>
            <a:ext cx="10698480" cy="777240"/>
          </a:xfrm>
          <a:prstGeom prst="rect">
            <a:avLst/>
          </a:prstGeom>
          <a:noFill/>
          <a:ln/>
        </p:spPr>
        <p:txBody>
          <a:bodyPr wrap="square" lIns="0" tIns="0" rIns="0" bIns="0" rtlCol="0" anchor="ctr"/>
          <a:lstStyle/>
          <a:p>
            <a:pPr indent="0" marL="0">
              <a:buNone/>
            </a:pPr>
            <a:r>
              <a:rPr lang="en-US" sz="4600" b="1" dirty="0">
                <a:solidFill>
                  <a:srgbClr val="FFFFFF"/>
                </a:solidFill>
                <a:latin typeface="Amazon Ember Display" pitchFamily="34" charset="0"/>
                <a:ea typeface="Amazon Ember Display" pitchFamily="34" charset="-122"/>
                <a:cs typeface="Amazon Ember Display" pitchFamily="34" charset="-120"/>
              </a:rPr>
              <a:t>Agent 记忆最佳实践</a:t>
            </a:r>
            <a:endParaRPr lang="en-US" sz="4600" dirty="0"/>
          </a:p>
        </p:txBody>
      </p:sp>
      <p:sp>
        <p:nvSpPr>
          <p:cNvPr id="5" name="Text 2"/>
          <p:cNvSpPr/>
          <p:nvPr/>
        </p:nvSpPr>
        <p:spPr>
          <a:xfrm>
            <a:off x="685800" y="2487168"/>
            <a:ext cx="10424160" cy="566928"/>
          </a:xfrm>
          <a:prstGeom prst="rect">
            <a:avLst/>
          </a:prstGeom>
          <a:noFill/>
          <a:ln/>
        </p:spPr>
        <p:txBody>
          <a:bodyPr wrap="square" lIns="0" tIns="0" rIns="0" bIns="0" rtlCol="0" anchor="ctr"/>
          <a:lstStyle/>
          <a:p>
            <a:pPr indent="0" marL="0">
              <a:buNone/>
            </a:pPr>
            <a:r>
              <a:rPr lang="en-US" sz="2800" b="1" dirty="0">
                <a:solidFill>
                  <a:srgbClr val="42B4FF"/>
                </a:solidFill>
                <a:latin typeface="Amazon Ember Display" pitchFamily="34" charset="0"/>
                <a:ea typeface="Amazon Ember Display" pitchFamily="34" charset="-122"/>
                <a:cs typeface="Amazon Ember Display" pitchFamily="34" charset="-120"/>
              </a:rPr>
              <a:t>结构化数据抽取场景</a:t>
            </a:r>
            <a:endParaRPr lang="en-US" sz="2800" dirty="0"/>
          </a:p>
        </p:txBody>
      </p:sp>
      <p:sp>
        <p:nvSpPr>
          <p:cNvPr id="6" name="Text 3"/>
          <p:cNvSpPr/>
          <p:nvPr/>
        </p:nvSpPr>
        <p:spPr>
          <a:xfrm>
            <a:off x="685800" y="3429000"/>
            <a:ext cx="10332720" cy="457200"/>
          </a:xfrm>
          <a:prstGeom prst="rect">
            <a:avLst/>
          </a:prstGeom>
          <a:noFill/>
          <a:ln/>
        </p:spPr>
        <p:txBody>
          <a:bodyPr wrap="square" lIns="0" tIns="0" rIns="0" bIns="0" rtlCol="0" anchor="ctr"/>
          <a:lstStyle/>
          <a:p>
            <a:pPr indent="0" marL="0">
              <a:buNone/>
            </a:pPr>
            <a:r>
              <a:rPr lang="en-US" sz="1800" dirty="0">
                <a:solidFill>
                  <a:srgbClr val="CFD9E4"/>
                </a:solidFill>
                <a:latin typeface="Microsoft YaHei" pitchFamily="34" charset="0"/>
                <a:ea typeface="Microsoft YaHei" pitchFamily="34" charset="-122"/>
                <a:cs typeface="Microsoft YaHei" pitchFamily="34" charset="-120"/>
              </a:rPr>
              <a:t>怎样让 Agent 从一次抽取中学习，并在下一份文档中抽得更完整？</a:t>
            </a:r>
            <a:endParaRPr lang="en-US" sz="1800" dirty="0"/>
          </a:p>
        </p:txBody>
      </p:sp>
      <p:sp>
        <p:nvSpPr>
          <p:cNvPr id="7" name="Shape 4"/>
          <p:cNvSpPr/>
          <p:nvPr/>
        </p:nvSpPr>
        <p:spPr>
          <a:xfrm>
            <a:off x="685800" y="4133088"/>
            <a:ext cx="10149840" cy="1051560"/>
          </a:xfrm>
          <a:prstGeom prst="roundRect">
            <a:avLst>
              <a:gd name="adj" fmla="val 6957"/>
            </a:avLst>
          </a:prstGeom>
          <a:solidFill>
            <a:srgbClr val="1C2740"/>
          </a:solidFill>
          <a:ln w="10160">
            <a:solidFill>
              <a:srgbClr val="2E3B57"/>
            </a:solidFill>
            <a:prstDash val="solid"/>
          </a:ln>
        </p:spPr>
      </p:sp>
      <p:sp>
        <p:nvSpPr>
          <p:cNvPr id="8" name="Text 5"/>
          <p:cNvSpPr/>
          <p:nvPr/>
        </p:nvSpPr>
        <p:spPr>
          <a:xfrm>
            <a:off x="914400" y="4133088"/>
            <a:ext cx="9692640" cy="1051560"/>
          </a:xfrm>
          <a:prstGeom prst="rect">
            <a:avLst/>
          </a:prstGeom>
          <a:noFill/>
          <a:ln/>
        </p:spPr>
        <p:txBody>
          <a:bodyPr wrap="square" lIns="0" tIns="0" rIns="0" bIns="0" rtlCol="0" anchor="ctr"/>
          <a:lstStyle/>
          <a:p>
            <a:pPr algn="ctr" indent="0" marL="0">
              <a:buNone/>
            </a:pPr>
            <a:r>
              <a:rPr lang="en-US" sz="2000" b="1" dirty="0">
                <a:solidFill>
                  <a:srgbClr val="FFFFFF"/>
                </a:solidFill>
                <a:latin typeface="Amazon Ember Display" pitchFamily="34" charset="0"/>
                <a:ea typeface="Amazon Ember Display" pitchFamily="34" charset="-122"/>
                <a:cs typeface="Amazon Ember Display" pitchFamily="34" charset="-120"/>
              </a:rPr>
              <a:t>核心：把 Review 中发现的遗漏模式与处理策略，转化为可复用的 Memory。</a:t>
            </a:r>
            <a:endParaRPr lang="en-US" sz="2000" dirty="0"/>
          </a:p>
        </p:txBody>
      </p:sp>
      <p:sp>
        <p:nvSpPr>
          <p:cNvPr id="9" name="Text 6"/>
          <p:cNvSpPr/>
          <p:nvPr/>
        </p:nvSpPr>
        <p:spPr>
          <a:xfrm>
            <a:off x="685800" y="5559552"/>
            <a:ext cx="10424160" cy="320040"/>
          </a:xfrm>
          <a:prstGeom prst="rect">
            <a:avLst/>
          </a:prstGeom>
          <a:noFill/>
          <a:ln/>
        </p:spPr>
        <p:txBody>
          <a:bodyPr wrap="square" lIns="0" tIns="0" rIns="0" bIns="0" rtlCol="0" anchor="ctr"/>
          <a:lstStyle/>
          <a:p>
            <a:pPr indent="0" marL="0">
              <a:buNone/>
            </a:pPr>
            <a:r>
              <a:rPr lang="en-US" sz="1200" dirty="0">
                <a:solidFill>
                  <a:srgbClr val="8496A8"/>
                </a:solidFill>
                <a:latin typeface="Microsoft YaHei" pitchFamily="34" charset="0"/>
                <a:ea typeface="Microsoft YaHei" pitchFamily="34" charset="-122"/>
                <a:cs typeface="Microsoft YaHei" pitchFamily="34" charset="-120"/>
              </a:rPr>
              <a:t>基于真实工业文档抽取实验 · AgentCore Harness + EPISODIC Memory</a:t>
            </a:r>
            <a:endParaRPr lang="en-US" sz="1200" dirty="0"/>
          </a:p>
        </p:txBody>
      </p:sp>
      <p:sp>
        <p:nvSpPr>
          <p:cNvPr id="10" name="Text 7"/>
          <p:cNvSpPr/>
          <p:nvPr/>
        </p:nvSpPr>
        <p:spPr>
          <a:xfrm>
            <a:off x="685800" y="6419088"/>
            <a:ext cx="2743200" cy="256032"/>
          </a:xfrm>
          <a:prstGeom prst="rect">
            <a:avLst/>
          </a:prstGeom>
          <a:noFill/>
          <a:ln/>
        </p:spPr>
        <p:txBody>
          <a:bodyPr wrap="square" lIns="0" tIns="0" rIns="0" bIns="0" rtlCol="0" anchor="ctr"/>
          <a:lstStyle/>
          <a:p>
            <a:pPr indent="0" marL="0">
              <a:buNone/>
            </a:pPr>
            <a:r>
              <a:rPr lang="en-US" sz="12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THE CHALLENGE</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2</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结构化抽取真正难在哪里</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难点不是生成合法 JSON，而是完整识别散落在不同载体中的“应该抽取的信息”。</a:t>
            </a:r>
            <a:endParaRPr lang="en-US" sz="1400" dirty="0"/>
          </a:p>
        </p:txBody>
      </p:sp>
      <p:sp>
        <p:nvSpPr>
          <p:cNvPr id="8" name="Shape 5"/>
          <p:cNvSpPr/>
          <p:nvPr/>
        </p:nvSpPr>
        <p:spPr>
          <a:xfrm>
            <a:off x="566928" y="1737360"/>
            <a:ext cx="5349240" cy="3337560"/>
          </a:xfrm>
          <a:prstGeom prst="roundRect">
            <a:avLst>
              <a:gd name="adj" fmla="val 2192"/>
            </a:avLst>
          </a:prstGeom>
          <a:solidFill>
            <a:srgbClr val="1C2740"/>
          </a:solidFill>
          <a:ln w="10160">
            <a:solidFill>
              <a:srgbClr val="2E3B57"/>
            </a:solidFill>
            <a:prstDash val="solid"/>
          </a:ln>
        </p:spPr>
      </p:sp>
      <p:sp>
        <p:nvSpPr>
          <p:cNvPr id="9" name="Text 6"/>
          <p:cNvSpPr/>
          <p:nvPr/>
        </p:nvSpPr>
        <p:spPr>
          <a:xfrm>
            <a:off x="749808" y="1865376"/>
            <a:ext cx="4983480"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真实输入：正文 + 表格</a:t>
            </a:r>
            <a:endParaRPr lang="en-US" sz="1150" dirty="0"/>
          </a:p>
        </p:txBody>
      </p:sp>
      <p:sp>
        <p:nvSpPr>
          <p:cNvPr id="10" name="Shape 7"/>
          <p:cNvSpPr/>
          <p:nvPr/>
        </p:nvSpPr>
        <p:spPr>
          <a:xfrm>
            <a:off x="749808" y="2194560"/>
            <a:ext cx="4983480" cy="2724912"/>
          </a:xfrm>
          <a:prstGeom prst="roundRect">
            <a:avLst>
              <a:gd name="adj" fmla="val 2685"/>
            </a:avLst>
          </a:prstGeom>
          <a:solidFill>
            <a:srgbClr val="0B1220"/>
          </a:solidFill>
          <a:ln w="10160">
            <a:solidFill>
              <a:srgbClr val="2E3B57"/>
            </a:solidFill>
            <a:prstDash val="solid"/>
          </a:ln>
        </p:spPr>
      </p:sp>
      <p:sp>
        <p:nvSpPr>
          <p:cNvPr id="11" name="Text 8"/>
          <p:cNvSpPr/>
          <p:nvPr/>
        </p:nvSpPr>
        <p:spPr>
          <a:xfrm>
            <a:off x="859536" y="2267712"/>
            <a:ext cx="4764024" cy="2587752"/>
          </a:xfrm>
          <a:prstGeom prst="rect">
            <a:avLst/>
          </a:prstGeom>
          <a:noFill/>
          <a:ln/>
        </p:spPr>
        <p:txBody>
          <a:bodyPr wrap="square" lIns="0" tIns="0" rIns="0" bIns="0" rtlCol="0" anchor="t"/>
          <a:lstStyle/>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技术要求:</a:t>
            </a: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1. 所有尺寸单位为毫米</a:t>
            </a: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2. 未注公差按 GB/T 1804-m 级</a:t>
            </a: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3. 装配后转子应能灵活转动</a:t>
            </a:r>
            <a:endParaRPr lang="en-US" sz="1150" dirty="0"/>
          </a:p>
          <a:p>
            <a:pPr indent="0" marL="0">
              <a:buNone/>
            </a:pP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 序号 | 名称 | 数量 |</a:t>
            </a: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 1 | 机座 | 1 |</a:t>
            </a: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 2 | 前端盖 | 1 |</a:t>
            </a:r>
            <a:endParaRPr lang="en-US" sz="1150" dirty="0"/>
          </a:p>
        </p:txBody>
      </p:sp>
      <p:sp>
        <p:nvSpPr>
          <p:cNvPr id="12" name="Shape 9"/>
          <p:cNvSpPr/>
          <p:nvPr/>
        </p:nvSpPr>
        <p:spPr>
          <a:xfrm>
            <a:off x="6190488" y="1737360"/>
            <a:ext cx="5440680" cy="3337560"/>
          </a:xfrm>
          <a:prstGeom prst="roundRect">
            <a:avLst>
              <a:gd name="adj" fmla="val 2192"/>
            </a:avLst>
          </a:prstGeom>
          <a:solidFill>
            <a:srgbClr val="35181C"/>
          </a:solidFill>
          <a:ln w="10160">
            <a:solidFill>
              <a:srgbClr val="2E3B57"/>
            </a:solidFill>
            <a:prstDash val="solid"/>
          </a:ln>
        </p:spPr>
      </p:sp>
      <p:sp>
        <p:nvSpPr>
          <p:cNvPr id="13" name="Text 10"/>
          <p:cNvSpPr/>
          <p:nvPr/>
        </p:nvSpPr>
        <p:spPr>
          <a:xfrm>
            <a:off x="6391656" y="1874520"/>
            <a:ext cx="503834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常见漏项</a:t>
            </a:r>
            <a:endParaRPr lang="en-US" sz="1150" dirty="0"/>
          </a:p>
        </p:txBody>
      </p:sp>
      <p:sp>
        <p:nvSpPr>
          <p:cNvPr id="14" name="Text 11"/>
          <p:cNvSpPr/>
          <p:nvPr/>
        </p:nvSpPr>
        <p:spPr>
          <a:xfrm>
            <a:off x="6391656" y="2221992"/>
            <a:ext cx="503834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模型通常先抓住数值参数</a:t>
            </a:r>
            <a:endParaRPr lang="en-US" sz="1700" dirty="0"/>
          </a:p>
        </p:txBody>
      </p:sp>
      <p:sp>
        <p:nvSpPr>
          <p:cNvPr id="15" name="Text 12"/>
          <p:cNvSpPr/>
          <p:nvPr/>
        </p:nvSpPr>
        <p:spPr>
          <a:xfrm>
            <a:off x="6391656" y="2679192"/>
            <a:ext cx="5038344" cy="2267712"/>
          </a:xfrm>
          <a:prstGeom prst="rect">
            <a:avLst/>
          </a:prstGeom>
          <a:noFill/>
          <a:ln/>
        </p:spPr>
        <p:txBody>
          <a:bodyPr wrap="square" lIns="0" tIns="0" rIns="0" bIns="0" rtlCol="0" anchor="t"/>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 正文参数容易被识别</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整张 BOM 可能被当成背景</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附注与备注容易跳过</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定性、流程、待确认要求不一定被视为指标</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图片/OCR 内容存在不完整与冲突</a:t>
            </a:r>
            <a:endParaRPr lang="en-US" sz="1400" dirty="0"/>
          </a:p>
        </p:txBody>
      </p:sp>
      <p:sp>
        <p:nvSpPr>
          <p:cNvPr id="16" name="Shape 13"/>
          <p:cNvSpPr/>
          <p:nvPr/>
        </p:nvSpPr>
        <p:spPr>
          <a:xfrm>
            <a:off x="566928" y="5321808"/>
            <a:ext cx="11064240" cy="777240"/>
          </a:xfrm>
          <a:prstGeom prst="roundRect">
            <a:avLst>
              <a:gd name="adj" fmla="val 9412"/>
            </a:avLst>
          </a:prstGeom>
          <a:solidFill>
            <a:srgbClr val="0B1220"/>
          </a:solidFill>
          <a:ln w="10160">
            <a:solidFill>
              <a:srgbClr val="FF6A3D"/>
            </a:solidFill>
            <a:prstDash val="solid"/>
          </a:ln>
        </p:spPr>
      </p:sp>
      <p:sp>
        <p:nvSpPr>
          <p:cNvPr id="17" name="Text 14"/>
          <p:cNvSpPr/>
          <p:nvPr/>
        </p:nvSpPr>
        <p:spPr>
          <a:xfrm>
            <a:off x="822960" y="5321808"/>
            <a:ext cx="10552176" cy="777240"/>
          </a:xfrm>
          <a:prstGeom prst="rect">
            <a:avLst/>
          </a:prstGeom>
          <a:noFill/>
          <a:ln/>
        </p:spPr>
        <p:txBody>
          <a:bodyPr wrap="square" lIns="0" tIns="0" rIns="0" bIns="0" rtlCol="0" anchor="ctr"/>
          <a:lstStyle/>
          <a:p>
            <a:pPr algn="ctr" indent="0" marL="0">
              <a:buNone/>
            </a:pPr>
            <a:r>
              <a:rPr lang="en-US" sz="1650" b="1" dirty="0">
                <a:solidFill>
                  <a:srgbClr val="FF6A3D"/>
                </a:solidFill>
                <a:latin typeface="Amazon Ember Display" pitchFamily="34" charset="0"/>
                <a:ea typeface="Amazon Ember Display" pitchFamily="34" charset="-122"/>
                <a:cs typeface="Amazon Ember Display" pitchFamily="34" charset="-120"/>
              </a:rPr>
              <a:t>真正的问题：Agent 如何知道自己漏了什么？</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MEMORY ROLE</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3</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Memory 应该在抽取回路中做什么</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不是保存上一次答案，而是保存下一次任务可复用的抽取策略。</a:t>
            </a:r>
            <a:endParaRPr lang="en-US" sz="1400" dirty="0"/>
          </a:p>
        </p:txBody>
      </p:sp>
      <p:sp>
        <p:nvSpPr>
          <p:cNvPr id="8" name="Shape 5"/>
          <p:cNvSpPr/>
          <p:nvPr/>
        </p:nvSpPr>
        <p:spPr>
          <a:xfrm>
            <a:off x="566928" y="2057400"/>
            <a:ext cx="1874520" cy="1143000"/>
          </a:xfrm>
          <a:prstGeom prst="roundRect">
            <a:avLst>
              <a:gd name="adj" fmla="val 6400"/>
            </a:avLst>
          </a:prstGeom>
          <a:solidFill>
            <a:srgbClr val="1C2740"/>
          </a:solidFill>
          <a:ln w="10160">
            <a:solidFill>
              <a:srgbClr val="2E3B57"/>
            </a:solidFill>
            <a:prstDash val="solid"/>
          </a:ln>
        </p:spPr>
      </p:sp>
      <p:sp>
        <p:nvSpPr>
          <p:cNvPr id="9" name="Text 6"/>
          <p:cNvSpPr/>
          <p:nvPr/>
        </p:nvSpPr>
        <p:spPr>
          <a:xfrm>
            <a:off x="768096" y="2194560"/>
            <a:ext cx="147218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①</a:t>
            </a:r>
            <a:endParaRPr lang="en-US" sz="1150" dirty="0"/>
          </a:p>
        </p:txBody>
      </p:sp>
      <p:sp>
        <p:nvSpPr>
          <p:cNvPr id="10" name="Text 7"/>
          <p:cNvSpPr/>
          <p:nvPr/>
        </p:nvSpPr>
        <p:spPr>
          <a:xfrm>
            <a:off x="768096" y="2542032"/>
            <a:ext cx="147218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抽取草稿</a:t>
            </a:r>
            <a:endParaRPr lang="en-US" sz="1700" dirty="0"/>
          </a:p>
        </p:txBody>
      </p:sp>
      <p:sp>
        <p:nvSpPr>
          <p:cNvPr id="11" name="Text 8"/>
          <p:cNvSpPr/>
          <p:nvPr/>
        </p:nvSpPr>
        <p:spPr>
          <a:xfrm>
            <a:off x="768096" y="2999232"/>
            <a:ext cx="1472184" cy="73152"/>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当前文档</a:t>
            </a:r>
            <a:endParaRPr lang="en-US" sz="1300" dirty="0"/>
          </a:p>
        </p:txBody>
      </p:sp>
      <p:sp>
        <p:nvSpPr>
          <p:cNvPr id="12" name="Text 9"/>
          <p:cNvSpPr/>
          <p:nvPr/>
        </p:nvSpPr>
        <p:spPr>
          <a:xfrm>
            <a:off x="2468880" y="2350008"/>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13" name="Shape 10"/>
          <p:cNvSpPr/>
          <p:nvPr/>
        </p:nvSpPr>
        <p:spPr>
          <a:xfrm>
            <a:off x="2852928" y="2057400"/>
            <a:ext cx="1874520" cy="1143000"/>
          </a:xfrm>
          <a:prstGeom prst="roundRect">
            <a:avLst>
              <a:gd name="adj" fmla="val 6400"/>
            </a:avLst>
          </a:prstGeom>
          <a:solidFill>
            <a:srgbClr val="0C3440"/>
          </a:solidFill>
          <a:ln w="10160">
            <a:solidFill>
              <a:srgbClr val="2E3B57"/>
            </a:solidFill>
            <a:prstDash val="solid"/>
          </a:ln>
        </p:spPr>
      </p:sp>
      <p:sp>
        <p:nvSpPr>
          <p:cNvPr id="14" name="Text 11"/>
          <p:cNvSpPr/>
          <p:nvPr/>
        </p:nvSpPr>
        <p:spPr>
          <a:xfrm>
            <a:off x="3054096" y="2194560"/>
            <a:ext cx="147218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②</a:t>
            </a:r>
            <a:endParaRPr lang="en-US" sz="1150" dirty="0"/>
          </a:p>
        </p:txBody>
      </p:sp>
      <p:sp>
        <p:nvSpPr>
          <p:cNvPr id="15" name="Text 12"/>
          <p:cNvSpPr/>
          <p:nvPr/>
        </p:nvSpPr>
        <p:spPr>
          <a:xfrm>
            <a:off x="3054096" y="2542032"/>
            <a:ext cx="147218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Review</a:t>
            </a:r>
            <a:endParaRPr lang="en-US" sz="1700" dirty="0"/>
          </a:p>
        </p:txBody>
      </p:sp>
      <p:sp>
        <p:nvSpPr>
          <p:cNvPr id="16" name="Text 13"/>
          <p:cNvSpPr/>
          <p:nvPr/>
        </p:nvSpPr>
        <p:spPr>
          <a:xfrm>
            <a:off x="3054096" y="2999232"/>
            <a:ext cx="1472184" cy="73152"/>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漏了什么？</a:t>
            </a:r>
            <a:endParaRPr lang="en-US" sz="1300" dirty="0"/>
          </a:p>
        </p:txBody>
      </p:sp>
      <p:sp>
        <p:nvSpPr>
          <p:cNvPr id="17" name="Text 14"/>
          <p:cNvSpPr/>
          <p:nvPr/>
        </p:nvSpPr>
        <p:spPr>
          <a:xfrm>
            <a:off x="4754880" y="2350008"/>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18" name="Shape 15"/>
          <p:cNvSpPr/>
          <p:nvPr/>
        </p:nvSpPr>
        <p:spPr>
          <a:xfrm>
            <a:off x="5138928" y="2057400"/>
            <a:ext cx="1874520" cy="1143000"/>
          </a:xfrm>
          <a:prstGeom prst="roundRect">
            <a:avLst>
              <a:gd name="adj" fmla="val 6400"/>
            </a:avLst>
          </a:prstGeom>
          <a:solidFill>
            <a:srgbClr val="2A2418"/>
          </a:solidFill>
          <a:ln w="10160">
            <a:solidFill>
              <a:srgbClr val="2E3B57"/>
            </a:solidFill>
            <a:prstDash val="solid"/>
          </a:ln>
        </p:spPr>
      </p:sp>
      <p:sp>
        <p:nvSpPr>
          <p:cNvPr id="19" name="Text 16"/>
          <p:cNvSpPr/>
          <p:nvPr/>
        </p:nvSpPr>
        <p:spPr>
          <a:xfrm>
            <a:off x="5340096" y="2194560"/>
            <a:ext cx="147218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③</a:t>
            </a:r>
            <a:endParaRPr lang="en-US" sz="1150" dirty="0"/>
          </a:p>
        </p:txBody>
      </p:sp>
      <p:sp>
        <p:nvSpPr>
          <p:cNvPr id="20" name="Text 17"/>
          <p:cNvSpPr/>
          <p:nvPr/>
        </p:nvSpPr>
        <p:spPr>
          <a:xfrm>
            <a:off x="5340096" y="2542032"/>
            <a:ext cx="147218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可复用经验</a:t>
            </a:r>
            <a:endParaRPr lang="en-US" sz="1700" dirty="0"/>
          </a:p>
        </p:txBody>
      </p:sp>
      <p:sp>
        <p:nvSpPr>
          <p:cNvPr id="21" name="Text 18"/>
          <p:cNvSpPr/>
          <p:nvPr/>
        </p:nvSpPr>
        <p:spPr>
          <a:xfrm>
            <a:off x="5340096" y="2999232"/>
            <a:ext cx="1472184" cy="73152"/>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形成策略</a:t>
            </a:r>
            <a:endParaRPr lang="en-US" sz="1300" dirty="0"/>
          </a:p>
        </p:txBody>
      </p:sp>
      <p:sp>
        <p:nvSpPr>
          <p:cNvPr id="22" name="Text 19"/>
          <p:cNvSpPr/>
          <p:nvPr/>
        </p:nvSpPr>
        <p:spPr>
          <a:xfrm>
            <a:off x="7040880" y="2350008"/>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23" name="Shape 20"/>
          <p:cNvSpPr/>
          <p:nvPr/>
        </p:nvSpPr>
        <p:spPr>
          <a:xfrm>
            <a:off x="7424928" y="2057400"/>
            <a:ext cx="1874520" cy="1143000"/>
          </a:xfrm>
          <a:prstGeom prst="roundRect">
            <a:avLst>
              <a:gd name="adj" fmla="val 6400"/>
            </a:avLst>
          </a:prstGeom>
          <a:solidFill>
            <a:srgbClr val="12331F"/>
          </a:solidFill>
          <a:ln w="10160">
            <a:solidFill>
              <a:srgbClr val="2E3B57"/>
            </a:solidFill>
            <a:prstDash val="solid"/>
          </a:ln>
        </p:spPr>
      </p:sp>
      <p:sp>
        <p:nvSpPr>
          <p:cNvPr id="24" name="Text 21"/>
          <p:cNvSpPr/>
          <p:nvPr/>
        </p:nvSpPr>
        <p:spPr>
          <a:xfrm>
            <a:off x="7626096" y="2194560"/>
            <a:ext cx="1472184"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④</a:t>
            </a:r>
            <a:endParaRPr lang="en-US" sz="1150" dirty="0"/>
          </a:p>
        </p:txBody>
      </p:sp>
      <p:sp>
        <p:nvSpPr>
          <p:cNvPr id="25" name="Text 22"/>
          <p:cNvSpPr/>
          <p:nvPr/>
        </p:nvSpPr>
        <p:spPr>
          <a:xfrm>
            <a:off x="7626096" y="2542032"/>
            <a:ext cx="147218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Memory</a:t>
            </a:r>
            <a:endParaRPr lang="en-US" sz="1700" dirty="0"/>
          </a:p>
        </p:txBody>
      </p:sp>
      <p:sp>
        <p:nvSpPr>
          <p:cNvPr id="26" name="Text 23"/>
          <p:cNvSpPr/>
          <p:nvPr/>
        </p:nvSpPr>
        <p:spPr>
          <a:xfrm>
            <a:off x="7626096" y="2999232"/>
            <a:ext cx="1472184" cy="73152"/>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跨 session</a:t>
            </a:r>
            <a:endParaRPr lang="en-US" sz="1300" dirty="0"/>
          </a:p>
        </p:txBody>
      </p:sp>
      <p:sp>
        <p:nvSpPr>
          <p:cNvPr id="27" name="Text 24"/>
          <p:cNvSpPr/>
          <p:nvPr/>
        </p:nvSpPr>
        <p:spPr>
          <a:xfrm>
            <a:off x="9326880" y="2350008"/>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28" name="Shape 25"/>
          <p:cNvSpPr/>
          <p:nvPr/>
        </p:nvSpPr>
        <p:spPr>
          <a:xfrm>
            <a:off x="9710928" y="2057400"/>
            <a:ext cx="1920240" cy="1143000"/>
          </a:xfrm>
          <a:prstGeom prst="roundRect">
            <a:avLst>
              <a:gd name="adj" fmla="val 6400"/>
            </a:avLst>
          </a:prstGeom>
          <a:solidFill>
            <a:srgbClr val="1C2740"/>
          </a:solidFill>
          <a:ln w="10160">
            <a:solidFill>
              <a:srgbClr val="2E3B57"/>
            </a:solidFill>
            <a:prstDash val="solid"/>
          </a:ln>
        </p:spPr>
      </p:sp>
      <p:sp>
        <p:nvSpPr>
          <p:cNvPr id="29" name="Text 26"/>
          <p:cNvSpPr/>
          <p:nvPr/>
        </p:nvSpPr>
        <p:spPr>
          <a:xfrm>
            <a:off x="9912096" y="2194560"/>
            <a:ext cx="151790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⑤</a:t>
            </a:r>
            <a:endParaRPr lang="en-US" sz="1150" dirty="0"/>
          </a:p>
        </p:txBody>
      </p:sp>
      <p:sp>
        <p:nvSpPr>
          <p:cNvPr id="30" name="Text 27"/>
          <p:cNvSpPr/>
          <p:nvPr/>
        </p:nvSpPr>
        <p:spPr>
          <a:xfrm>
            <a:off x="9912096" y="2542032"/>
            <a:ext cx="151790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下一份文档</a:t>
            </a:r>
            <a:endParaRPr lang="en-US" sz="1700" dirty="0"/>
          </a:p>
        </p:txBody>
      </p:sp>
      <p:sp>
        <p:nvSpPr>
          <p:cNvPr id="31" name="Text 28"/>
          <p:cNvSpPr/>
          <p:nvPr/>
        </p:nvSpPr>
        <p:spPr>
          <a:xfrm>
            <a:off x="9912096" y="2999232"/>
            <a:ext cx="1517904" cy="73152"/>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复用经验</a:t>
            </a:r>
            <a:endParaRPr lang="en-US" sz="1300" dirty="0"/>
          </a:p>
        </p:txBody>
      </p:sp>
      <p:sp>
        <p:nvSpPr>
          <p:cNvPr id="32" name="Shape 29"/>
          <p:cNvSpPr/>
          <p:nvPr/>
        </p:nvSpPr>
        <p:spPr>
          <a:xfrm>
            <a:off x="566928" y="3749040"/>
            <a:ext cx="3429000" cy="1417320"/>
          </a:xfrm>
          <a:prstGeom prst="roundRect">
            <a:avLst>
              <a:gd name="adj" fmla="val 5161"/>
            </a:avLst>
          </a:prstGeom>
          <a:solidFill>
            <a:srgbClr val="1C2740"/>
          </a:solidFill>
          <a:ln w="10160">
            <a:solidFill>
              <a:srgbClr val="2E3B57"/>
            </a:solidFill>
            <a:prstDash val="solid"/>
          </a:ln>
        </p:spPr>
      </p:sp>
      <p:sp>
        <p:nvSpPr>
          <p:cNvPr id="33" name="Text 30"/>
          <p:cNvSpPr/>
          <p:nvPr/>
        </p:nvSpPr>
        <p:spPr>
          <a:xfrm>
            <a:off x="768096" y="3886200"/>
            <a:ext cx="302666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容易漏什么</a:t>
            </a:r>
            <a:endParaRPr lang="en-US" sz="1150" dirty="0"/>
          </a:p>
        </p:txBody>
      </p:sp>
      <p:sp>
        <p:nvSpPr>
          <p:cNvPr id="34" name="Text 31"/>
          <p:cNvSpPr/>
          <p:nvPr/>
        </p:nvSpPr>
        <p:spPr>
          <a:xfrm>
            <a:off x="768096" y="4233672"/>
            <a:ext cx="3026664" cy="804672"/>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表格、附注、流程要求、图片限制</a:t>
            </a:r>
            <a:endParaRPr lang="en-US" sz="1300" dirty="0"/>
          </a:p>
        </p:txBody>
      </p:sp>
      <p:sp>
        <p:nvSpPr>
          <p:cNvPr id="35" name="Shape 32"/>
          <p:cNvSpPr/>
          <p:nvPr/>
        </p:nvSpPr>
        <p:spPr>
          <a:xfrm>
            <a:off x="4379976" y="3749040"/>
            <a:ext cx="3429000" cy="1417320"/>
          </a:xfrm>
          <a:prstGeom prst="roundRect">
            <a:avLst>
              <a:gd name="adj" fmla="val 5161"/>
            </a:avLst>
          </a:prstGeom>
          <a:solidFill>
            <a:srgbClr val="1C2740"/>
          </a:solidFill>
          <a:ln w="10160">
            <a:solidFill>
              <a:srgbClr val="2E3B57"/>
            </a:solidFill>
            <a:prstDash val="solid"/>
          </a:ln>
        </p:spPr>
      </p:sp>
      <p:sp>
        <p:nvSpPr>
          <p:cNvPr id="36" name="Text 33"/>
          <p:cNvSpPr/>
          <p:nvPr/>
        </p:nvSpPr>
        <p:spPr>
          <a:xfrm>
            <a:off x="4581144" y="3886200"/>
            <a:ext cx="302666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应该检查什么</a:t>
            </a:r>
            <a:endParaRPr lang="en-US" sz="1150" dirty="0"/>
          </a:p>
        </p:txBody>
      </p:sp>
      <p:sp>
        <p:nvSpPr>
          <p:cNvPr id="37" name="Text 34"/>
          <p:cNvSpPr/>
          <p:nvPr/>
        </p:nvSpPr>
        <p:spPr>
          <a:xfrm>
            <a:off x="4581144" y="4233672"/>
            <a:ext cx="3026664" cy="804672"/>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覆盖、遗漏、格式、粒度、冲突</a:t>
            </a:r>
            <a:endParaRPr lang="en-US" sz="1300" dirty="0"/>
          </a:p>
        </p:txBody>
      </p:sp>
      <p:sp>
        <p:nvSpPr>
          <p:cNvPr id="38" name="Shape 35"/>
          <p:cNvSpPr/>
          <p:nvPr/>
        </p:nvSpPr>
        <p:spPr>
          <a:xfrm>
            <a:off x="8193024" y="3749040"/>
            <a:ext cx="3438144" cy="1417320"/>
          </a:xfrm>
          <a:prstGeom prst="roundRect">
            <a:avLst>
              <a:gd name="adj" fmla="val 5161"/>
            </a:avLst>
          </a:prstGeom>
          <a:solidFill>
            <a:srgbClr val="1C2740"/>
          </a:solidFill>
          <a:ln w="10160">
            <a:solidFill>
              <a:srgbClr val="2E3B57"/>
            </a:solidFill>
            <a:prstDash val="solid"/>
          </a:ln>
        </p:spPr>
      </p:sp>
      <p:sp>
        <p:nvSpPr>
          <p:cNvPr id="39" name="Text 36"/>
          <p:cNvSpPr/>
          <p:nvPr/>
        </p:nvSpPr>
        <p:spPr>
          <a:xfrm>
            <a:off x="8394192" y="3886200"/>
            <a:ext cx="3035808"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下次怎么做</a:t>
            </a:r>
            <a:endParaRPr lang="en-US" sz="1150" dirty="0"/>
          </a:p>
        </p:txBody>
      </p:sp>
      <p:sp>
        <p:nvSpPr>
          <p:cNvPr id="40" name="Text 37"/>
          <p:cNvSpPr/>
          <p:nvPr/>
        </p:nvSpPr>
        <p:spPr>
          <a:xfrm>
            <a:off x="8394192" y="4233672"/>
            <a:ext cx="3035808" cy="804672"/>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先扫章节与表格，再按 next_actions 修订</a:t>
            </a:r>
            <a:endParaRPr lang="en-US" sz="1300" dirty="0"/>
          </a:p>
        </p:txBody>
      </p:sp>
      <p:sp>
        <p:nvSpPr>
          <p:cNvPr id="41" name="Shape 38"/>
          <p:cNvSpPr/>
          <p:nvPr/>
        </p:nvSpPr>
        <p:spPr>
          <a:xfrm>
            <a:off x="566928" y="5468112"/>
            <a:ext cx="11064240" cy="777240"/>
          </a:xfrm>
          <a:prstGeom prst="roundRect">
            <a:avLst>
              <a:gd name="adj" fmla="val 9412"/>
            </a:avLst>
          </a:prstGeom>
          <a:solidFill>
            <a:srgbClr val="0B1220"/>
          </a:solidFill>
          <a:ln w="10160">
            <a:solidFill>
              <a:srgbClr val="42B4FF"/>
            </a:solidFill>
            <a:prstDash val="solid"/>
          </a:ln>
        </p:spPr>
      </p:sp>
      <p:sp>
        <p:nvSpPr>
          <p:cNvPr id="42" name="Text 39"/>
          <p:cNvSpPr/>
          <p:nvPr/>
        </p:nvSpPr>
        <p:spPr>
          <a:xfrm>
            <a:off x="822960" y="5468112"/>
            <a:ext cx="10552176" cy="777240"/>
          </a:xfrm>
          <a:prstGeom prst="rect">
            <a:avLst/>
          </a:prstGeom>
          <a:noFill/>
          <a:ln/>
        </p:spPr>
        <p:txBody>
          <a:bodyPr wrap="square" lIns="0" tIns="0" rIns="0" bIns="0" rtlCol="0" anchor="ctr"/>
          <a:lstStyle/>
          <a:p>
            <a:pPr algn="ctr" indent="0" marL="0">
              <a:buNone/>
            </a:pPr>
            <a:r>
              <a:rPr lang="en-US" sz="1650" b="1" dirty="0">
                <a:solidFill>
                  <a:srgbClr val="42B4FF"/>
                </a:solidFill>
                <a:latin typeface="Amazon Ember Display" pitchFamily="34" charset="0"/>
                <a:ea typeface="Amazon Ember Display" pitchFamily="34" charset="-122"/>
                <a:cs typeface="Amazon Ember Display" pitchFamily="34" charset="-120"/>
              </a:rPr>
              <a:t>Memory 的价值：复用 Review 得到的方法，而不是复读历史结果。</a:t>
            </a:r>
            <a:endParaRPr lang="en-US" sz="1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MAP</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4</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三个实验，回答三个不同问题</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先判断学习信号是否有效，再生成托管 Memory，最后用留出文档验证跨 session 影响。</a:t>
            </a:r>
            <a:endParaRPr lang="en-US" sz="1400" dirty="0"/>
          </a:p>
        </p:txBody>
      </p:sp>
      <p:sp>
        <p:nvSpPr>
          <p:cNvPr id="8" name="Shape 5"/>
          <p:cNvSpPr/>
          <p:nvPr/>
        </p:nvSpPr>
        <p:spPr>
          <a:xfrm>
            <a:off x="566928" y="1737360"/>
            <a:ext cx="3429000" cy="3566160"/>
          </a:xfrm>
          <a:prstGeom prst="roundRect">
            <a:avLst>
              <a:gd name="adj" fmla="val 2133"/>
            </a:avLst>
          </a:prstGeom>
          <a:solidFill>
            <a:srgbClr val="35181C"/>
          </a:solidFill>
          <a:ln w="10160">
            <a:solidFill>
              <a:srgbClr val="2E3B57"/>
            </a:solidFill>
            <a:prstDash val="solid"/>
          </a:ln>
        </p:spPr>
      </p:sp>
      <p:sp>
        <p:nvSpPr>
          <p:cNvPr id="9" name="Text 6"/>
          <p:cNvSpPr/>
          <p:nvPr/>
        </p:nvSpPr>
        <p:spPr>
          <a:xfrm>
            <a:off x="768096" y="1874520"/>
            <a:ext cx="302666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实验一 · 学习信号</a:t>
            </a:r>
            <a:endParaRPr lang="en-US" sz="1150" dirty="0"/>
          </a:p>
        </p:txBody>
      </p:sp>
      <p:sp>
        <p:nvSpPr>
          <p:cNvPr id="10" name="Text 7"/>
          <p:cNvSpPr/>
          <p:nvPr/>
        </p:nvSpPr>
        <p:spPr>
          <a:xfrm>
            <a:off x="768096" y="2221992"/>
            <a:ext cx="302666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只看输出的抽象自省</a:t>
            </a:r>
            <a:endParaRPr lang="en-US" sz="1700" dirty="0"/>
          </a:p>
        </p:txBody>
      </p:sp>
      <p:sp>
        <p:nvSpPr>
          <p:cNvPr id="11" name="Text 8"/>
          <p:cNvSpPr/>
          <p:nvPr/>
        </p:nvSpPr>
        <p:spPr>
          <a:xfrm>
            <a:off x="768096" y="2679192"/>
            <a:ext cx="3026664" cy="2496312"/>
          </a:xfrm>
          <a:prstGeom prst="rect">
            <a:avLst/>
          </a:prstGeom>
          <a:noFill/>
          <a:ln/>
        </p:spPr>
        <p:txBody>
          <a:bodyPr wrap="square" lIns="0" tIns="0" rIns="0" bIns="0" rtlCol="0" anchor="t"/>
          <a:lstStyle/>
          <a:p>
            <a:pPr indent="0" marL="0">
              <a:buNone/>
            </a:pPr>
            <a:r>
              <a:rPr lang="en-US" sz="1320" dirty="0">
                <a:solidFill>
                  <a:srgbClr val="CFD9E4"/>
                </a:solidFill>
                <a:latin typeface="Microsoft YaHei" pitchFamily="34" charset="0"/>
                <a:ea typeface="Microsoft YaHei" pitchFamily="34" charset="-122"/>
                <a:cs typeface="Microsoft YaHei" pitchFamily="34" charset="-120"/>
              </a:rPr>
              <a:t>问题：Agent 能否仅从自己的结果中发现真正遗漏？</a:t>
            </a:r>
            <a:endParaRPr lang="en-US" sz="1320" dirty="0"/>
          </a:p>
          <a:p>
            <a:pPr indent="0" marL="0">
              <a:buNone/>
            </a:pPr>
            <a:endParaRPr lang="en-US" sz="1320" dirty="0"/>
          </a:p>
          <a:p>
            <a:pPr indent="0" marL="0">
              <a:buNone/>
            </a:pPr>
            <a:r>
              <a:rPr lang="en-US" sz="1320" dirty="0">
                <a:solidFill>
                  <a:srgbClr val="CFD9E4"/>
                </a:solidFill>
                <a:latin typeface="Microsoft YaHei" pitchFamily="34" charset="0"/>
                <a:ea typeface="Microsoft YaHei" pitchFamily="34" charset="-122"/>
                <a:cs typeface="Microsoft YaHei" pitchFamily="34" charset="-120"/>
              </a:rPr>
              <a:t>输入：已抽取结果</a:t>
            </a:r>
            <a:endParaRPr lang="en-US" sz="1320" dirty="0"/>
          </a:p>
          <a:p>
            <a:pPr indent="0" marL="0">
              <a:buNone/>
            </a:pPr>
            <a:r>
              <a:rPr lang="en-US" sz="1320" dirty="0">
                <a:solidFill>
                  <a:srgbClr val="CFD9E4"/>
                </a:solidFill>
                <a:latin typeface="Microsoft YaHei" pitchFamily="34" charset="0"/>
                <a:ea typeface="Microsoft YaHei" pitchFamily="34" charset="-122"/>
                <a:cs typeface="Microsoft YaHei" pitchFamily="34" charset="-120"/>
              </a:rPr>
              <a:t>产物：15 条 canonical rules</a:t>
            </a:r>
            <a:endParaRPr lang="en-US" sz="1320" dirty="0"/>
          </a:p>
          <a:p>
            <a:pPr indent="0" marL="0">
              <a:buNone/>
            </a:pPr>
            <a:r>
              <a:rPr lang="en-US" sz="1320" dirty="0">
                <a:solidFill>
                  <a:srgbClr val="CFD9E4"/>
                </a:solidFill>
                <a:latin typeface="Microsoft YaHei" pitchFamily="34" charset="0"/>
                <a:ea typeface="Microsoft YaHei" pitchFamily="34" charset="-122"/>
                <a:cs typeface="Microsoft YaHei" pitchFamily="34" charset="-120"/>
              </a:rPr>
              <a:t>观察：90 → 102，主要是拆分变细</a:t>
            </a:r>
            <a:endParaRPr lang="en-US" sz="1320" dirty="0"/>
          </a:p>
        </p:txBody>
      </p:sp>
      <p:sp>
        <p:nvSpPr>
          <p:cNvPr id="12" name="Shape 9"/>
          <p:cNvSpPr/>
          <p:nvPr/>
        </p:nvSpPr>
        <p:spPr>
          <a:xfrm>
            <a:off x="4379976" y="1737360"/>
            <a:ext cx="3429000" cy="3566160"/>
          </a:xfrm>
          <a:prstGeom prst="roundRect">
            <a:avLst>
              <a:gd name="adj" fmla="val 2133"/>
            </a:avLst>
          </a:prstGeom>
          <a:solidFill>
            <a:srgbClr val="0C3440"/>
          </a:solidFill>
          <a:ln w="10160">
            <a:solidFill>
              <a:srgbClr val="2E3B57"/>
            </a:solidFill>
            <a:prstDash val="solid"/>
          </a:ln>
        </p:spPr>
      </p:sp>
      <p:sp>
        <p:nvSpPr>
          <p:cNvPr id="13" name="Text 10"/>
          <p:cNvSpPr/>
          <p:nvPr/>
        </p:nvSpPr>
        <p:spPr>
          <a:xfrm>
            <a:off x="4581144" y="1874520"/>
            <a:ext cx="302666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实验二 · Memory 生成</a:t>
            </a:r>
            <a:endParaRPr lang="en-US" sz="1150" dirty="0"/>
          </a:p>
        </p:txBody>
      </p:sp>
      <p:sp>
        <p:nvSpPr>
          <p:cNvPr id="14" name="Text 11"/>
          <p:cNvSpPr/>
          <p:nvPr/>
        </p:nvSpPr>
        <p:spPr>
          <a:xfrm>
            <a:off x="4581144" y="2221992"/>
            <a:ext cx="302666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结构化 Self-review</a:t>
            </a:r>
            <a:endParaRPr lang="en-US" sz="1700" dirty="0"/>
          </a:p>
        </p:txBody>
      </p:sp>
      <p:sp>
        <p:nvSpPr>
          <p:cNvPr id="15" name="Text 12"/>
          <p:cNvSpPr/>
          <p:nvPr/>
        </p:nvSpPr>
        <p:spPr>
          <a:xfrm>
            <a:off x="4581144" y="2679192"/>
            <a:ext cx="3026664" cy="2496312"/>
          </a:xfrm>
          <a:prstGeom prst="rect">
            <a:avLst/>
          </a:prstGeom>
          <a:noFill/>
          <a:ln/>
        </p:spPr>
        <p:txBody>
          <a:bodyPr wrap="square" lIns="0" tIns="0" rIns="0" bIns="0" rtlCol="0" anchor="t"/>
          <a:lstStyle/>
          <a:p>
            <a:pPr indent="0" marL="0">
              <a:buNone/>
            </a:pPr>
            <a:r>
              <a:rPr lang="en-US" sz="1320" dirty="0">
                <a:solidFill>
                  <a:srgbClr val="CFD9E4"/>
                </a:solidFill>
                <a:latin typeface="Microsoft YaHei" pitchFamily="34" charset="0"/>
                <a:ea typeface="Microsoft YaHei" pitchFamily="34" charset="-122"/>
                <a:cs typeface="Microsoft YaHei" pitchFamily="34" charset="-120"/>
              </a:rPr>
              <a:t>问题：怎样产生可被 Memory System 提炼的高质量轨迹？</a:t>
            </a:r>
            <a:endParaRPr lang="en-US" sz="1320" dirty="0"/>
          </a:p>
          <a:p>
            <a:pPr indent="0" marL="0">
              <a:buNone/>
            </a:pPr>
            <a:endParaRPr lang="en-US" sz="1320" dirty="0"/>
          </a:p>
          <a:p>
            <a:pPr indent="0" marL="0">
              <a:buNone/>
            </a:pPr>
            <a:r>
              <a:rPr lang="en-US" sz="1320" dirty="0">
                <a:solidFill>
                  <a:srgbClr val="CFD9E4"/>
                </a:solidFill>
                <a:latin typeface="Microsoft YaHei" pitchFamily="34" charset="0"/>
                <a:ea typeface="Microsoft YaHei" pitchFamily="34" charset="-122"/>
                <a:cs typeface="Microsoft YaHei" pitchFamily="34" charset="-120"/>
              </a:rPr>
              <a:t>Harness Agent：原文 + 草稿自审</a:t>
            </a:r>
            <a:endParaRPr lang="en-US" sz="1320" dirty="0"/>
          </a:p>
          <a:p>
            <a:pPr indent="0" marL="0">
              <a:buNone/>
            </a:pPr>
            <a:r>
              <a:rPr lang="en-US" sz="1320" dirty="0">
                <a:solidFill>
                  <a:srgbClr val="CFD9E4"/>
                </a:solidFill>
                <a:latin typeface="Microsoft YaHei" pitchFamily="34" charset="0"/>
                <a:ea typeface="Microsoft YaHei" pitchFamily="34" charset="-122"/>
                <a:cs typeface="Microsoft YaHei" pitchFamily="34" charset="-120"/>
              </a:rPr>
              <a:t>Memory System：EPISODIC</a:t>
            </a:r>
            <a:endParaRPr lang="en-US" sz="1320" dirty="0"/>
          </a:p>
          <a:p>
            <a:pPr indent="0" marL="0">
              <a:buNone/>
            </a:pPr>
            <a:r>
              <a:rPr lang="en-US" sz="1320" dirty="0">
                <a:solidFill>
                  <a:srgbClr val="CFD9E4"/>
                </a:solidFill>
                <a:latin typeface="Microsoft YaHei" pitchFamily="34" charset="0"/>
                <a:ea typeface="Microsoft YaHei" pitchFamily="34" charset="-122"/>
                <a:cs typeface="Microsoft YaHei" pitchFamily="34" charset="-120"/>
              </a:rPr>
              <a:t>产物：1 episode + 2 reflections</a:t>
            </a:r>
            <a:endParaRPr lang="en-US" sz="1320" dirty="0"/>
          </a:p>
        </p:txBody>
      </p:sp>
      <p:sp>
        <p:nvSpPr>
          <p:cNvPr id="16" name="Shape 13"/>
          <p:cNvSpPr/>
          <p:nvPr/>
        </p:nvSpPr>
        <p:spPr>
          <a:xfrm>
            <a:off x="8193024" y="1737360"/>
            <a:ext cx="3438144" cy="3566160"/>
          </a:xfrm>
          <a:prstGeom prst="roundRect">
            <a:avLst>
              <a:gd name="adj" fmla="val 2128"/>
            </a:avLst>
          </a:prstGeom>
          <a:solidFill>
            <a:srgbClr val="12331F"/>
          </a:solidFill>
          <a:ln w="10160">
            <a:solidFill>
              <a:srgbClr val="2E3B57"/>
            </a:solidFill>
            <a:prstDash val="solid"/>
          </a:ln>
        </p:spPr>
      </p:sp>
      <p:sp>
        <p:nvSpPr>
          <p:cNvPr id="17" name="Text 14"/>
          <p:cNvSpPr/>
          <p:nvPr/>
        </p:nvSpPr>
        <p:spPr>
          <a:xfrm>
            <a:off x="8394192" y="1874520"/>
            <a:ext cx="3035808"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实验三 · 跨任务验证</a:t>
            </a:r>
            <a:endParaRPr lang="en-US" sz="1150" dirty="0"/>
          </a:p>
        </p:txBody>
      </p:sp>
      <p:sp>
        <p:nvSpPr>
          <p:cNvPr id="18" name="Text 15"/>
          <p:cNvSpPr/>
          <p:nvPr/>
        </p:nvSpPr>
        <p:spPr>
          <a:xfrm>
            <a:off x="8394192" y="2221992"/>
            <a:ext cx="3035808"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留出文档开关对照</a:t>
            </a:r>
            <a:endParaRPr lang="en-US" sz="1700" dirty="0"/>
          </a:p>
        </p:txBody>
      </p:sp>
      <p:sp>
        <p:nvSpPr>
          <p:cNvPr id="19" name="Text 16"/>
          <p:cNvSpPr/>
          <p:nvPr/>
        </p:nvSpPr>
        <p:spPr>
          <a:xfrm>
            <a:off x="8394192" y="2679192"/>
            <a:ext cx="3035808" cy="2496312"/>
          </a:xfrm>
          <a:prstGeom prst="rect">
            <a:avLst/>
          </a:prstGeom>
          <a:noFill/>
          <a:ln/>
        </p:spPr>
        <p:txBody>
          <a:bodyPr wrap="square" lIns="0" tIns="0" rIns="0" bIns="0" rtlCol="0" anchor="t"/>
          <a:lstStyle/>
          <a:p>
            <a:pPr indent="0" marL="0">
              <a:buNone/>
            </a:pPr>
            <a:r>
              <a:rPr lang="en-US" sz="1320" dirty="0">
                <a:solidFill>
                  <a:srgbClr val="CFD9E4"/>
                </a:solidFill>
                <a:latin typeface="Microsoft YaHei" pitchFamily="34" charset="0"/>
                <a:ea typeface="Microsoft YaHei" pitchFamily="34" charset="-122"/>
                <a:cs typeface="Microsoft YaHei" pitchFamily="34" charset="-120"/>
              </a:rPr>
              <a:t>问题：托管 Memory 是否改变下一份文档的抽取关注点？</a:t>
            </a:r>
            <a:endParaRPr lang="en-US" sz="1320" dirty="0"/>
          </a:p>
          <a:p>
            <a:pPr indent="0" marL="0">
              <a:buNone/>
            </a:pPr>
            <a:endParaRPr lang="en-US" sz="1320" dirty="0"/>
          </a:p>
          <a:p>
            <a:pPr indent="0" marL="0">
              <a:buNone/>
            </a:pPr>
            <a:r>
              <a:rPr lang="en-US" sz="1320" dirty="0">
                <a:solidFill>
                  <a:srgbClr val="CFD9E4"/>
                </a:solidFill>
                <a:latin typeface="Microsoft YaHei" pitchFamily="34" charset="0"/>
                <a:ea typeface="Microsoft YaHei" pitchFamily="34" charset="-122"/>
                <a:cs typeface="Microsoft YaHei" pitchFamily="34" charset="-120"/>
              </a:rPr>
              <a:t>唯一变量：Memory 开关</a:t>
            </a:r>
            <a:endParaRPr lang="en-US" sz="1320" dirty="0"/>
          </a:p>
          <a:p>
            <a:pPr indent="0" marL="0">
              <a:buNone/>
            </a:pPr>
            <a:r>
              <a:rPr lang="en-US" sz="1320" dirty="0">
                <a:solidFill>
                  <a:srgbClr val="CFD9E4"/>
                </a:solidFill>
                <a:latin typeface="Microsoft YaHei" pitchFamily="34" charset="0"/>
                <a:ea typeface="Microsoft YaHei" pitchFamily="34" charset="-122"/>
                <a:cs typeface="Microsoft YaHei" pitchFamily="34" charset="-120"/>
              </a:rPr>
              <a:t>结果：31 vs 11</a:t>
            </a:r>
            <a:endParaRPr lang="en-US" sz="1320" dirty="0"/>
          </a:p>
          <a:p>
            <a:pPr indent="0" marL="0">
              <a:buNone/>
            </a:pPr>
            <a:r>
              <a:rPr lang="en-US" sz="1320" dirty="0">
                <a:solidFill>
                  <a:srgbClr val="CFD9E4"/>
                </a:solidFill>
                <a:latin typeface="Microsoft YaHei" pitchFamily="34" charset="0"/>
                <a:ea typeface="Microsoft YaHei" pitchFamily="34" charset="-122"/>
                <a:cs typeface="Microsoft YaHei" pitchFamily="34" charset="-120"/>
              </a:rPr>
              <a:t>主要差异：两张 BOM 的系统展开</a:t>
            </a:r>
            <a:endParaRPr lang="en-US" sz="1320" dirty="0"/>
          </a:p>
        </p:txBody>
      </p:sp>
      <p:sp>
        <p:nvSpPr>
          <p:cNvPr id="20" name="Shape 17"/>
          <p:cNvSpPr/>
          <p:nvPr/>
        </p:nvSpPr>
        <p:spPr>
          <a:xfrm>
            <a:off x="566928" y="5504688"/>
            <a:ext cx="11064240" cy="777240"/>
          </a:xfrm>
          <a:prstGeom prst="roundRect">
            <a:avLst>
              <a:gd name="adj" fmla="val 9412"/>
            </a:avLst>
          </a:prstGeom>
          <a:solidFill>
            <a:srgbClr val="0B1220"/>
          </a:solidFill>
          <a:ln w="10160">
            <a:solidFill>
              <a:srgbClr val="42B4FF"/>
            </a:solidFill>
            <a:prstDash val="solid"/>
          </a:ln>
        </p:spPr>
      </p:sp>
      <p:sp>
        <p:nvSpPr>
          <p:cNvPr id="21" name="Text 18"/>
          <p:cNvSpPr/>
          <p:nvPr/>
        </p:nvSpPr>
        <p:spPr>
          <a:xfrm>
            <a:off x="822960" y="5504688"/>
            <a:ext cx="10552176" cy="777240"/>
          </a:xfrm>
          <a:prstGeom prst="rect">
            <a:avLst/>
          </a:prstGeom>
          <a:noFill/>
          <a:ln/>
        </p:spPr>
        <p:txBody>
          <a:bodyPr wrap="square" lIns="0" tIns="0" rIns="0" bIns="0" rtlCol="0" anchor="ctr"/>
          <a:lstStyle/>
          <a:p>
            <a:pPr algn="ctr" indent="0" marL="0">
              <a:buNone/>
            </a:pPr>
            <a:r>
              <a:rPr lang="en-US" sz="1650" b="1" dirty="0">
                <a:solidFill>
                  <a:srgbClr val="42B4FF"/>
                </a:solidFill>
                <a:latin typeface="Amazon Ember Display" pitchFamily="34" charset="0"/>
                <a:ea typeface="Amazon Ember Display" pitchFamily="34" charset="-122"/>
                <a:cs typeface="Amazon Ember Display" pitchFamily="34" charset="-120"/>
              </a:rPr>
              <a:t>主线：学习信号 → Memory 生成 → 留出文档验证</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1</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5</a:t>
            </a:r>
            <a:endParaRPr lang="en-US" sz="1050" dirty="0"/>
          </a:p>
        </p:txBody>
      </p:sp>
      <p:sp>
        <p:nvSpPr>
          <p:cNvPr id="6" name="Text 3"/>
          <p:cNvSpPr/>
          <p:nvPr/>
        </p:nvSpPr>
        <p:spPr>
          <a:xfrm>
            <a:off x="566928" y="1115568"/>
            <a:ext cx="2057400" cy="1234440"/>
          </a:xfrm>
          <a:prstGeom prst="rect">
            <a:avLst/>
          </a:prstGeom>
          <a:noFill/>
          <a:ln/>
        </p:spPr>
        <p:txBody>
          <a:bodyPr wrap="square" lIns="0" tIns="0" rIns="0" bIns="0" rtlCol="0" anchor="ctr"/>
          <a:lstStyle/>
          <a:p>
            <a:pPr indent="0" marL="0">
              <a:buNone/>
            </a:pPr>
            <a:r>
              <a:rPr lang="en-US" sz="7200" b="1" dirty="0">
                <a:solidFill>
                  <a:srgbClr val="FF6A3D"/>
                </a:solidFill>
                <a:latin typeface="Amazon Ember Display" pitchFamily="34" charset="0"/>
                <a:ea typeface="Amazon Ember Display" pitchFamily="34" charset="-122"/>
                <a:cs typeface="Amazon Ember Display" pitchFamily="34" charset="-120"/>
              </a:rPr>
              <a:t>01</a:t>
            </a:r>
            <a:endParaRPr lang="en-US" sz="7200" dirty="0"/>
          </a:p>
        </p:txBody>
      </p:sp>
      <p:sp>
        <p:nvSpPr>
          <p:cNvPr id="7" name="Text 4"/>
          <p:cNvSpPr/>
          <p:nvPr/>
        </p:nvSpPr>
        <p:spPr>
          <a:xfrm>
            <a:off x="2898648" y="1188720"/>
            <a:ext cx="8503920" cy="749808"/>
          </a:xfrm>
          <a:prstGeom prst="rect">
            <a:avLst/>
          </a:prstGeom>
          <a:noFill/>
          <a:ln/>
        </p:spPr>
        <p:txBody>
          <a:bodyPr wrap="square" lIns="0" tIns="0" rIns="0" bIns="0" rtlCol="0" anchor="ctr"/>
          <a:lstStyle/>
          <a:p>
            <a:pPr indent="0" marL="0">
              <a:buNone/>
            </a:pPr>
            <a:r>
              <a:rPr lang="en-US" sz="3400" b="1" dirty="0">
                <a:solidFill>
                  <a:srgbClr val="FFFFFF"/>
                </a:solidFill>
                <a:latin typeface="Amazon Ember Display" pitchFamily="34" charset="0"/>
                <a:ea typeface="Amazon Ember Display" pitchFamily="34" charset="-122"/>
                <a:cs typeface="Amazon Ember Display" pitchFamily="34" charset="-120"/>
              </a:rPr>
              <a:t>抽象自省：只看输出能学到什么？</a:t>
            </a:r>
            <a:endParaRPr lang="en-US" sz="3400" dirty="0"/>
          </a:p>
        </p:txBody>
      </p:sp>
      <p:sp>
        <p:nvSpPr>
          <p:cNvPr id="8" name="Text 5"/>
          <p:cNvSpPr/>
          <p:nvPr/>
        </p:nvSpPr>
        <p:spPr>
          <a:xfrm>
            <a:off x="2926080" y="2057400"/>
            <a:ext cx="8229600" cy="658368"/>
          </a:xfrm>
          <a:prstGeom prst="rect">
            <a:avLst/>
          </a:prstGeom>
          <a:noFill/>
          <a:ln/>
        </p:spPr>
        <p:txBody>
          <a:bodyPr wrap="square" lIns="0" tIns="0" rIns="0" bIns="0" rtlCol="0" anchor="ctr"/>
          <a:lstStyle/>
          <a:p>
            <a:pPr indent="0" marL="0">
              <a:buNone/>
            </a:pPr>
            <a:r>
              <a:rPr lang="en-US" sz="1800" dirty="0">
                <a:solidFill>
                  <a:srgbClr val="CFD9E4"/>
                </a:solidFill>
                <a:latin typeface="Microsoft YaHei" pitchFamily="34" charset="0"/>
                <a:ea typeface="Microsoft YaHei" pitchFamily="34" charset="-122"/>
                <a:cs typeface="Microsoft YaHei" pitchFamily="34" charset="-120"/>
              </a:rPr>
              <a:t>先验证没有原文对照时，Agent 自己总结出的规则是否能稳定提升完整性。</a:t>
            </a:r>
            <a:endParaRPr lang="en-US" sz="1800" dirty="0"/>
          </a:p>
        </p:txBody>
      </p:sp>
      <p:sp>
        <p:nvSpPr>
          <p:cNvPr id="9" name="Shape 6"/>
          <p:cNvSpPr/>
          <p:nvPr/>
        </p:nvSpPr>
        <p:spPr>
          <a:xfrm>
            <a:off x="566928" y="3127248"/>
            <a:ext cx="11064240" cy="1508760"/>
          </a:xfrm>
          <a:prstGeom prst="roundRect">
            <a:avLst>
              <a:gd name="adj" fmla="val 4848"/>
            </a:avLst>
          </a:prstGeom>
          <a:solidFill>
            <a:srgbClr val="0B1220"/>
          </a:solidFill>
          <a:ln w="10160">
            <a:solidFill>
              <a:srgbClr val="FF6A3D"/>
            </a:solidFill>
            <a:prstDash val="solid"/>
          </a:ln>
        </p:spPr>
      </p:sp>
      <p:sp>
        <p:nvSpPr>
          <p:cNvPr id="10" name="Text 7"/>
          <p:cNvSpPr/>
          <p:nvPr/>
        </p:nvSpPr>
        <p:spPr>
          <a:xfrm>
            <a:off x="978408" y="3127248"/>
            <a:ext cx="10241280" cy="1508760"/>
          </a:xfrm>
          <a:prstGeom prst="rect">
            <a:avLst/>
          </a:prstGeom>
          <a:noFill/>
          <a:ln/>
        </p:spPr>
        <p:txBody>
          <a:bodyPr wrap="square" lIns="0" tIns="0" rIns="0" bIns="0" rtlCol="0" anchor="ctr"/>
          <a:lstStyle/>
          <a:p>
            <a:pPr algn="ctr" indent="0" marL="0">
              <a:buNone/>
            </a:pPr>
            <a:r>
              <a:rPr lang="en-US" sz="2000" b="1" dirty="0">
                <a:solidFill>
                  <a:srgbClr val="FF6A3D"/>
                </a:solidFill>
                <a:latin typeface="Microsoft YaHei" pitchFamily="34" charset="0"/>
                <a:ea typeface="Microsoft YaHei" pitchFamily="34" charset="-122"/>
                <a:cs typeface="Microsoft YaHei" pitchFamily="34" charset="-120"/>
              </a:rPr>
              <a:t>实验边界：这一段使用应用侧反思与规则合并，不是 AgentCore 内置 EPISODIC strategy。</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1 · PROMPTS</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6</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尝试一：只看输出的抽象自省</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最初的做法，是让模型从已经生成的抽取结果中总结通用规则。</a:t>
            </a:r>
            <a:endParaRPr lang="en-US" sz="1400" dirty="0"/>
          </a:p>
        </p:txBody>
      </p:sp>
      <p:sp>
        <p:nvSpPr>
          <p:cNvPr id="8" name="Shape 5"/>
          <p:cNvSpPr/>
          <p:nvPr/>
        </p:nvSpPr>
        <p:spPr>
          <a:xfrm>
            <a:off x="566928" y="1737360"/>
            <a:ext cx="5394960" cy="3246120"/>
          </a:xfrm>
          <a:prstGeom prst="roundRect">
            <a:avLst>
              <a:gd name="adj" fmla="val 2254"/>
            </a:avLst>
          </a:prstGeom>
          <a:solidFill>
            <a:srgbClr val="1C2740"/>
          </a:solidFill>
          <a:ln w="10160">
            <a:solidFill>
              <a:srgbClr val="2E3B57"/>
            </a:solidFill>
            <a:prstDash val="solid"/>
          </a:ln>
        </p:spPr>
      </p:sp>
      <p:sp>
        <p:nvSpPr>
          <p:cNvPr id="9" name="Text 6"/>
          <p:cNvSpPr/>
          <p:nvPr/>
        </p:nvSpPr>
        <p:spPr>
          <a:xfrm>
            <a:off x="749808" y="1865376"/>
            <a:ext cx="5029200"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真实反思 Prompt</a:t>
            </a:r>
            <a:endParaRPr lang="en-US" sz="1150" dirty="0"/>
          </a:p>
        </p:txBody>
      </p:sp>
      <p:sp>
        <p:nvSpPr>
          <p:cNvPr id="10" name="Shape 7"/>
          <p:cNvSpPr/>
          <p:nvPr/>
        </p:nvSpPr>
        <p:spPr>
          <a:xfrm>
            <a:off x="749808" y="2194560"/>
            <a:ext cx="5029200" cy="2633472"/>
          </a:xfrm>
          <a:prstGeom prst="roundRect">
            <a:avLst>
              <a:gd name="adj" fmla="val 2778"/>
            </a:avLst>
          </a:prstGeom>
          <a:solidFill>
            <a:srgbClr val="0B1220"/>
          </a:solidFill>
          <a:ln w="10160">
            <a:solidFill>
              <a:srgbClr val="2E3B57"/>
            </a:solidFill>
            <a:prstDash val="solid"/>
          </a:ln>
        </p:spPr>
      </p:sp>
      <p:sp>
        <p:nvSpPr>
          <p:cNvPr id="11" name="Text 8"/>
          <p:cNvSpPr/>
          <p:nvPr/>
        </p:nvSpPr>
        <p:spPr>
          <a:xfrm>
            <a:off x="859536" y="2267712"/>
            <a:ext cx="4809744" cy="2496312"/>
          </a:xfrm>
          <a:prstGeom prst="rect">
            <a:avLst/>
          </a:prstGeom>
          <a:noFill/>
          <a:ln/>
        </p:spPr>
        <p:txBody>
          <a:bodyPr wrap="square" lIns="0" tIns="0" rIns="0" bIns="0" rtlCol="0" anchor="t"/>
          <a:lstStyle/>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你是「抽取经验提炼器」。</a:t>
            </a: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给你一次抽取结果，总结可复用于</a:t>
            </a: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同类文档的抽取规则：</a:t>
            </a:r>
            <a:endParaRPr lang="en-US" sz="1200" dirty="0"/>
          </a:p>
          <a:p>
            <a:pPr indent="0" marL="0">
              <a:buNone/>
            </a:pP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 每条必须可操作</a:t>
            </a: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 只讲规则，不讲具体数值</a:t>
            </a: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 不超过 10 条</a:t>
            </a:r>
            <a:endParaRPr lang="en-US" sz="1200" dirty="0"/>
          </a:p>
        </p:txBody>
      </p:sp>
      <p:sp>
        <p:nvSpPr>
          <p:cNvPr id="12" name="Shape 9"/>
          <p:cNvSpPr/>
          <p:nvPr/>
        </p:nvSpPr>
        <p:spPr>
          <a:xfrm>
            <a:off x="6236208" y="1737360"/>
            <a:ext cx="5394960" cy="3246120"/>
          </a:xfrm>
          <a:prstGeom prst="roundRect">
            <a:avLst>
              <a:gd name="adj" fmla="val 2254"/>
            </a:avLst>
          </a:prstGeom>
          <a:solidFill>
            <a:srgbClr val="1C2740"/>
          </a:solidFill>
          <a:ln w="10160">
            <a:solidFill>
              <a:srgbClr val="2E3B57"/>
            </a:solidFill>
            <a:prstDash val="solid"/>
          </a:ln>
        </p:spPr>
      </p:sp>
      <p:sp>
        <p:nvSpPr>
          <p:cNvPr id="13" name="Text 10"/>
          <p:cNvSpPr/>
          <p:nvPr/>
        </p:nvSpPr>
        <p:spPr>
          <a:xfrm>
            <a:off x="6419088" y="1865376"/>
            <a:ext cx="5029200"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真实 Consolidation Prompt</a:t>
            </a:r>
            <a:endParaRPr lang="en-US" sz="1150" dirty="0"/>
          </a:p>
        </p:txBody>
      </p:sp>
      <p:sp>
        <p:nvSpPr>
          <p:cNvPr id="14" name="Shape 11"/>
          <p:cNvSpPr/>
          <p:nvPr/>
        </p:nvSpPr>
        <p:spPr>
          <a:xfrm>
            <a:off x="6419088" y="2194560"/>
            <a:ext cx="5029200" cy="2633472"/>
          </a:xfrm>
          <a:prstGeom prst="roundRect">
            <a:avLst>
              <a:gd name="adj" fmla="val 2778"/>
            </a:avLst>
          </a:prstGeom>
          <a:solidFill>
            <a:srgbClr val="0B1220"/>
          </a:solidFill>
          <a:ln w="10160">
            <a:solidFill>
              <a:srgbClr val="2E3B57"/>
            </a:solidFill>
            <a:prstDash val="solid"/>
          </a:ln>
        </p:spPr>
      </p:sp>
      <p:sp>
        <p:nvSpPr>
          <p:cNvPr id="15" name="Text 12"/>
          <p:cNvSpPr/>
          <p:nvPr/>
        </p:nvSpPr>
        <p:spPr>
          <a:xfrm>
            <a:off x="6528816" y="2267712"/>
            <a:ext cx="4809744" cy="2496312"/>
          </a:xfrm>
          <a:prstGeom prst="rect">
            <a:avLst/>
          </a:prstGeom>
          <a:noFill/>
          <a:ln/>
        </p:spPr>
        <p:txBody>
          <a:bodyPr wrap="square" lIns="0" tIns="0" rIns="0" bIns="0" rtlCol="0" anchor="t"/>
          <a:lstStyle/>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把「现有规则集 + 本轮新规则」</a:t>
            </a: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合并成一份规范规则集：</a:t>
            </a:r>
            <a:endParaRPr lang="en-US" sz="1200" dirty="0"/>
          </a:p>
          <a:p>
            <a:pPr indent="0" marL="0">
              <a:buNone/>
            </a:pP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 去重</a:t>
            </a: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 不超过 15 条</a:t>
            </a: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 每条必须可操作</a:t>
            </a: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 只输出最终规则集</a:t>
            </a:r>
            <a:endParaRPr lang="en-US" sz="1200" dirty="0"/>
          </a:p>
        </p:txBody>
      </p:sp>
      <p:sp>
        <p:nvSpPr>
          <p:cNvPr id="16" name="Shape 13"/>
          <p:cNvSpPr/>
          <p:nvPr/>
        </p:nvSpPr>
        <p:spPr>
          <a:xfrm>
            <a:off x="566928" y="5285232"/>
            <a:ext cx="11064240" cy="777240"/>
          </a:xfrm>
          <a:prstGeom prst="roundRect">
            <a:avLst>
              <a:gd name="adj" fmla="val 9412"/>
            </a:avLst>
          </a:prstGeom>
          <a:solidFill>
            <a:srgbClr val="0B1220"/>
          </a:solidFill>
          <a:ln w="10160">
            <a:solidFill>
              <a:srgbClr val="FF6A3D"/>
            </a:solidFill>
            <a:prstDash val="solid"/>
          </a:ln>
        </p:spPr>
      </p:sp>
      <p:sp>
        <p:nvSpPr>
          <p:cNvPr id="17" name="Text 14"/>
          <p:cNvSpPr/>
          <p:nvPr/>
        </p:nvSpPr>
        <p:spPr>
          <a:xfrm>
            <a:off x="822960" y="5285232"/>
            <a:ext cx="10552176" cy="777240"/>
          </a:xfrm>
          <a:prstGeom prst="rect">
            <a:avLst/>
          </a:prstGeom>
          <a:noFill/>
          <a:ln/>
        </p:spPr>
        <p:txBody>
          <a:bodyPr wrap="square" lIns="0" tIns="0" rIns="0" bIns="0" rtlCol="0" anchor="ctr"/>
          <a:lstStyle/>
          <a:p>
            <a:pPr algn="ctr" indent="0" marL="0">
              <a:buNone/>
            </a:pPr>
            <a:r>
              <a:rPr lang="en-US" sz="1650" b="1" dirty="0">
                <a:solidFill>
                  <a:srgbClr val="FF6A3D"/>
                </a:solidFill>
                <a:latin typeface="Amazon Ember Display" pitchFamily="34" charset="0"/>
                <a:ea typeface="Amazon Ember Display" pitchFamily="34" charset="-122"/>
                <a:cs typeface="Amazon Ember Display" pitchFamily="34" charset="-120"/>
              </a:rPr>
              <a:t>问题埋在输入里：模型只能总结“已经抽出来的内容”。</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1 · MEMORY</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7</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抽象自省实际记住了什么</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4 轮运行后，consolidation 形成一份包含 15 条规则的 canonical Memory。</a:t>
            </a:r>
            <a:endParaRPr lang="en-US" sz="1400" dirty="0"/>
          </a:p>
        </p:txBody>
      </p:sp>
      <p:sp>
        <p:nvSpPr>
          <p:cNvPr id="8" name="Shape 5"/>
          <p:cNvSpPr/>
          <p:nvPr/>
        </p:nvSpPr>
        <p:spPr>
          <a:xfrm>
            <a:off x="566928" y="1572768"/>
            <a:ext cx="3529584" cy="3730752"/>
          </a:xfrm>
          <a:prstGeom prst="roundRect">
            <a:avLst>
              <a:gd name="adj" fmla="val 2073"/>
            </a:avLst>
          </a:prstGeom>
          <a:solidFill>
            <a:srgbClr val="1C2740"/>
          </a:solidFill>
          <a:ln w="10160">
            <a:solidFill>
              <a:srgbClr val="2E3B57"/>
            </a:solidFill>
            <a:prstDash val="solid"/>
          </a:ln>
        </p:spPr>
      </p:sp>
      <p:sp>
        <p:nvSpPr>
          <p:cNvPr id="9" name="Text 6"/>
          <p:cNvSpPr/>
          <p:nvPr/>
        </p:nvSpPr>
        <p:spPr>
          <a:xfrm>
            <a:off x="768096" y="1709928"/>
            <a:ext cx="3127248"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规则 1–5</a:t>
            </a:r>
            <a:endParaRPr lang="en-US" sz="1150" dirty="0"/>
          </a:p>
        </p:txBody>
      </p:sp>
      <p:sp>
        <p:nvSpPr>
          <p:cNvPr id="10" name="Text 7"/>
          <p:cNvSpPr/>
          <p:nvPr/>
        </p:nvSpPr>
        <p:spPr>
          <a:xfrm>
            <a:off x="768096" y="2057400"/>
            <a:ext cx="3127248" cy="3118104"/>
          </a:xfrm>
          <a:prstGeom prst="rect">
            <a:avLst/>
          </a:prstGeom>
          <a:noFill/>
          <a:ln/>
        </p:spPr>
        <p:txBody>
          <a:bodyPr wrap="square" lIns="0" tIns="0" rIns="0" bIns="0" rtlCol="0" anchor="t"/>
          <a:lstStyle/>
          <a:p>
            <a:pPr indent="0" marL="0">
              <a:buNone/>
            </a:pPr>
            <a:r>
              <a:rPr lang="en-US" sz="1050" dirty="0">
                <a:solidFill>
                  <a:srgbClr val="CFD9E4"/>
                </a:solidFill>
                <a:latin typeface="Microsoft YaHei" pitchFamily="34" charset="0"/>
                <a:ea typeface="Microsoft YaHei" pitchFamily="34" charset="-122"/>
                <a:cs typeface="Microsoft YaHei" pitchFamily="34" charset="-120"/>
              </a:rPr>
              <a:t>1. 设备主体识别：标题/首段的“容量+介质+设备类型”作为主体，全文统一。</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2. 整体性能归属：介质、容积、压力、温度、绝热等归“储罐整体”。</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3. 运输/交货独立：封存压力、气体、露点、封堵状态独立成条。</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4. 子系统/附件独立：增压器、安全装置、仪表、阀门、管口单独成部件。</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5. 多部件拆分：同句多个部件按部件拆分，保留完整原文。</a:t>
            </a:r>
            <a:endParaRPr lang="en-US" sz="1050" dirty="0"/>
          </a:p>
        </p:txBody>
      </p:sp>
      <p:sp>
        <p:nvSpPr>
          <p:cNvPr id="11" name="Shape 8"/>
          <p:cNvSpPr/>
          <p:nvPr/>
        </p:nvSpPr>
        <p:spPr>
          <a:xfrm>
            <a:off x="4334256" y="1572768"/>
            <a:ext cx="3529584" cy="3730752"/>
          </a:xfrm>
          <a:prstGeom prst="roundRect">
            <a:avLst>
              <a:gd name="adj" fmla="val 2073"/>
            </a:avLst>
          </a:prstGeom>
          <a:solidFill>
            <a:srgbClr val="2A2418"/>
          </a:solidFill>
          <a:ln w="10160">
            <a:solidFill>
              <a:srgbClr val="2E3B57"/>
            </a:solidFill>
            <a:prstDash val="solid"/>
          </a:ln>
        </p:spPr>
      </p:sp>
      <p:sp>
        <p:nvSpPr>
          <p:cNvPr id="12" name="Text 9"/>
          <p:cNvSpPr/>
          <p:nvPr/>
        </p:nvSpPr>
        <p:spPr>
          <a:xfrm>
            <a:off x="4535424" y="1709928"/>
            <a:ext cx="3127248"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规则 6–10</a:t>
            </a:r>
            <a:endParaRPr lang="en-US" sz="1150" dirty="0"/>
          </a:p>
        </p:txBody>
      </p:sp>
      <p:sp>
        <p:nvSpPr>
          <p:cNvPr id="13" name="Text 10"/>
          <p:cNvSpPr/>
          <p:nvPr/>
        </p:nvSpPr>
        <p:spPr>
          <a:xfrm>
            <a:off x="4535424" y="2057400"/>
            <a:ext cx="3127248" cy="3118104"/>
          </a:xfrm>
          <a:prstGeom prst="rect">
            <a:avLst/>
          </a:prstGeom>
          <a:noFill/>
          <a:ln/>
        </p:spPr>
        <p:txBody>
          <a:bodyPr wrap="square" lIns="0" tIns="0" rIns="0" bIns="0" rtlCol="0" anchor="t"/>
          <a:lstStyle/>
          <a:p>
            <a:pPr indent="0" marL="0">
              <a:buNone/>
            </a:pPr>
            <a:r>
              <a:rPr lang="en-US" sz="1050" dirty="0">
                <a:solidFill>
                  <a:srgbClr val="CFD9E4"/>
                </a:solidFill>
                <a:latin typeface="Microsoft YaHei" pitchFamily="34" charset="0"/>
                <a:ea typeface="Microsoft YaHei" pitchFamily="34" charset="-122"/>
                <a:cs typeface="Microsoft YaHei" pitchFamily="34" charset="-120"/>
              </a:rPr>
              <a:t>6. 复合指标拆分：通径、压力、规格、数量、备注按指标分别成条。</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7. 指标名称规范：同义属性统一；检测拆成标准、比例、技术等级、合格级别。</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8. 管口/接口规格：保留原格式、不换算；DN 与压力等级分别抽取。</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9. 阀门/仪表清单：规格与数量分条，附加说明另生成备注。</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10. 材料分层：内罐、外罐、管道、阀门材料分别成条。</a:t>
            </a:r>
            <a:endParaRPr lang="en-US" sz="1050" dirty="0"/>
          </a:p>
        </p:txBody>
      </p:sp>
      <p:sp>
        <p:nvSpPr>
          <p:cNvPr id="14" name="Shape 11"/>
          <p:cNvSpPr/>
          <p:nvPr/>
        </p:nvSpPr>
        <p:spPr>
          <a:xfrm>
            <a:off x="8101584" y="1572768"/>
            <a:ext cx="3529584" cy="3730752"/>
          </a:xfrm>
          <a:prstGeom prst="roundRect">
            <a:avLst>
              <a:gd name="adj" fmla="val 2073"/>
            </a:avLst>
          </a:prstGeom>
          <a:solidFill>
            <a:srgbClr val="12331F"/>
          </a:solidFill>
          <a:ln w="10160">
            <a:solidFill>
              <a:srgbClr val="2E3B57"/>
            </a:solidFill>
            <a:prstDash val="solid"/>
          </a:ln>
        </p:spPr>
      </p:sp>
      <p:sp>
        <p:nvSpPr>
          <p:cNvPr id="15" name="Text 12"/>
          <p:cNvSpPr/>
          <p:nvPr/>
        </p:nvSpPr>
        <p:spPr>
          <a:xfrm>
            <a:off x="8302752" y="1709928"/>
            <a:ext cx="3127248"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规则 11–15</a:t>
            </a:r>
            <a:endParaRPr lang="en-US" sz="1150" dirty="0"/>
          </a:p>
        </p:txBody>
      </p:sp>
      <p:sp>
        <p:nvSpPr>
          <p:cNvPr id="16" name="Text 13"/>
          <p:cNvSpPr/>
          <p:nvPr/>
        </p:nvSpPr>
        <p:spPr>
          <a:xfrm>
            <a:off x="8302752" y="2057400"/>
            <a:ext cx="3127248" cy="3118104"/>
          </a:xfrm>
          <a:prstGeom prst="rect">
            <a:avLst/>
          </a:prstGeom>
          <a:noFill/>
          <a:ln/>
        </p:spPr>
        <p:txBody>
          <a:bodyPr wrap="square" lIns="0" tIns="0" rIns="0" bIns="0" rtlCol="0" anchor="t"/>
          <a:lstStyle/>
          <a:p>
            <a:pPr indent="0" marL="0">
              <a:buNone/>
            </a:pPr>
            <a:r>
              <a:rPr lang="en-US" sz="1050" dirty="0">
                <a:solidFill>
                  <a:srgbClr val="CFD9E4"/>
                </a:solidFill>
                <a:latin typeface="Microsoft YaHei" pitchFamily="34" charset="0"/>
                <a:ea typeface="Microsoft YaHei" pitchFamily="34" charset="-122"/>
                <a:cs typeface="Microsoft YaHei" pitchFamily="34" charset="-120"/>
              </a:rPr>
              <a:t>11. 检测标准完整：标准编号、比例、技术等级、合格级别齐全；RT/PT 分条。</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12. 工艺/结构要求：防涡、液封、双阀、清洁度、焊接结构独立抽取。</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13. 限值符号保留：≤、≥、不少于等原样保留，范围上下限完整。</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14. 功能/描述要求：无数值文本完整保留，不替换为空值或泛化词。</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15. 原文溯源：保留编号和标点；OCR 错误可修特征，但原文不改。</a:t>
            </a:r>
            <a:endParaRPr lang="en-US" sz="1050" dirty="0"/>
          </a:p>
        </p:txBody>
      </p:sp>
      <p:sp>
        <p:nvSpPr>
          <p:cNvPr id="17" name="Shape 14"/>
          <p:cNvSpPr/>
          <p:nvPr/>
        </p:nvSpPr>
        <p:spPr>
          <a:xfrm>
            <a:off x="566928" y="5504688"/>
            <a:ext cx="11064240" cy="658368"/>
          </a:xfrm>
          <a:prstGeom prst="roundRect">
            <a:avLst>
              <a:gd name="adj" fmla="val 11111"/>
            </a:avLst>
          </a:prstGeom>
          <a:solidFill>
            <a:srgbClr val="0B1220"/>
          </a:solidFill>
          <a:ln w="10160">
            <a:solidFill>
              <a:srgbClr val="FF6A3D"/>
            </a:solidFill>
            <a:prstDash val="solid"/>
          </a:ln>
        </p:spPr>
      </p:sp>
      <p:sp>
        <p:nvSpPr>
          <p:cNvPr id="18" name="Text 15"/>
          <p:cNvSpPr/>
          <p:nvPr/>
        </p:nvSpPr>
        <p:spPr>
          <a:xfrm>
            <a:off x="795528" y="5504688"/>
            <a:ext cx="10607040" cy="658368"/>
          </a:xfrm>
          <a:prstGeom prst="rect">
            <a:avLst/>
          </a:prstGeom>
          <a:noFill/>
          <a:ln/>
        </p:spPr>
        <p:txBody>
          <a:bodyPr wrap="square" lIns="0" tIns="0" rIns="0" bIns="0" rtlCol="0" anchor="ctr"/>
          <a:lstStyle/>
          <a:p>
            <a:pPr algn="ctr" indent="0" marL="0">
              <a:buNone/>
            </a:pPr>
            <a:r>
              <a:rPr lang="en-US" sz="1550" b="1" dirty="0">
                <a:solidFill>
                  <a:srgbClr val="FF6A3D"/>
                </a:solidFill>
                <a:latin typeface="Amazon Ember Display" pitchFamily="34" charset="0"/>
                <a:ea typeface="Amazon Ember Display" pitchFamily="34" charset="-122"/>
                <a:cs typeface="Amazon Ember Display" pitchFamily="34" charset="-120"/>
              </a:rPr>
              <a:t>4 轮抽取：90 → 93 → 95 → 102 条　|　15 条规则　|　53 个唯一原文　|　1.92 条/原文</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1 · CONCLUSION</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8</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实验一结论：只看输出，发现不了整块遗漏</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规则数量和输出条数都增加了，但学习信号无法看见没有进入结果的章节或表格。</a:t>
            </a:r>
            <a:endParaRPr lang="en-US" sz="1400" dirty="0"/>
          </a:p>
        </p:txBody>
      </p:sp>
      <p:sp>
        <p:nvSpPr>
          <p:cNvPr id="8" name="Shape 5"/>
          <p:cNvSpPr/>
          <p:nvPr/>
        </p:nvSpPr>
        <p:spPr>
          <a:xfrm>
            <a:off x="566928" y="1783080"/>
            <a:ext cx="5349240" cy="3474720"/>
          </a:xfrm>
          <a:prstGeom prst="roundRect">
            <a:avLst>
              <a:gd name="adj" fmla="val 2105"/>
            </a:avLst>
          </a:prstGeom>
          <a:solidFill>
            <a:srgbClr val="0C3440"/>
          </a:solidFill>
          <a:ln w="10160">
            <a:solidFill>
              <a:srgbClr val="2E3B57"/>
            </a:solidFill>
            <a:prstDash val="solid"/>
          </a:ln>
        </p:spPr>
      </p:sp>
      <p:sp>
        <p:nvSpPr>
          <p:cNvPr id="9" name="Text 6"/>
          <p:cNvSpPr/>
          <p:nvPr/>
        </p:nvSpPr>
        <p:spPr>
          <a:xfrm>
            <a:off x="768096" y="1920240"/>
            <a:ext cx="494690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类型 A</a:t>
            </a:r>
            <a:endParaRPr lang="en-US" sz="1150" dirty="0"/>
          </a:p>
        </p:txBody>
      </p:sp>
      <p:sp>
        <p:nvSpPr>
          <p:cNvPr id="10" name="Text 7"/>
          <p:cNvSpPr/>
          <p:nvPr/>
        </p:nvSpPr>
        <p:spPr>
          <a:xfrm>
            <a:off x="768096" y="2267712"/>
            <a:ext cx="494690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源覆盖问题</a:t>
            </a:r>
            <a:endParaRPr lang="en-US" sz="1700" dirty="0"/>
          </a:p>
        </p:txBody>
      </p:sp>
      <p:sp>
        <p:nvSpPr>
          <p:cNvPr id="11" name="Text 8"/>
          <p:cNvSpPr/>
          <p:nvPr/>
        </p:nvSpPr>
        <p:spPr>
          <a:xfrm>
            <a:off x="768096" y="2724912"/>
            <a:ext cx="4946904" cy="2404872"/>
          </a:xfrm>
          <a:prstGeom prst="rect">
            <a:avLst/>
          </a:prstGeom>
          <a:noFill/>
          <a:ln/>
        </p:spPr>
        <p:txBody>
          <a:bodyPr wrap="square" lIns="0" tIns="0" rIns="0" bIns="0" rtlCol="0" anchor="t"/>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定义：原文中出现了 X，但输出中没有 X。</a:t>
            </a:r>
            <a:endParaRPr lang="en-US" sz="1400" dirty="0"/>
          </a:p>
          <a:p>
            <a:pPr indent="0" marL="0">
              <a:buNone/>
            </a:pP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例子：</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整张 BOM 没抽</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漏掉某个章节或附注</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重复记录</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字段为空或格式错误</a:t>
            </a:r>
            <a:endParaRPr lang="en-US" sz="1400" dirty="0"/>
          </a:p>
          <a:p>
            <a:pPr indent="0" marL="0">
              <a:buNone/>
            </a:pP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可通过：原文 + 草稿的结构化自审发现</a:t>
            </a:r>
            <a:endParaRPr lang="en-US" sz="1400" dirty="0"/>
          </a:p>
        </p:txBody>
      </p:sp>
      <p:sp>
        <p:nvSpPr>
          <p:cNvPr id="12" name="Shape 9"/>
          <p:cNvSpPr/>
          <p:nvPr/>
        </p:nvSpPr>
        <p:spPr>
          <a:xfrm>
            <a:off x="6281928" y="1783080"/>
            <a:ext cx="5349240" cy="3474720"/>
          </a:xfrm>
          <a:prstGeom prst="roundRect">
            <a:avLst>
              <a:gd name="adj" fmla="val 2105"/>
            </a:avLst>
          </a:prstGeom>
          <a:solidFill>
            <a:srgbClr val="2A2418"/>
          </a:solidFill>
          <a:ln w="10160">
            <a:solidFill>
              <a:srgbClr val="2E3B57"/>
            </a:solidFill>
            <a:prstDash val="solid"/>
          </a:ln>
        </p:spPr>
      </p:sp>
      <p:sp>
        <p:nvSpPr>
          <p:cNvPr id="13" name="Text 10"/>
          <p:cNvSpPr/>
          <p:nvPr/>
        </p:nvSpPr>
        <p:spPr>
          <a:xfrm>
            <a:off x="6483096" y="1920240"/>
            <a:ext cx="494690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类型 B</a:t>
            </a:r>
            <a:endParaRPr lang="en-US" sz="1150" dirty="0"/>
          </a:p>
        </p:txBody>
      </p:sp>
      <p:sp>
        <p:nvSpPr>
          <p:cNvPr id="14" name="Text 11"/>
          <p:cNvSpPr/>
          <p:nvPr/>
        </p:nvSpPr>
        <p:spPr>
          <a:xfrm>
            <a:off x="6483096" y="2267712"/>
            <a:ext cx="494690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任务边界问题</a:t>
            </a:r>
            <a:endParaRPr lang="en-US" sz="1700" dirty="0"/>
          </a:p>
        </p:txBody>
      </p:sp>
      <p:sp>
        <p:nvSpPr>
          <p:cNvPr id="15" name="Text 12"/>
          <p:cNvSpPr/>
          <p:nvPr/>
        </p:nvSpPr>
        <p:spPr>
          <a:xfrm>
            <a:off x="6483096" y="2724912"/>
            <a:ext cx="4946904" cy="2404872"/>
          </a:xfrm>
          <a:prstGeom prst="rect">
            <a:avLst/>
          </a:prstGeom>
          <a:noFill/>
          <a:ln/>
        </p:spPr>
        <p:txBody>
          <a:bodyPr wrap="square" lIns="0" tIns="0" rIns="0" bIns="0" rtlCol="0" anchor="t"/>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定义：模型不知道 X 也属于抽取目标。</a:t>
            </a:r>
            <a:endParaRPr lang="en-US" sz="1400" dirty="0"/>
          </a:p>
          <a:p>
            <a:pPr indent="0" marL="0">
              <a:buNone/>
            </a:pP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例子：</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流程与见证要求</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报告与交付文件</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待确认事项</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什么粒度算一条</a:t>
            </a:r>
            <a:endParaRPr lang="en-US" sz="1400" dirty="0"/>
          </a:p>
          <a:p>
            <a:pPr indent="0" marL="0">
              <a:buNone/>
            </a:pP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需要：任务规范、Reviewer 或人工反馈</a:t>
            </a:r>
            <a:endParaRPr lang="en-US" sz="1400" dirty="0"/>
          </a:p>
        </p:txBody>
      </p:sp>
      <p:sp>
        <p:nvSpPr>
          <p:cNvPr id="16" name="Shape 13"/>
          <p:cNvSpPr/>
          <p:nvPr/>
        </p:nvSpPr>
        <p:spPr>
          <a:xfrm>
            <a:off x="566928" y="5504688"/>
            <a:ext cx="11064240" cy="777240"/>
          </a:xfrm>
          <a:prstGeom prst="roundRect">
            <a:avLst>
              <a:gd name="adj" fmla="val 9412"/>
            </a:avLst>
          </a:prstGeom>
          <a:solidFill>
            <a:srgbClr val="0B1220"/>
          </a:solidFill>
          <a:ln w="10160">
            <a:solidFill>
              <a:srgbClr val="42B4FF"/>
            </a:solidFill>
            <a:prstDash val="solid"/>
          </a:ln>
        </p:spPr>
      </p:sp>
      <p:sp>
        <p:nvSpPr>
          <p:cNvPr id="17" name="Text 14"/>
          <p:cNvSpPr/>
          <p:nvPr/>
        </p:nvSpPr>
        <p:spPr>
          <a:xfrm>
            <a:off x="822960" y="5504688"/>
            <a:ext cx="10552176" cy="777240"/>
          </a:xfrm>
          <a:prstGeom prst="rect">
            <a:avLst/>
          </a:prstGeom>
          <a:noFill/>
          <a:ln/>
        </p:spPr>
        <p:txBody>
          <a:bodyPr wrap="square" lIns="0" tIns="0" rIns="0" bIns="0" rtlCol="0" anchor="ctr"/>
          <a:lstStyle/>
          <a:p>
            <a:pPr algn="ctr" indent="0" marL="0">
              <a:buNone/>
            </a:pPr>
            <a:r>
              <a:rPr lang="en-US" sz="1650" b="1" dirty="0">
                <a:solidFill>
                  <a:srgbClr val="42B4FF"/>
                </a:solidFill>
                <a:latin typeface="Amazon Ember Display" pitchFamily="34" charset="0"/>
                <a:ea typeface="Amazon Ember Display" pitchFamily="34" charset="-122"/>
                <a:cs typeface="Amazon Ember Display" pitchFamily="34" charset="-120"/>
              </a:rPr>
              <a:t>Self-review 能发现“漏了什么”；规范/Reviewer 决定“什么应该抽”。</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2</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9</a:t>
            </a:r>
            <a:endParaRPr lang="en-US" sz="1050" dirty="0"/>
          </a:p>
        </p:txBody>
      </p:sp>
      <p:sp>
        <p:nvSpPr>
          <p:cNvPr id="6" name="Text 3"/>
          <p:cNvSpPr/>
          <p:nvPr/>
        </p:nvSpPr>
        <p:spPr>
          <a:xfrm>
            <a:off x="566928" y="1115568"/>
            <a:ext cx="2057400" cy="1234440"/>
          </a:xfrm>
          <a:prstGeom prst="rect">
            <a:avLst/>
          </a:prstGeom>
          <a:noFill/>
          <a:ln/>
        </p:spPr>
        <p:txBody>
          <a:bodyPr wrap="square" lIns="0" tIns="0" rIns="0" bIns="0" rtlCol="0" anchor="ctr"/>
          <a:lstStyle/>
          <a:p>
            <a:pPr indent="0" marL="0">
              <a:buNone/>
            </a:pPr>
            <a:r>
              <a:rPr lang="en-US" sz="7200" b="1" dirty="0">
                <a:solidFill>
                  <a:srgbClr val="42B4FF"/>
                </a:solidFill>
                <a:latin typeface="Amazon Ember Display" pitchFamily="34" charset="0"/>
                <a:ea typeface="Amazon Ember Display" pitchFamily="34" charset="-122"/>
                <a:cs typeface="Amazon Ember Display" pitchFamily="34" charset="-120"/>
              </a:rPr>
              <a:t>02</a:t>
            </a:r>
            <a:endParaRPr lang="en-US" sz="7200" dirty="0"/>
          </a:p>
        </p:txBody>
      </p:sp>
      <p:sp>
        <p:nvSpPr>
          <p:cNvPr id="7" name="Text 4"/>
          <p:cNvSpPr/>
          <p:nvPr/>
        </p:nvSpPr>
        <p:spPr>
          <a:xfrm>
            <a:off x="2898648" y="1188720"/>
            <a:ext cx="8503920" cy="749808"/>
          </a:xfrm>
          <a:prstGeom prst="rect">
            <a:avLst/>
          </a:prstGeom>
          <a:noFill/>
          <a:ln/>
        </p:spPr>
        <p:txBody>
          <a:bodyPr wrap="square" lIns="0" tIns="0" rIns="0" bIns="0" rtlCol="0" anchor="ctr"/>
          <a:lstStyle/>
          <a:p>
            <a:pPr indent="0" marL="0">
              <a:buNone/>
            </a:pPr>
            <a:r>
              <a:rPr lang="en-US" sz="3400" b="1" dirty="0">
                <a:solidFill>
                  <a:srgbClr val="FFFFFF"/>
                </a:solidFill>
                <a:latin typeface="Amazon Ember Display" pitchFamily="34" charset="0"/>
                <a:ea typeface="Amazon Ember Display" pitchFamily="34" charset="-122"/>
                <a:cs typeface="Amazon Ember Display" pitchFamily="34" charset="-120"/>
              </a:rPr>
              <a:t>生成托管 Memory：让 Review 对照原文</a:t>
            </a:r>
            <a:endParaRPr lang="en-US" sz="3400" dirty="0"/>
          </a:p>
        </p:txBody>
      </p:sp>
      <p:sp>
        <p:nvSpPr>
          <p:cNvPr id="8" name="Text 5"/>
          <p:cNvSpPr/>
          <p:nvPr/>
        </p:nvSpPr>
        <p:spPr>
          <a:xfrm>
            <a:off x="2926080" y="2057400"/>
            <a:ext cx="8229600" cy="658368"/>
          </a:xfrm>
          <a:prstGeom prst="rect">
            <a:avLst/>
          </a:prstGeom>
          <a:noFill/>
          <a:ln/>
        </p:spPr>
        <p:txBody>
          <a:bodyPr wrap="square" lIns="0" tIns="0" rIns="0" bIns="0" rtlCol="0" anchor="ctr"/>
          <a:lstStyle/>
          <a:p>
            <a:pPr indent="0" marL="0">
              <a:buNone/>
            </a:pPr>
            <a:r>
              <a:rPr lang="en-US" sz="1800" dirty="0">
                <a:solidFill>
                  <a:srgbClr val="CFD9E4"/>
                </a:solidFill>
                <a:latin typeface="Microsoft YaHei" pitchFamily="34" charset="0"/>
                <a:ea typeface="Microsoft YaHei" pitchFamily="34" charset="-122"/>
                <a:cs typeface="Microsoft YaHei" pitchFamily="34" charset="-120"/>
              </a:rPr>
              <a:t>这一段只回答 Memory 如何生成：Harness Agent 产生结构化轨迹，Memory System 负责提炼。</a:t>
            </a:r>
            <a:endParaRPr lang="en-US" sz="1800" dirty="0"/>
          </a:p>
        </p:txBody>
      </p:sp>
      <p:sp>
        <p:nvSpPr>
          <p:cNvPr id="9" name="Shape 6"/>
          <p:cNvSpPr/>
          <p:nvPr/>
        </p:nvSpPr>
        <p:spPr>
          <a:xfrm>
            <a:off x="566928" y="3127248"/>
            <a:ext cx="11064240" cy="1508760"/>
          </a:xfrm>
          <a:prstGeom prst="roundRect">
            <a:avLst>
              <a:gd name="adj" fmla="val 4848"/>
            </a:avLst>
          </a:prstGeom>
          <a:solidFill>
            <a:srgbClr val="0B1220"/>
          </a:solidFill>
          <a:ln w="10160">
            <a:solidFill>
              <a:srgbClr val="42B4FF"/>
            </a:solidFill>
            <a:prstDash val="solid"/>
          </a:ln>
        </p:spPr>
      </p:sp>
      <p:sp>
        <p:nvSpPr>
          <p:cNvPr id="10" name="Text 7"/>
          <p:cNvSpPr/>
          <p:nvPr/>
        </p:nvSpPr>
        <p:spPr>
          <a:xfrm>
            <a:off x="978408" y="3127248"/>
            <a:ext cx="10241280" cy="1508760"/>
          </a:xfrm>
          <a:prstGeom prst="rect">
            <a:avLst/>
          </a:prstGeom>
          <a:noFill/>
          <a:ln/>
        </p:spPr>
        <p:txBody>
          <a:bodyPr wrap="square" lIns="0" tIns="0" rIns="0" bIns="0" rtlCol="0" anchor="ctr"/>
          <a:lstStyle/>
          <a:p>
            <a:pPr algn="ctr" indent="0" marL="0">
              <a:buNone/>
            </a:pPr>
            <a:r>
              <a:rPr lang="en-US" sz="2000" b="1" dirty="0">
                <a:solidFill>
                  <a:srgbClr val="42B4FF"/>
                </a:solidFill>
                <a:latin typeface="Microsoft YaHei" pitchFamily="34" charset="0"/>
                <a:ea typeface="Microsoft YaHei" pitchFamily="34" charset="-122"/>
                <a:cs typeface="Microsoft YaHei" pitchFamily="34" charset="-120"/>
              </a:rPr>
              <a:t>实验边界：源任务是 13 页液氮罐文档；结果是 1 条 episode 和 2 条 actor-level reflection。</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2 · HARNESS AGENT</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10</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Harness Agent：两阶段结构化 Self-review</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两个阶段均由 Harness Agent 执行；产物写入同一 runtime session，等待 Memory System 后台提炼。</a:t>
            </a:r>
            <a:endParaRPr lang="en-US" sz="1400" dirty="0"/>
          </a:p>
        </p:txBody>
      </p:sp>
      <p:sp>
        <p:nvSpPr>
          <p:cNvPr id="8" name="Shape 5"/>
          <p:cNvSpPr/>
          <p:nvPr/>
        </p:nvSpPr>
        <p:spPr>
          <a:xfrm>
            <a:off x="566928" y="1664208"/>
            <a:ext cx="5440680" cy="3794760"/>
          </a:xfrm>
          <a:prstGeom prst="roundRect">
            <a:avLst>
              <a:gd name="adj" fmla="val 1928"/>
            </a:avLst>
          </a:prstGeom>
          <a:solidFill>
            <a:srgbClr val="1C2740"/>
          </a:solidFill>
          <a:ln w="10160">
            <a:solidFill>
              <a:srgbClr val="2E3B57"/>
            </a:solidFill>
            <a:prstDash val="solid"/>
          </a:ln>
        </p:spPr>
      </p:sp>
      <p:sp>
        <p:nvSpPr>
          <p:cNvPr id="9" name="Text 6"/>
          <p:cNvSpPr/>
          <p:nvPr/>
        </p:nvSpPr>
        <p:spPr>
          <a:xfrm>
            <a:off x="749808" y="1792224"/>
            <a:ext cx="5074920"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HARNESS AGENT · 阶段一 Prompt</a:t>
            </a:r>
            <a:endParaRPr lang="en-US" sz="1150" dirty="0"/>
          </a:p>
        </p:txBody>
      </p:sp>
      <p:sp>
        <p:nvSpPr>
          <p:cNvPr id="10" name="Shape 7"/>
          <p:cNvSpPr/>
          <p:nvPr/>
        </p:nvSpPr>
        <p:spPr>
          <a:xfrm>
            <a:off x="749808" y="2121408"/>
            <a:ext cx="5074920" cy="3182112"/>
          </a:xfrm>
          <a:prstGeom prst="roundRect">
            <a:avLst>
              <a:gd name="adj" fmla="val 2299"/>
            </a:avLst>
          </a:prstGeom>
          <a:solidFill>
            <a:srgbClr val="0B1220"/>
          </a:solidFill>
          <a:ln w="10160">
            <a:solidFill>
              <a:srgbClr val="2E3B57"/>
            </a:solidFill>
            <a:prstDash val="solid"/>
          </a:ln>
        </p:spPr>
      </p:sp>
      <p:sp>
        <p:nvSpPr>
          <p:cNvPr id="11" name="Text 8"/>
          <p:cNvSpPr/>
          <p:nvPr/>
        </p:nvSpPr>
        <p:spPr>
          <a:xfrm>
            <a:off x="859536" y="2194560"/>
            <a:ext cx="4855464" cy="3044952"/>
          </a:xfrm>
          <a:prstGeom prst="rect">
            <a:avLst/>
          </a:prstGeom>
          <a:noFill/>
          <a:ln/>
        </p:spPr>
        <p:txBody>
          <a:bodyPr wrap="square" lIns="0" tIns="0" rIns="0" bIns="0" rtlCol="0" anchor="t"/>
          <a:lstStyle/>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先在内部形成完整抽取草稿，再审查草稿；</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不要输出草稿。</a:t>
            </a:r>
            <a:endParaRPr lang="en-US" sz="1080" dirty="0"/>
          </a:p>
          <a:p>
            <a:pPr indent="0" marL="0">
              <a:buNone/>
            </a:pP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"self_review":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"coverage":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"omissions":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"format":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"granularity":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"next_actions":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a:t>
            </a:r>
            <a:endParaRPr lang="en-US" sz="1080" dirty="0"/>
          </a:p>
        </p:txBody>
      </p:sp>
      <p:sp>
        <p:nvSpPr>
          <p:cNvPr id="12" name="Shape 9"/>
          <p:cNvSpPr/>
          <p:nvPr/>
        </p:nvSpPr>
        <p:spPr>
          <a:xfrm>
            <a:off x="6236208" y="1664208"/>
            <a:ext cx="5394960" cy="3794760"/>
          </a:xfrm>
          <a:prstGeom prst="roundRect">
            <a:avLst>
              <a:gd name="adj" fmla="val 1928"/>
            </a:avLst>
          </a:prstGeom>
          <a:solidFill>
            <a:srgbClr val="1C2740"/>
          </a:solidFill>
          <a:ln w="10160">
            <a:solidFill>
              <a:srgbClr val="2E3B57"/>
            </a:solidFill>
            <a:prstDash val="solid"/>
          </a:ln>
        </p:spPr>
      </p:sp>
      <p:sp>
        <p:nvSpPr>
          <p:cNvPr id="13" name="Text 10"/>
          <p:cNvSpPr/>
          <p:nvPr/>
        </p:nvSpPr>
        <p:spPr>
          <a:xfrm>
            <a:off x="6419088" y="1792224"/>
            <a:ext cx="5029200"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HARNESS AGENT · 阶段二 Prompt</a:t>
            </a:r>
            <a:endParaRPr lang="en-US" sz="1150" dirty="0"/>
          </a:p>
        </p:txBody>
      </p:sp>
      <p:sp>
        <p:nvSpPr>
          <p:cNvPr id="14" name="Shape 11"/>
          <p:cNvSpPr/>
          <p:nvPr/>
        </p:nvSpPr>
        <p:spPr>
          <a:xfrm>
            <a:off x="6419088" y="2121408"/>
            <a:ext cx="5029200" cy="3182112"/>
          </a:xfrm>
          <a:prstGeom prst="roundRect">
            <a:avLst>
              <a:gd name="adj" fmla="val 2299"/>
            </a:avLst>
          </a:prstGeom>
          <a:solidFill>
            <a:srgbClr val="0B1220"/>
          </a:solidFill>
          <a:ln w="10160">
            <a:solidFill>
              <a:srgbClr val="2E3B57"/>
            </a:solidFill>
            <a:prstDash val="solid"/>
          </a:ln>
        </p:spPr>
      </p:sp>
      <p:sp>
        <p:nvSpPr>
          <p:cNvPr id="15" name="Text 12"/>
          <p:cNvSpPr/>
          <p:nvPr/>
        </p:nvSpPr>
        <p:spPr>
          <a:xfrm>
            <a:off x="6528816" y="2194560"/>
            <a:ext cx="4809744" cy="3044952"/>
          </a:xfrm>
          <a:prstGeom prst="rect">
            <a:avLst/>
          </a:prstGeom>
          <a:noFill/>
          <a:ln/>
        </p:spPr>
        <p:txBody>
          <a:bodyPr wrap="square" lIns="0" tIns="0" rIns="0" bIns="0" rtlCol="0" anchor="t"/>
          <a:lstStyle/>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读取原始文档和 self_review。</a:t>
            </a:r>
            <a:endParaRPr lang="en-US" sz="1120" dirty="0"/>
          </a:p>
          <a:p>
            <a:pPr indent="0" marL="0">
              <a:buNone/>
            </a:pP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根据 next_actions 重新完成抽取，</a:t>
            </a: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并逐项复核：</a:t>
            </a: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 coverage</a:t>
            </a: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 omissions</a:t>
            </a: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 format</a:t>
            </a: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 granularity</a:t>
            </a:r>
            <a:endParaRPr lang="en-US" sz="1120" dirty="0"/>
          </a:p>
          <a:p>
            <a:pPr indent="0" marL="0">
              <a:buNone/>
            </a:pP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只输出最终五字段 JSON。</a:t>
            </a:r>
            <a:endParaRPr lang="en-US" sz="1120" dirty="0"/>
          </a:p>
        </p:txBody>
      </p:sp>
      <p:sp>
        <p:nvSpPr>
          <p:cNvPr id="16" name="Shape 13"/>
          <p:cNvSpPr/>
          <p:nvPr/>
        </p:nvSpPr>
        <p:spPr>
          <a:xfrm>
            <a:off x="566928" y="5650992"/>
            <a:ext cx="11064240" cy="777240"/>
          </a:xfrm>
          <a:prstGeom prst="roundRect">
            <a:avLst>
              <a:gd name="adj" fmla="val 9412"/>
            </a:avLst>
          </a:prstGeom>
          <a:solidFill>
            <a:srgbClr val="0B1220"/>
          </a:solidFill>
          <a:ln w="10160">
            <a:solidFill>
              <a:srgbClr val="00E500"/>
            </a:solidFill>
            <a:prstDash val="solid"/>
          </a:ln>
        </p:spPr>
      </p:sp>
      <p:sp>
        <p:nvSpPr>
          <p:cNvPr id="17" name="Text 14"/>
          <p:cNvSpPr/>
          <p:nvPr/>
        </p:nvSpPr>
        <p:spPr>
          <a:xfrm>
            <a:off x="822960" y="5650992"/>
            <a:ext cx="10552176" cy="777240"/>
          </a:xfrm>
          <a:prstGeom prst="rect">
            <a:avLst/>
          </a:prstGeom>
          <a:noFill/>
          <a:ln/>
        </p:spPr>
        <p:txBody>
          <a:bodyPr wrap="square" lIns="0" tIns="0" rIns="0" bIns="0" rtlCol="0" anchor="ctr"/>
          <a:lstStyle/>
          <a:p>
            <a:pPr algn="ctr" indent="0" marL="0">
              <a:buNone/>
            </a:pPr>
            <a:r>
              <a:rPr lang="en-US" sz="1650" b="1" dirty="0">
                <a:solidFill>
                  <a:srgbClr val="00E500"/>
                </a:solidFill>
                <a:latin typeface="Amazon Ember Display" pitchFamily="34" charset="0"/>
                <a:ea typeface="Amazon Ember Display" pitchFamily="34" charset="-122"/>
                <a:cs typeface="Amazon Ember Display" pitchFamily="34" charset="-120"/>
              </a:rPr>
              <a:t>执行主体：Harness Agent　|　产物：self_review + 最终 JSON　|　载体：同一 session events</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2 · MEMORY SYSTEM</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11</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Memory System：EPISODIC 提炼轨迹</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AgentCore Memory 资源使用内置 EPISODIC strategy；后台异步处理 Harness Agent 产生的完整 session events。</a:t>
            </a:r>
            <a:endParaRPr lang="en-US" sz="1400" dirty="0"/>
          </a:p>
        </p:txBody>
      </p:sp>
      <p:sp>
        <p:nvSpPr>
          <p:cNvPr id="8" name="Shape 5"/>
          <p:cNvSpPr/>
          <p:nvPr/>
        </p:nvSpPr>
        <p:spPr>
          <a:xfrm>
            <a:off x="566928" y="1828800"/>
            <a:ext cx="2286000" cy="1234440"/>
          </a:xfrm>
          <a:prstGeom prst="roundRect">
            <a:avLst>
              <a:gd name="adj" fmla="val 5926"/>
            </a:avLst>
          </a:prstGeom>
          <a:solidFill>
            <a:srgbClr val="1C2740"/>
          </a:solidFill>
          <a:ln w="10160">
            <a:solidFill>
              <a:srgbClr val="2E3B57"/>
            </a:solidFill>
            <a:prstDash val="solid"/>
          </a:ln>
        </p:spPr>
      </p:sp>
      <p:sp>
        <p:nvSpPr>
          <p:cNvPr id="9" name="Text 6"/>
          <p:cNvSpPr/>
          <p:nvPr/>
        </p:nvSpPr>
        <p:spPr>
          <a:xfrm>
            <a:off x="768096" y="1965960"/>
            <a:ext cx="188366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HARNESS AGENT</a:t>
            </a:r>
            <a:endParaRPr lang="en-US" sz="1150" dirty="0"/>
          </a:p>
        </p:txBody>
      </p:sp>
      <p:sp>
        <p:nvSpPr>
          <p:cNvPr id="10" name="Text 7"/>
          <p:cNvSpPr/>
          <p:nvPr/>
        </p:nvSpPr>
        <p:spPr>
          <a:xfrm>
            <a:off x="768096" y="2313432"/>
            <a:ext cx="188366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Session Events</a:t>
            </a:r>
            <a:endParaRPr lang="en-US" sz="1700" dirty="0"/>
          </a:p>
        </p:txBody>
      </p:sp>
      <p:sp>
        <p:nvSpPr>
          <p:cNvPr id="11" name="Text 8"/>
          <p:cNvSpPr/>
          <p:nvPr/>
        </p:nvSpPr>
        <p:spPr>
          <a:xfrm>
            <a:off x="768096" y="2770632"/>
            <a:ext cx="1883664" cy="164592"/>
          </a:xfrm>
          <a:prstGeom prst="rect">
            <a:avLst/>
          </a:prstGeom>
          <a:noFill/>
          <a:ln/>
        </p:spPr>
        <p:txBody>
          <a:bodyPr wrap="square" lIns="0" tIns="0" rIns="0" bIns="0" rtlCol="0" anchor="t"/>
          <a:lstStyle/>
          <a:p>
            <a:pPr indent="0" marL="0">
              <a:buNone/>
            </a:pPr>
            <a:r>
              <a:rPr lang="en-US" sz="1250" dirty="0">
                <a:solidFill>
                  <a:srgbClr val="CFD9E4"/>
                </a:solidFill>
                <a:latin typeface="Microsoft YaHei" pitchFamily="34" charset="0"/>
                <a:ea typeface="Microsoft YaHei" pitchFamily="34" charset="-122"/>
                <a:cs typeface="Microsoft YaHei" pitchFamily="34" charset="-120"/>
              </a:rPr>
              <a:t>原文 + self_review + 最终 JSON</a:t>
            </a:r>
            <a:endParaRPr lang="en-US" sz="1250" dirty="0"/>
          </a:p>
        </p:txBody>
      </p:sp>
      <p:sp>
        <p:nvSpPr>
          <p:cNvPr id="12" name="Text 9"/>
          <p:cNvSpPr/>
          <p:nvPr/>
        </p:nvSpPr>
        <p:spPr>
          <a:xfrm>
            <a:off x="2898648" y="2176272"/>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13" name="Shape 10"/>
          <p:cNvSpPr/>
          <p:nvPr/>
        </p:nvSpPr>
        <p:spPr>
          <a:xfrm>
            <a:off x="3310128" y="1828800"/>
            <a:ext cx="2286000" cy="1234440"/>
          </a:xfrm>
          <a:prstGeom prst="roundRect">
            <a:avLst>
              <a:gd name="adj" fmla="val 5926"/>
            </a:avLst>
          </a:prstGeom>
          <a:solidFill>
            <a:srgbClr val="0C3440"/>
          </a:solidFill>
          <a:ln w="10160">
            <a:solidFill>
              <a:srgbClr val="2E3B57"/>
            </a:solidFill>
            <a:prstDash val="solid"/>
          </a:ln>
        </p:spPr>
      </p:sp>
      <p:sp>
        <p:nvSpPr>
          <p:cNvPr id="14" name="Text 11"/>
          <p:cNvSpPr/>
          <p:nvPr/>
        </p:nvSpPr>
        <p:spPr>
          <a:xfrm>
            <a:off x="3511296" y="1965960"/>
            <a:ext cx="188366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MEMORY · EPISODIC</a:t>
            </a:r>
            <a:endParaRPr lang="en-US" sz="1150" dirty="0"/>
          </a:p>
        </p:txBody>
      </p:sp>
      <p:sp>
        <p:nvSpPr>
          <p:cNvPr id="15" name="Text 12"/>
          <p:cNvSpPr/>
          <p:nvPr/>
        </p:nvSpPr>
        <p:spPr>
          <a:xfrm>
            <a:off x="3511296" y="2313432"/>
            <a:ext cx="188366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Episode Extraction</a:t>
            </a:r>
            <a:endParaRPr lang="en-US" sz="1700" dirty="0"/>
          </a:p>
        </p:txBody>
      </p:sp>
      <p:sp>
        <p:nvSpPr>
          <p:cNvPr id="16" name="Text 13"/>
          <p:cNvSpPr/>
          <p:nvPr/>
        </p:nvSpPr>
        <p:spPr>
          <a:xfrm>
            <a:off x="3511296" y="2770632"/>
            <a:ext cx="1883664" cy="164592"/>
          </a:xfrm>
          <a:prstGeom prst="rect">
            <a:avLst/>
          </a:prstGeom>
          <a:noFill/>
          <a:ln/>
        </p:spPr>
        <p:txBody>
          <a:bodyPr wrap="square" lIns="0" tIns="0" rIns="0" bIns="0" rtlCol="0" anchor="t"/>
          <a:lstStyle/>
          <a:p>
            <a:pPr indent="0" marL="0">
              <a:buNone/>
            </a:pPr>
            <a:r>
              <a:rPr lang="en-US" sz="1250" dirty="0">
                <a:solidFill>
                  <a:srgbClr val="CFD9E4"/>
                </a:solidFill>
                <a:latin typeface="Microsoft YaHei" pitchFamily="34" charset="0"/>
                <a:ea typeface="Microsoft YaHei" pitchFamily="34" charset="-122"/>
                <a:cs typeface="Microsoft YaHei" pitchFamily="34" charset="-120"/>
              </a:rPr>
              <a:t>逐 turn 分析行为与结果</a:t>
            </a:r>
            <a:endParaRPr lang="en-US" sz="1250" dirty="0"/>
          </a:p>
        </p:txBody>
      </p:sp>
      <p:sp>
        <p:nvSpPr>
          <p:cNvPr id="17" name="Text 14"/>
          <p:cNvSpPr/>
          <p:nvPr/>
        </p:nvSpPr>
        <p:spPr>
          <a:xfrm>
            <a:off x="5641848" y="2176272"/>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18" name="Shape 15"/>
          <p:cNvSpPr/>
          <p:nvPr/>
        </p:nvSpPr>
        <p:spPr>
          <a:xfrm>
            <a:off x="6053328" y="1828800"/>
            <a:ext cx="2286000" cy="1234440"/>
          </a:xfrm>
          <a:prstGeom prst="roundRect">
            <a:avLst>
              <a:gd name="adj" fmla="val 5926"/>
            </a:avLst>
          </a:prstGeom>
          <a:solidFill>
            <a:srgbClr val="2A2418"/>
          </a:solidFill>
          <a:ln w="10160">
            <a:solidFill>
              <a:srgbClr val="2E3B57"/>
            </a:solidFill>
            <a:prstDash val="solid"/>
          </a:ln>
        </p:spPr>
      </p:sp>
      <p:sp>
        <p:nvSpPr>
          <p:cNvPr id="19" name="Text 16"/>
          <p:cNvSpPr/>
          <p:nvPr/>
        </p:nvSpPr>
        <p:spPr>
          <a:xfrm>
            <a:off x="6254496" y="1965960"/>
            <a:ext cx="188366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MEMORY · EPISODIC</a:t>
            </a:r>
            <a:endParaRPr lang="en-US" sz="1150" dirty="0"/>
          </a:p>
        </p:txBody>
      </p:sp>
      <p:sp>
        <p:nvSpPr>
          <p:cNvPr id="20" name="Text 17"/>
          <p:cNvSpPr/>
          <p:nvPr/>
        </p:nvSpPr>
        <p:spPr>
          <a:xfrm>
            <a:off x="6254496" y="2313432"/>
            <a:ext cx="188366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Consolidation</a:t>
            </a:r>
            <a:endParaRPr lang="en-US" sz="1700" dirty="0"/>
          </a:p>
        </p:txBody>
      </p:sp>
      <p:sp>
        <p:nvSpPr>
          <p:cNvPr id="21" name="Text 18"/>
          <p:cNvSpPr/>
          <p:nvPr/>
        </p:nvSpPr>
        <p:spPr>
          <a:xfrm>
            <a:off x="6254496" y="2770632"/>
            <a:ext cx="1883664" cy="164592"/>
          </a:xfrm>
          <a:prstGeom prst="rect">
            <a:avLst/>
          </a:prstGeom>
          <a:noFill/>
          <a:ln/>
        </p:spPr>
        <p:txBody>
          <a:bodyPr wrap="square" lIns="0" tIns="0" rIns="0" bIns="0" rtlCol="0" anchor="t"/>
          <a:lstStyle/>
          <a:p>
            <a:pPr indent="0" marL="0">
              <a:buNone/>
            </a:pPr>
            <a:r>
              <a:rPr lang="en-US" sz="1250" dirty="0">
                <a:solidFill>
                  <a:srgbClr val="CFD9E4"/>
                </a:solidFill>
                <a:latin typeface="Microsoft YaHei" pitchFamily="34" charset="0"/>
                <a:ea typeface="Microsoft YaHei" pitchFamily="34" charset="-122"/>
                <a:cs typeface="Microsoft YaHei" pitchFamily="34" charset="-120"/>
              </a:rPr>
              <a:t>形成 session-level episode</a:t>
            </a:r>
            <a:endParaRPr lang="en-US" sz="1250" dirty="0"/>
          </a:p>
        </p:txBody>
      </p:sp>
      <p:sp>
        <p:nvSpPr>
          <p:cNvPr id="22" name="Text 19"/>
          <p:cNvSpPr/>
          <p:nvPr/>
        </p:nvSpPr>
        <p:spPr>
          <a:xfrm>
            <a:off x="8385048" y="2176272"/>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23" name="Shape 20"/>
          <p:cNvSpPr/>
          <p:nvPr/>
        </p:nvSpPr>
        <p:spPr>
          <a:xfrm>
            <a:off x="8796528" y="1828800"/>
            <a:ext cx="2834640" cy="1234440"/>
          </a:xfrm>
          <a:prstGeom prst="roundRect">
            <a:avLst>
              <a:gd name="adj" fmla="val 5926"/>
            </a:avLst>
          </a:prstGeom>
          <a:solidFill>
            <a:srgbClr val="12331F"/>
          </a:solidFill>
          <a:ln w="10160">
            <a:solidFill>
              <a:srgbClr val="2E3B57"/>
            </a:solidFill>
            <a:prstDash val="solid"/>
          </a:ln>
        </p:spPr>
      </p:sp>
      <p:sp>
        <p:nvSpPr>
          <p:cNvPr id="24" name="Text 21"/>
          <p:cNvSpPr/>
          <p:nvPr/>
        </p:nvSpPr>
        <p:spPr>
          <a:xfrm>
            <a:off x="8997696" y="1965960"/>
            <a:ext cx="2432304"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MEMORY · EPISODIC</a:t>
            </a:r>
            <a:endParaRPr lang="en-US" sz="1150" dirty="0"/>
          </a:p>
        </p:txBody>
      </p:sp>
      <p:sp>
        <p:nvSpPr>
          <p:cNvPr id="25" name="Text 22"/>
          <p:cNvSpPr/>
          <p:nvPr/>
        </p:nvSpPr>
        <p:spPr>
          <a:xfrm>
            <a:off x="8997696" y="2313432"/>
            <a:ext cx="243230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Reflection</a:t>
            </a:r>
            <a:endParaRPr lang="en-US" sz="1700" dirty="0"/>
          </a:p>
        </p:txBody>
      </p:sp>
      <p:sp>
        <p:nvSpPr>
          <p:cNvPr id="26" name="Text 23"/>
          <p:cNvSpPr/>
          <p:nvPr/>
        </p:nvSpPr>
        <p:spPr>
          <a:xfrm>
            <a:off x="8997696" y="2770632"/>
            <a:ext cx="2432304" cy="164592"/>
          </a:xfrm>
          <a:prstGeom prst="rect">
            <a:avLst/>
          </a:prstGeom>
          <a:noFill/>
          <a:ln/>
        </p:spPr>
        <p:txBody>
          <a:bodyPr wrap="square" lIns="0" tIns="0" rIns="0" bIns="0" rtlCol="0" anchor="t"/>
          <a:lstStyle/>
          <a:p>
            <a:pPr indent="0" marL="0">
              <a:buNone/>
            </a:pPr>
            <a:r>
              <a:rPr lang="en-US" sz="1250" dirty="0">
                <a:solidFill>
                  <a:srgbClr val="CFD9E4"/>
                </a:solidFill>
                <a:latin typeface="Microsoft YaHei" pitchFamily="34" charset="0"/>
                <a:ea typeface="Microsoft YaHei" pitchFamily="34" charset="-122"/>
                <a:cs typeface="Microsoft YaHei" pitchFamily="34" charset="-120"/>
              </a:rPr>
              <a:t>形成 actor-level 可复用策略</a:t>
            </a:r>
            <a:endParaRPr lang="en-US" sz="1250" dirty="0"/>
          </a:p>
        </p:txBody>
      </p:sp>
      <p:sp>
        <p:nvSpPr>
          <p:cNvPr id="27" name="Shape 24"/>
          <p:cNvSpPr/>
          <p:nvPr/>
        </p:nvSpPr>
        <p:spPr>
          <a:xfrm>
            <a:off x="1572768" y="3794760"/>
            <a:ext cx="3108960" cy="1234440"/>
          </a:xfrm>
          <a:prstGeom prst="roundRect">
            <a:avLst>
              <a:gd name="adj" fmla="val 5926"/>
            </a:avLst>
          </a:prstGeom>
          <a:solidFill>
            <a:srgbClr val="0B1220"/>
          </a:solidFill>
          <a:ln w="10160">
            <a:solidFill>
              <a:srgbClr val="FF6A3D"/>
            </a:solidFill>
            <a:prstDash val="solid"/>
          </a:ln>
        </p:spPr>
      </p:sp>
      <p:sp>
        <p:nvSpPr>
          <p:cNvPr id="28" name="Text 25"/>
          <p:cNvSpPr/>
          <p:nvPr/>
        </p:nvSpPr>
        <p:spPr>
          <a:xfrm>
            <a:off x="1664208" y="3941064"/>
            <a:ext cx="2926080" cy="585216"/>
          </a:xfrm>
          <a:prstGeom prst="rect">
            <a:avLst/>
          </a:prstGeom>
          <a:noFill/>
          <a:ln/>
        </p:spPr>
        <p:txBody>
          <a:bodyPr wrap="square" lIns="0" tIns="0" rIns="0" bIns="0" rtlCol="0" anchor="ctr"/>
          <a:lstStyle/>
          <a:p>
            <a:pPr algn="ctr" indent="0" marL="0">
              <a:buNone/>
            </a:pPr>
            <a:r>
              <a:rPr lang="en-US" sz="3800" b="1" dirty="0">
                <a:solidFill>
                  <a:srgbClr val="FF6A3D"/>
                </a:solidFill>
                <a:latin typeface="Amazon Ember Display" pitchFamily="34" charset="0"/>
                <a:ea typeface="Amazon Ember Display" pitchFamily="34" charset="-122"/>
                <a:cs typeface="Amazon Ember Display" pitchFamily="34" charset="-120"/>
              </a:rPr>
              <a:t>1</a:t>
            </a:r>
            <a:endParaRPr lang="en-US" sz="3800" dirty="0"/>
          </a:p>
        </p:txBody>
      </p:sp>
      <p:sp>
        <p:nvSpPr>
          <p:cNvPr id="29" name="Text 26"/>
          <p:cNvSpPr/>
          <p:nvPr/>
        </p:nvSpPr>
        <p:spPr>
          <a:xfrm>
            <a:off x="1664208" y="4599432"/>
            <a:ext cx="2926080" cy="256032"/>
          </a:xfrm>
          <a:prstGeom prst="rect">
            <a:avLst/>
          </a:prstGeom>
          <a:noFill/>
          <a:ln/>
        </p:spPr>
        <p:txBody>
          <a:bodyPr wrap="square" lIns="0" tIns="0" rIns="0" bIns="0" rtlCol="0" anchor="ctr"/>
          <a:lstStyle/>
          <a:p>
            <a:pPr algn="ctr" indent="0" marL="0">
              <a:buNone/>
            </a:pPr>
            <a:r>
              <a:rPr lang="en-US" sz="1250" dirty="0">
                <a:solidFill>
                  <a:srgbClr val="CFD9E4"/>
                </a:solidFill>
                <a:latin typeface="Microsoft YaHei" pitchFamily="34" charset="0"/>
                <a:ea typeface="Microsoft YaHei" pitchFamily="34" charset="-122"/>
                <a:cs typeface="Microsoft YaHei" pitchFamily="34" charset="-120"/>
              </a:rPr>
              <a:t>session-level episode</a:t>
            </a:r>
            <a:endParaRPr lang="en-US" sz="1250" dirty="0"/>
          </a:p>
        </p:txBody>
      </p:sp>
      <p:sp>
        <p:nvSpPr>
          <p:cNvPr id="30" name="Shape 27"/>
          <p:cNvSpPr/>
          <p:nvPr/>
        </p:nvSpPr>
        <p:spPr>
          <a:xfrm>
            <a:off x="5001768" y="3794760"/>
            <a:ext cx="3108960" cy="1234440"/>
          </a:xfrm>
          <a:prstGeom prst="roundRect">
            <a:avLst>
              <a:gd name="adj" fmla="val 5926"/>
            </a:avLst>
          </a:prstGeom>
          <a:solidFill>
            <a:srgbClr val="0B1220"/>
          </a:solidFill>
          <a:ln w="10160">
            <a:solidFill>
              <a:srgbClr val="42B4FF"/>
            </a:solidFill>
            <a:prstDash val="solid"/>
          </a:ln>
        </p:spPr>
      </p:sp>
      <p:sp>
        <p:nvSpPr>
          <p:cNvPr id="31" name="Text 28"/>
          <p:cNvSpPr/>
          <p:nvPr/>
        </p:nvSpPr>
        <p:spPr>
          <a:xfrm>
            <a:off x="5093208" y="3941064"/>
            <a:ext cx="2926080" cy="585216"/>
          </a:xfrm>
          <a:prstGeom prst="rect">
            <a:avLst/>
          </a:prstGeom>
          <a:noFill/>
          <a:ln/>
        </p:spPr>
        <p:txBody>
          <a:bodyPr wrap="square" lIns="0" tIns="0" rIns="0" bIns="0" rtlCol="0" anchor="ctr"/>
          <a:lstStyle/>
          <a:p>
            <a:pPr algn="ctr" indent="0" marL="0">
              <a:buNone/>
            </a:pPr>
            <a:r>
              <a:rPr lang="en-US" sz="3800" b="1" dirty="0">
                <a:solidFill>
                  <a:srgbClr val="42B4FF"/>
                </a:solidFill>
                <a:latin typeface="Amazon Ember Display" pitchFamily="34" charset="0"/>
                <a:ea typeface="Amazon Ember Display" pitchFamily="34" charset="-122"/>
                <a:cs typeface="Amazon Ember Display" pitchFamily="34" charset="-120"/>
              </a:rPr>
              <a:t>2</a:t>
            </a:r>
            <a:endParaRPr lang="en-US" sz="3800" dirty="0"/>
          </a:p>
        </p:txBody>
      </p:sp>
      <p:sp>
        <p:nvSpPr>
          <p:cNvPr id="32" name="Text 29"/>
          <p:cNvSpPr/>
          <p:nvPr/>
        </p:nvSpPr>
        <p:spPr>
          <a:xfrm>
            <a:off x="5093208" y="4599432"/>
            <a:ext cx="2926080" cy="256032"/>
          </a:xfrm>
          <a:prstGeom prst="rect">
            <a:avLst/>
          </a:prstGeom>
          <a:noFill/>
          <a:ln/>
        </p:spPr>
        <p:txBody>
          <a:bodyPr wrap="square" lIns="0" tIns="0" rIns="0" bIns="0" rtlCol="0" anchor="ctr"/>
          <a:lstStyle/>
          <a:p>
            <a:pPr algn="ctr" indent="0" marL="0">
              <a:buNone/>
            </a:pPr>
            <a:r>
              <a:rPr lang="en-US" sz="1250" dirty="0">
                <a:solidFill>
                  <a:srgbClr val="CFD9E4"/>
                </a:solidFill>
                <a:latin typeface="Microsoft YaHei" pitchFamily="34" charset="0"/>
                <a:ea typeface="Microsoft YaHei" pitchFamily="34" charset="-122"/>
                <a:cs typeface="Microsoft YaHei" pitchFamily="34" charset="-120"/>
              </a:rPr>
              <a:t>actor-level reflections</a:t>
            </a:r>
            <a:endParaRPr lang="en-US" sz="1250" dirty="0"/>
          </a:p>
        </p:txBody>
      </p:sp>
      <p:sp>
        <p:nvSpPr>
          <p:cNvPr id="33" name="Shape 30"/>
          <p:cNvSpPr/>
          <p:nvPr/>
        </p:nvSpPr>
        <p:spPr>
          <a:xfrm>
            <a:off x="8430768" y="3794760"/>
            <a:ext cx="3108960" cy="1234440"/>
          </a:xfrm>
          <a:prstGeom prst="roundRect">
            <a:avLst>
              <a:gd name="adj" fmla="val 5926"/>
            </a:avLst>
          </a:prstGeom>
          <a:solidFill>
            <a:srgbClr val="0B1220"/>
          </a:solidFill>
          <a:ln w="10160">
            <a:solidFill>
              <a:srgbClr val="00E500"/>
            </a:solidFill>
            <a:prstDash val="solid"/>
          </a:ln>
        </p:spPr>
      </p:sp>
      <p:sp>
        <p:nvSpPr>
          <p:cNvPr id="34" name="Text 31"/>
          <p:cNvSpPr/>
          <p:nvPr/>
        </p:nvSpPr>
        <p:spPr>
          <a:xfrm>
            <a:off x="8522208" y="3941064"/>
            <a:ext cx="2926080" cy="585216"/>
          </a:xfrm>
          <a:prstGeom prst="rect">
            <a:avLst/>
          </a:prstGeom>
          <a:noFill/>
          <a:ln/>
        </p:spPr>
        <p:txBody>
          <a:bodyPr wrap="square" lIns="0" tIns="0" rIns="0" bIns="0" rtlCol="0" anchor="ctr"/>
          <a:lstStyle/>
          <a:p>
            <a:pPr algn="ctr" indent="0" marL="0">
              <a:buNone/>
            </a:pPr>
            <a:r>
              <a:rPr lang="en-US" sz="3800" b="1" dirty="0">
                <a:solidFill>
                  <a:srgbClr val="00E500"/>
                </a:solidFill>
                <a:latin typeface="Amazon Ember Display" pitchFamily="34" charset="0"/>
                <a:ea typeface="Amazon Ember Display" pitchFamily="34" charset="-122"/>
                <a:cs typeface="Amazon Ember Display" pitchFamily="34" charset="-120"/>
              </a:rPr>
              <a:t>新 session</a:t>
            </a:r>
            <a:endParaRPr lang="en-US" sz="3800" dirty="0"/>
          </a:p>
        </p:txBody>
      </p:sp>
      <p:sp>
        <p:nvSpPr>
          <p:cNvPr id="35" name="Text 32"/>
          <p:cNvSpPr/>
          <p:nvPr/>
        </p:nvSpPr>
        <p:spPr>
          <a:xfrm>
            <a:off x="8522208" y="4599432"/>
            <a:ext cx="2926080" cy="256032"/>
          </a:xfrm>
          <a:prstGeom prst="rect">
            <a:avLst/>
          </a:prstGeom>
          <a:noFill/>
          <a:ln/>
        </p:spPr>
        <p:txBody>
          <a:bodyPr wrap="square" lIns="0" tIns="0" rIns="0" bIns="0" rtlCol="0" anchor="ctr"/>
          <a:lstStyle/>
          <a:p>
            <a:pPr algn="ctr" indent="0" marL="0">
              <a:buNone/>
            </a:pPr>
            <a:r>
              <a:rPr lang="en-US" sz="1250" dirty="0">
                <a:solidFill>
                  <a:srgbClr val="CFD9E4"/>
                </a:solidFill>
                <a:latin typeface="Microsoft YaHei" pitchFamily="34" charset="0"/>
                <a:ea typeface="Microsoft YaHei" pitchFamily="34" charset="-122"/>
                <a:cs typeface="Microsoft YaHei" pitchFamily="34" charset="-120"/>
              </a:rPr>
              <a:t>Harness 自动检索并注入</a:t>
            </a:r>
            <a:endParaRPr lang="en-US" sz="1250" dirty="0"/>
          </a:p>
        </p:txBody>
      </p:sp>
      <p:sp>
        <p:nvSpPr>
          <p:cNvPr id="36" name="Shape 33"/>
          <p:cNvSpPr/>
          <p:nvPr/>
        </p:nvSpPr>
        <p:spPr>
          <a:xfrm>
            <a:off x="566928" y="5440680"/>
            <a:ext cx="11064240" cy="777240"/>
          </a:xfrm>
          <a:prstGeom prst="roundRect">
            <a:avLst>
              <a:gd name="adj" fmla="val 9412"/>
            </a:avLst>
          </a:prstGeom>
          <a:solidFill>
            <a:srgbClr val="0B1220"/>
          </a:solidFill>
          <a:ln w="10160">
            <a:solidFill>
              <a:srgbClr val="42B4FF"/>
            </a:solidFill>
            <a:prstDash val="solid"/>
          </a:ln>
        </p:spPr>
      </p:sp>
      <p:sp>
        <p:nvSpPr>
          <p:cNvPr id="37" name="Text 34"/>
          <p:cNvSpPr/>
          <p:nvPr/>
        </p:nvSpPr>
        <p:spPr>
          <a:xfrm>
            <a:off x="822960" y="5440680"/>
            <a:ext cx="10552176" cy="777240"/>
          </a:xfrm>
          <a:prstGeom prst="rect">
            <a:avLst/>
          </a:prstGeom>
          <a:noFill/>
          <a:ln/>
        </p:spPr>
        <p:txBody>
          <a:bodyPr wrap="square" lIns="0" tIns="0" rIns="0" bIns="0" rtlCol="0" anchor="ctr"/>
          <a:lstStyle/>
          <a:p>
            <a:pPr algn="ctr" indent="0" marL="0">
              <a:buNone/>
            </a:pPr>
            <a:r>
              <a:rPr lang="en-US" sz="1650" b="1" dirty="0">
                <a:solidFill>
                  <a:srgbClr val="42B4FF"/>
                </a:solidFill>
                <a:latin typeface="Amazon Ember Display" pitchFamily="34" charset="0"/>
                <a:ea typeface="Amazon Ember Display" pitchFamily="34" charset="-122"/>
                <a:cs typeface="Amazon Ember Display" pitchFamily="34" charset="-120"/>
              </a:rPr>
              <a:t>Episode namespace: /episodes/{actorId}/{sessionId}　|　Reflection namespace: /episodes/{actorId}</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2 · REAL MEMORY</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12</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AgentCore Memory System 实际生成的 Records</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以下内容均由内置 EPISODIC strategy 异步生成，不是 Harness Agent 手工写入的规则。</a:t>
            </a:r>
            <a:endParaRPr lang="en-US" sz="1400" dirty="0"/>
          </a:p>
        </p:txBody>
      </p:sp>
      <p:sp>
        <p:nvSpPr>
          <p:cNvPr id="8" name="Shape 5"/>
          <p:cNvSpPr/>
          <p:nvPr/>
        </p:nvSpPr>
        <p:spPr>
          <a:xfrm>
            <a:off x="566928" y="1664208"/>
            <a:ext cx="3657600" cy="3931920"/>
          </a:xfrm>
          <a:prstGeom prst="roundRect">
            <a:avLst>
              <a:gd name="adj" fmla="val 2000"/>
            </a:avLst>
          </a:prstGeom>
          <a:solidFill>
            <a:srgbClr val="0C3440"/>
          </a:solidFill>
          <a:ln w="10160">
            <a:solidFill>
              <a:srgbClr val="2E3B57"/>
            </a:solidFill>
            <a:prstDash val="solid"/>
          </a:ln>
        </p:spPr>
      </p:sp>
      <p:sp>
        <p:nvSpPr>
          <p:cNvPr id="9" name="Text 6"/>
          <p:cNvSpPr/>
          <p:nvPr/>
        </p:nvSpPr>
        <p:spPr>
          <a:xfrm>
            <a:off x="768096" y="1801368"/>
            <a:ext cx="325526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MEMORY SYSTEM · EPISODE RECORD</a:t>
            </a:r>
            <a:endParaRPr lang="en-US" sz="1150" dirty="0"/>
          </a:p>
        </p:txBody>
      </p:sp>
      <p:sp>
        <p:nvSpPr>
          <p:cNvPr id="10" name="Text 7"/>
          <p:cNvSpPr/>
          <p:nvPr/>
        </p:nvSpPr>
        <p:spPr>
          <a:xfrm>
            <a:off x="768096" y="2148840"/>
            <a:ext cx="325526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两阶段流程设计有效</a:t>
            </a:r>
            <a:endParaRPr lang="en-US" sz="1700" dirty="0"/>
          </a:p>
        </p:txBody>
      </p:sp>
      <p:sp>
        <p:nvSpPr>
          <p:cNvPr id="11" name="Text 8"/>
          <p:cNvSpPr/>
          <p:nvPr/>
        </p:nvSpPr>
        <p:spPr>
          <a:xfrm>
            <a:off x="768096" y="2606040"/>
            <a:ext cx="3255264" cy="2862072"/>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先输出 self_review 再执行修订，避免一次性处理复杂文档时遗漏问题。</a:t>
            </a:r>
            <a:endParaRPr lang="en-US" sz="1300" dirty="0"/>
          </a:p>
          <a:p>
            <a:pPr indent="0" marL="0">
              <a:buNone/>
            </a:pP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对于 OCR 错误、章节跳号、重复表格和图片内容，分阶段结构化抽取是推荐模式。</a:t>
            </a:r>
            <a:endParaRPr lang="en-US" sz="1300" dirty="0"/>
          </a:p>
          <a:p>
            <a:pPr indent="0" marL="0">
              <a:buNone/>
            </a:pP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不可完整提取的内容应显式说明限制。</a:t>
            </a:r>
            <a:endParaRPr lang="en-US" sz="1300" dirty="0"/>
          </a:p>
        </p:txBody>
      </p:sp>
      <p:sp>
        <p:nvSpPr>
          <p:cNvPr id="12" name="Shape 9"/>
          <p:cNvSpPr/>
          <p:nvPr/>
        </p:nvSpPr>
        <p:spPr>
          <a:xfrm>
            <a:off x="4453128" y="1664208"/>
            <a:ext cx="3520440" cy="3931920"/>
          </a:xfrm>
          <a:prstGeom prst="roundRect">
            <a:avLst>
              <a:gd name="adj" fmla="val 2078"/>
            </a:avLst>
          </a:prstGeom>
          <a:solidFill>
            <a:srgbClr val="2A2418"/>
          </a:solidFill>
          <a:ln w="10160">
            <a:solidFill>
              <a:srgbClr val="2E3B57"/>
            </a:solidFill>
            <a:prstDash val="solid"/>
          </a:ln>
        </p:spPr>
      </p:sp>
      <p:sp>
        <p:nvSpPr>
          <p:cNvPr id="13" name="Text 10"/>
          <p:cNvSpPr/>
          <p:nvPr/>
        </p:nvSpPr>
        <p:spPr>
          <a:xfrm>
            <a:off x="4654296" y="1801368"/>
            <a:ext cx="311810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MEMORY SYSTEM · ACTOR REFLECTION 1</a:t>
            </a:r>
            <a:endParaRPr lang="en-US" sz="1150" dirty="0"/>
          </a:p>
        </p:txBody>
      </p:sp>
      <p:sp>
        <p:nvSpPr>
          <p:cNvPr id="14" name="Text 11"/>
          <p:cNvSpPr/>
          <p:nvPr/>
        </p:nvSpPr>
        <p:spPr>
          <a:xfrm>
            <a:off x="4654296" y="2148840"/>
            <a:ext cx="3118104"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Two-Phase Structured Extraction</a:t>
            </a:r>
            <a:endParaRPr lang="en-US" sz="1500" dirty="0"/>
          </a:p>
        </p:txBody>
      </p:sp>
      <p:sp>
        <p:nvSpPr>
          <p:cNvPr id="15" name="Text 12"/>
          <p:cNvSpPr/>
          <p:nvPr/>
        </p:nvSpPr>
        <p:spPr>
          <a:xfrm>
            <a:off x="4654296" y="2606040"/>
            <a:ext cx="3118104" cy="2862072"/>
          </a:xfrm>
          <a:prstGeom prst="rect">
            <a:avLst/>
          </a:prstGeom>
          <a:noFill/>
          <a:ln/>
        </p:spPr>
        <p:txBody>
          <a:bodyPr wrap="square" lIns="0" tIns="0" rIns="0" bIns="0" rtlCol="0" anchor="t"/>
          <a:lstStyle/>
          <a:p>
            <a:pPr indent="0" marL="0">
              <a:buNone/>
            </a:pPr>
            <a:r>
              <a:rPr lang="en-US" sz="1280" dirty="0">
                <a:solidFill>
                  <a:srgbClr val="CFD9E4"/>
                </a:solidFill>
                <a:latin typeface="Microsoft YaHei" pitchFamily="34" charset="0"/>
                <a:ea typeface="Microsoft YaHei" pitchFamily="34" charset="-122"/>
                <a:cs typeface="Microsoft YaHei" pitchFamily="34" charset="-120"/>
              </a:rPr>
              <a:t>Phase 1:</a:t>
            </a:r>
            <a:endParaRPr lang="en-US" sz="1280" dirty="0"/>
          </a:p>
          <a:p>
            <a:pPr indent="0" marL="0">
              <a:buNone/>
            </a:pPr>
            <a:r>
              <a:rPr lang="en-US" sz="1280" dirty="0">
                <a:solidFill>
                  <a:srgbClr val="CFD9E4"/>
                </a:solidFill>
                <a:latin typeface="Microsoft YaHei" pitchFamily="34" charset="0"/>
                <a:ea typeface="Microsoft YaHei" pitchFamily="34" charset="-122"/>
                <a:cs typeface="Microsoft YaHei" pitchFamily="34" charset="-120"/>
              </a:rPr>
              <a:t>coverage / omissions / format / granularity</a:t>
            </a:r>
            <a:endParaRPr lang="en-US" sz="1280" dirty="0"/>
          </a:p>
          <a:p>
            <a:pPr indent="0" marL="0">
              <a:buNone/>
            </a:pPr>
            <a:endParaRPr lang="en-US" sz="1280" dirty="0"/>
          </a:p>
          <a:p>
            <a:pPr indent="0" marL="0">
              <a:buNone/>
            </a:pPr>
            <a:r>
              <a:rPr lang="en-US" sz="1280" dirty="0">
                <a:solidFill>
                  <a:srgbClr val="CFD9E4"/>
                </a:solidFill>
                <a:latin typeface="Microsoft YaHei" pitchFamily="34" charset="0"/>
                <a:ea typeface="Microsoft YaHei" pitchFamily="34" charset="-122"/>
                <a:cs typeface="Microsoft YaHei" pitchFamily="34" charset="-120"/>
              </a:rPr>
              <a:t>Phase 2:</a:t>
            </a:r>
            <a:endParaRPr lang="en-US" sz="1280" dirty="0"/>
          </a:p>
          <a:p>
            <a:pPr indent="0" marL="0">
              <a:buNone/>
            </a:pPr>
            <a:r>
              <a:rPr lang="en-US" sz="1280" dirty="0">
                <a:solidFill>
                  <a:srgbClr val="CFD9E4"/>
                </a:solidFill>
                <a:latin typeface="Microsoft YaHei" pitchFamily="34" charset="0"/>
                <a:ea typeface="Microsoft YaHei" pitchFamily="34" charset="-122"/>
                <a:cs typeface="Microsoft YaHei" pitchFamily="34" charset="-120"/>
              </a:rPr>
              <a:t>execute next_actions systematically</a:t>
            </a:r>
            <a:endParaRPr lang="en-US" sz="1280" dirty="0"/>
          </a:p>
          <a:p>
            <a:pPr indent="0" marL="0">
              <a:buNone/>
            </a:pPr>
            <a:endParaRPr lang="en-US" sz="1280" dirty="0"/>
          </a:p>
          <a:p>
            <a:pPr indent="0" marL="0">
              <a:buNone/>
            </a:pPr>
            <a:r>
              <a:rPr lang="en-US" sz="1280" dirty="0">
                <a:solidFill>
                  <a:srgbClr val="CFD9E4"/>
                </a:solidFill>
                <a:latin typeface="Microsoft YaHei" pitchFamily="34" charset="0"/>
                <a:ea typeface="Microsoft YaHei" pitchFamily="34" charset="-122"/>
                <a:cs typeface="Microsoft YaHei" pitchFamily="34" charset="-120"/>
              </a:rPr>
              <a:t>保留原文用于追溯。</a:t>
            </a:r>
            <a:endParaRPr lang="en-US" sz="1280" dirty="0"/>
          </a:p>
        </p:txBody>
      </p:sp>
      <p:sp>
        <p:nvSpPr>
          <p:cNvPr id="16" name="Shape 13"/>
          <p:cNvSpPr/>
          <p:nvPr/>
        </p:nvSpPr>
        <p:spPr>
          <a:xfrm>
            <a:off x="8202168" y="1664208"/>
            <a:ext cx="3429000" cy="3931920"/>
          </a:xfrm>
          <a:prstGeom prst="roundRect">
            <a:avLst>
              <a:gd name="adj" fmla="val 2133"/>
            </a:avLst>
          </a:prstGeom>
          <a:solidFill>
            <a:srgbClr val="12331F"/>
          </a:solidFill>
          <a:ln w="10160">
            <a:solidFill>
              <a:srgbClr val="2E3B57"/>
            </a:solidFill>
            <a:prstDash val="solid"/>
          </a:ln>
        </p:spPr>
      </p:sp>
      <p:sp>
        <p:nvSpPr>
          <p:cNvPr id="17" name="Text 14"/>
          <p:cNvSpPr/>
          <p:nvPr/>
        </p:nvSpPr>
        <p:spPr>
          <a:xfrm>
            <a:off x="8403336" y="1801368"/>
            <a:ext cx="3026664"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MEMORY SYSTEM · ACTOR REFLECTION 2</a:t>
            </a:r>
            <a:endParaRPr lang="en-US" sz="1150" dirty="0"/>
          </a:p>
        </p:txBody>
      </p:sp>
      <p:sp>
        <p:nvSpPr>
          <p:cNvPr id="18" name="Text 15"/>
          <p:cNvSpPr/>
          <p:nvPr/>
        </p:nvSpPr>
        <p:spPr>
          <a:xfrm>
            <a:off x="8403336" y="2148840"/>
            <a:ext cx="3026664"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Inline Annotation</a:t>
            </a:r>
            <a:endParaRPr lang="en-US" sz="1500" dirty="0"/>
          </a:p>
        </p:txBody>
      </p:sp>
      <p:sp>
        <p:nvSpPr>
          <p:cNvPr id="19" name="Text 16"/>
          <p:cNvSpPr/>
          <p:nvPr/>
        </p:nvSpPr>
        <p:spPr>
          <a:xfrm>
            <a:off x="8403336" y="2606040"/>
            <a:ext cx="3026664" cy="2862072"/>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遇到 OCR 错误或表格冲突时：</a:t>
            </a:r>
            <a:endParaRPr lang="en-US" sz="1300" dirty="0"/>
          </a:p>
          <a:p>
            <a:pPr indent="0" marL="0">
              <a:buNone/>
            </a:pP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不静默丢弃</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保留原文</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标记冲突值</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文档级限制写入 __META__</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3</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13</a:t>
            </a:r>
            <a:endParaRPr lang="en-US" sz="1050" dirty="0"/>
          </a:p>
        </p:txBody>
      </p:sp>
      <p:sp>
        <p:nvSpPr>
          <p:cNvPr id="6" name="Text 3"/>
          <p:cNvSpPr/>
          <p:nvPr/>
        </p:nvSpPr>
        <p:spPr>
          <a:xfrm>
            <a:off x="566928" y="1115568"/>
            <a:ext cx="2057400" cy="1234440"/>
          </a:xfrm>
          <a:prstGeom prst="rect">
            <a:avLst/>
          </a:prstGeom>
          <a:noFill/>
          <a:ln/>
        </p:spPr>
        <p:txBody>
          <a:bodyPr wrap="square" lIns="0" tIns="0" rIns="0" bIns="0" rtlCol="0" anchor="ctr"/>
          <a:lstStyle/>
          <a:p>
            <a:pPr indent="0" marL="0">
              <a:buNone/>
            </a:pPr>
            <a:r>
              <a:rPr lang="en-US" sz="7200" b="1" dirty="0">
                <a:solidFill>
                  <a:srgbClr val="00E500"/>
                </a:solidFill>
                <a:latin typeface="Amazon Ember Display" pitchFamily="34" charset="0"/>
                <a:ea typeface="Amazon Ember Display" pitchFamily="34" charset="-122"/>
                <a:cs typeface="Amazon Ember Display" pitchFamily="34" charset="-120"/>
              </a:rPr>
              <a:t>03</a:t>
            </a:r>
            <a:endParaRPr lang="en-US" sz="7200" dirty="0"/>
          </a:p>
        </p:txBody>
      </p:sp>
      <p:sp>
        <p:nvSpPr>
          <p:cNvPr id="7" name="Text 4"/>
          <p:cNvSpPr/>
          <p:nvPr/>
        </p:nvSpPr>
        <p:spPr>
          <a:xfrm>
            <a:off x="2898648" y="1188720"/>
            <a:ext cx="8503920" cy="749808"/>
          </a:xfrm>
          <a:prstGeom prst="rect">
            <a:avLst/>
          </a:prstGeom>
          <a:noFill/>
          <a:ln/>
        </p:spPr>
        <p:txBody>
          <a:bodyPr wrap="square" lIns="0" tIns="0" rIns="0" bIns="0" rtlCol="0" anchor="ctr"/>
          <a:lstStyle/>
          <a:p>
            <a:pPr indent="0" marL="0">
              <a:buNone/>
            </a:pPr>
            <a:r>
              <a:rPr lang="en-US" sz="3400" b="1" dirty="0">
                <a:solidFill>
                  <a:srgbClr val="FFFFFF"/>
                </a:solidFill>
                <a:latin typeface="Amazon Ember Display" pitchFamily="34" charset="0"/>
                <a:ea typeface="Amazon Ember Display" pitchFamily="34" charset="-122"/>
                <a:cs typeface="Amazon Ember Display" pitchFamily="34" charset="-120"/>
              </a:rPr>
              <a:t>留出文档：只改变 Memory 开关</a:t>
            </a:r>
            <a:endParaRPr lang="en-US" sz="3400" dirty="0"/>
          </a:p>
        </p:txBody>
      </p:sp>
      <p:sp>
        <p:nvSpPr>
          <p:cNvPr id="8" name="Text 5"/>
          <p:cNvSpPr/>
          <p:nvPr/>
        </p:nvSpPr>
        <p:spPr>
          <a:xfrm>
            <a:off x="2926080" y="2057400"/>
            <a:ext cx="8229600" cy="658368"/>
          </a:xfrm>
          <a:prstGeom prst="rect">
            <a:avLst/>
          </a:prstGeom>
          <a:noFill/>
          <a:ln/>
        </p:spPr>
        <p:txBody>
          <a:bodyPr wrap="square" lIns="0" tIns="0" rIns="0" bIns="0" rtlCol="0" anchor="ctr"/>
          <a:lstStyle/>
          <a:p>
            <a:pPr indent="0" marL="0">
              <a:buNone/>
            </a:pPr>
            <a:r>
              <a:rPr lang="en-US" sz="1800" dirty="0">
                <a:solidFill>
                  <a:srgbClr val="CFD9E4"/>
                </a:solidFill>
                <a:latin typeface="Microsoft YaHei" pitchFamily="34" charset="0"/>
                <a:ea typeface="Microsoft YaHei" pitchFamily="34" charset="-122"/>
                <a:cs typeface="Microsoft YaHei" pitchFamily="34" charset="-120"/>
              </a:rPr>
              <a:t>源任务已经结束；现在换一份全新电机图纸，验证跨 session 召回是否改变抽取行为。</a:t>
            </a:r>
            <a:endParaRPr lang="en-US" sz="1800" dirty="0"/>
          </a:p>
        </p:txBody>
      </p:sp>
      <p:sp>
        <p:nvSpPr>
          <p:cNvPr id="9" name="Shape 6"/>
          <p:cNvSpPr/>
          <p:nvPr/>
        </p:nvSpPr>
        <p:spPr>
          <a:xfrm>
            <a:off x="566928" y="3127248"/>
            <a:ext cx="11064240" cy="1508760"/>
          </a:xfrm>
          <a:prstGeom prst="roundRect">
            <a:avLst>
              <a:gd name="adj" fmla="val 4848"/>
            </a:avLst>
          </a:prstGeom>
          <a:solidFill>
            <a:srgbClr val="0B1220"/>
          </a:solidFill>
          <a:ln w="10160">
            <a:solidFill>
              <a:srgbClr val="00E500"/>
            </a:solidFill>
            <a:prstDash val="solid"/>
          </a:ln>
        </p:spPr>
      </p:sp>
      <p:sp>
        <p:nvSpPr>
          <p:cNvPr id="10" name="Text 7"/>
          <p:cNvSpPr/>
          <p:nvPr/>
        </p:nvSpPr>
        <p:spPr>
          <a:xfrm>
            <a:off x="978408" y="3127248"/>
            <a:ext cx="10241280" cy="1508760"/>
          </a:xfrm>
          <a:prstGeom prst="rect">
            <a:avLst/>
          </a:prstGeom>
          <a:noFill/>
          <a:ln/>
        </p:spPr>
        <p:txBody>
          <a:bodyPr wrap="square" lIns="0" tIns="0" rIns="0" bIns="0" rtlCol="0" anchor="ctr"/>
          <a:lstStyle/>
          <a:p>
            <a:pPr algn="ctr" indent="0" marL="0">
              <a:buNone/>
            </a:pPr>
            <a:r>
              <a:rPr lang="en-US" sz="2000" b="1" dirty="0">
                <a:solidFill>
                  <a:srgbClr val="00E500"/>
                </a:solidFill>
                <a:latin typeface="Microsoft YaHei" pitchFamily="34" charset="0"/>
                <a:ea typeface="Microsoft YaHei" pitchFamily="34" charset="-122"/>
                <a:cs typeface="Microsoft YaHei" pitchFamily="34" charset="-120"/>
              </a:rPr>
              <a:t>实验边界：两组目标调用配置相同；唯一变量是 Memory System 是否检索并注入 records。</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3 · CONTROL</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14</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Harness Agent 留出实验：目标端只改变 Memory 开关</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目标抽取由 Harness Agent 完成；Memory System 只在 enabled 组负责自动检索并注入 records。</a:t>
            </a:r>
            <a:endParaRPr lang="en-US" sz="1400" dirty="0"/>
          </a:p>
        </p:txBody>
      </p:sp>
      <p:sp>
        <p:nvSpPr>
          <p:cNvPr id="8" name="Shape 5"/>
          <p:cNvSpPr/>
          <p:nvPr/>
        </p:nvSpPr>
        <p:spPr>
          <a:xfrm>
            <a:off x="566928" y="1627632"/>
            <a:ext cx="5440680" cy="3566160"/>
          </a:xfrm>
          <a:prstGeom prst="roundRect">
            <a:avLst>
              <a:gd name="adj" fmla="val 2051"/>
            </a:avLst>
          </a:prstGeom>
          <a:solidFill>
            <a:srgbClr val="1C2740"/>
          </a:solidFill>
          <a:ln w="10160">
            <a:solidFill>
              <a:srgbClr val="2E3B57"/>
            </a:solidFill>
            <a:prstDash val="solid"/>
          </a:ln>
        </p:spPr>
      </p:sp>
      <p:sp>
        <p:nvSpPr>
          <p:cNvPr id="9" name="Text 6"/>
          <p:cNvSpPr/>
          <p:nvPr/>
        </p:nvSpPr>
        <p:spPr>
          <a:xfrm>
            <a:off x="749808" y="1755648"/>
            <a:ext cx="5074920"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HARNESS AGENT · 目标抽取 Prompt</a:t>
            </a:r>
            <a:endParaRPr lang="en-US" sz="1150" dirty="0"/>
          </a:p>
        </p:txBody>
      </p:sp>
      <p:sp>
        <p:nvSpPr>
          <p:cNvPr id="10" name="Shape 7"/>
          <p:cNvSpPr/>
          <p:nvPr/>
        </p:nvSpPr>
        <p:spPr>
          <a:xfrm>
            <a:off x="749808" y="2084832"/>
            <a:ext cx="5074920" cy="2953512"/>
          </a:xfrm>
          <a:prstGeom prst="roundRect">
            <a:avLst>
              <a:gd name="adj" fmla="val 2477"/>
            </a:avLst>
          </a:prstGeom>
          <a:solidFill>
            <a:srgbClr val="0B1220"/>
          </a:solidFill>
          <a:ln w="10160">
            <a:solidFill>
              <a:srgbClr val="2E3B57"/>
            </a:solidFill>
            <a:prstDash val="solid"/>
          </a:ln>
        </p:spPr>
      </p:sp>
      <p:sp>
        <p:nvSpPr>
          <p:cNvPr id="11" name="Text 8"/>
          <p:cNvSpPr/>
          <p:nvPr/>
        </p:nvSpPr>
        <p:spPr>
          <a:xfrm>
            <a:off x="859536" y="2157984"/>
            <a:ext cx="4855464" cy="2816352"/>
          </a:xfrm>
          <a:prstGeom prst="rect">
            <a:avLst/>
          </a:prstGeom>
          <a:noFill/>
          <a:ln/>
        </p:spPr>
        <p:txBody>
          <a:bodyPr wrap="square" lIns="0" tIns="0" rIns="0" bIns="0" rtlCol="0" anchor="t"/>
          <a:lstStyle/>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根据用户文档抽取所有可识别的技术要求/参数。</a:t>
            </a:r>
            <a:endParaRPr lang="en-US" sz="1130" dirty="0"/>
          </a:p>
          <a:p>
            <a:pPr indent="0" marL="0">
              <a:buNone/>
            </a:pPr>
            <a:endParaRPr lang="en-US" sz="1130" dirty="0"/>
          </a:p>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每条输出：</a:t>
            </a:r>
            <a:endParaRPr lang="en-US" sz="1130" dirty="0"/>
          </a:p>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设备主体 / 设备部件 / 指标名称 /</a:t>
            </a:r>
            <a:endParaRPr lang="en-US" sz="1130" dirty="0"/>
          </a:p>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指标特征 / 原文。</a:t>
            </a:r>
            <a:endParaRPr lang="en-US" sz="1130" dirty="0"/>
          </a:p>
          <a:p>
            <a:pPr indent="0" marL="0">
              <a:buNone/>
            </a:pPr>
            <a:endParaRPr lang="en-US" sz="1130" dirty="0"/>
          </a:p>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先在内部自审覆盖、遗漏、格式和粒度，</a:t>
            </a:r>
            <a:endParaRPr lang="en-US" sz="1130" dirty="0"/>
          </a:p>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再只输出最终合法 JSON。</a:t>
            </a:r>
            <a:endParaRPr lang="en-US" sz="1130" dirty="0"/>
          </a:p>
        </p:txBody>
      </p:sp>
      <p:sp>
        <p:nvSpPr>
          <p:cNvPr id="12" name="Shape 9"/>
          <p:cNvSpPr/>
          <p:nvPr/>
        </p:nvSpPr>
        <p:spPr>
          <a:xfrm>
            <a:off x="6236208" y="1627632"/>
            <a:ext cx="5394960" cy="3566160"/>
          </a:xfrm>
          <a:prstGeom prst="roundRect">
            <a:avLst>
              <a:gd name="adj" fmla="val 2051"/>
            </a:avLst>
          </a:prstGeom>
          <a:solidFill>
            <a:srgbClr val="1C2740"/>
          </a:solidFill>
          <a:ln w="10160">
            <a:solidFill>
              <a:srgbClr val="2E3B57"/>
            </a:solidFill>
            <a:prstDash val="solid"/>
          </a:ln>
        </p:spPr>
      </p:sp>
      <p:sp>
        <p:nvSpPr>
          <p:cNvPr id="13" name="Text 10"/>
          <p:cNvSpPr/>
          <p:nvPr/>
        </p:nvSpPr>
        <p:spPr>
          <a:xfrm>
            <a:off x="6437376" y="1764792"/>
            <a:ext cx="4992624"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控制变量</a:t>
            </a:r>
            <a:endParaRPr lang="en-US" sz="1150" dirty="0"/>
          </a:p>
        </p:txBody>
      </p:sp>
      <p:sp>
        <p:nvSpPr>
          <p:cNvPr id="14" name="Text 11"/>
          <p:cNvSpPr/>
          <p:nvPr/>
        </p:nvSpPr>
        <p:spPr>
          <a:xfrm>
            <a:off x="6437376" y="2112264"/>
            <a:ext cx="499262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Harness Agent 配置相同</a:t>
            </a:r>
            <a:endParaRPr lang="en-US" sz="1700" dirty="0"/>
          </a:p>
        </p:txBody>
      </p:sp>
      <p:sp>
        <p:nvSpPr>
          <p:cNvPr id="15" name="Text 12"/>
          <p:cNvSpPr/>
          <p:nvPr/>
        </p:nvSpPr>
        <p:spPr>
          <a:xfrm>
            <a:off x="6437376" y="2569464"/>
            <a:ext cx="4992624" cy="2496312"/>
          </a:xfrm>
          <a:prstGeom prst="rect">
            <a:avLst/>
          </a:prstGeom>
          <a:noFill/>
          <a:ln/>
        </p:spPr>
        <p:txBody>
          <a:bodyPr wrap="square" lIns="0" tIns="0" rIns="0" bIns="0" rtlCol="0" anchor="t"/>
          <a:lstStyle/>
          <a:p>
            <a:pPr indent="0" marL="0">
              <a:buNone/>
            </a:pPr>
            <a:r>
              <a:rPr lang="en-US" sz="1330" dirty="0">
                <a:solidFill>
                  <a:srgbClr val="CFD9E4"/>
                </a:solidFill>
                <a:latin typeface="Microsoft YaHei" pitchFamily="34" charset="0"/>
                <a:ea typeface="Microsoft YaHei" pitchFamily="34" charset="-122"/>
                <a:cs typeface="Microsoft YaHei" pitchFamily="34" charset="-120"/>
              </a:rPr>
              <a:t>· 同一测试文档与 system prompt</a:t>
            </a:r>
            <a:endParaRPr lang="en-US" sz="1330" dirty="0"/>
          </a:p>
          <a:p>
            <a:pPr indent="0" marL="0">
              <a:buNone/>
            </a:pPr>
            <a:r>
              <a:rPr lang="en-US" sz="1330" dirty="0">
                <a:solidFill>
                  <a:srgbClr val="CFD9E4"/>
                </a:solidFill>
                <a:latin typeface="Microsoft YaHei" pitchFamily="34" charset="0"/>
                <a:ea typeface="Microsoft YaHei" pitchFamily="34" charset="-122"/>
                <a:cs typeface="Microsoft YaHei" pitchFamily="34" charset="-120"/>
              </a:rPr>
              <a:t>· claude-sonnet-4-6</a:t>
            </a:r>
            <a:endParaRPr lang="en-US" sz="1330" dirty="0"/>
          </a:p>
          <a:p>
            <a:pPr indent="0" marL="0">
              <a:buNone/>
            </a:pPr>
            <a:r>
              <a:rPr lang="en-US" sz="1330" dirty="0">
                <a:solidFill>
                  <a:srgbClr val="CFD9E4"/>
                </a:solidFill>
                <a:latin typeface="Microsoft YaHei" pitchFamily="34" charset="0"/>
                <a:ea typeface="Microsoft YaHei" pitchFamily="34" charset="-122"/>
                <a:cs typeface="Microsoft YaHei" pitchFamily="34" charset="-120"/>
              </a:rPr>
              <a:t>· temperature=0 · maxTokens=32768</a:t>
            </a:r>
            <a:endParaRPr lang="en-US" sz="1330" dirty="0"/>
          </a:p>
          <a:p>
            <a:pPr indent="0" marL="0">
              <a:buNone/>
            </a:pPr>
            <a:r>
              <a:rPr lang="en-US" sz="1330" dirty="0">
                <a:solidFill>
                  <a:srgbClr val="CFD9E4"/>
                </a:solidFill>
                <a:latin typeface="Microsoft YaHei" pitchFamily="34" charset="0"/>
                <a:ea typeface="Microsoft YaHei" pitchFamily="34" charset="-122"/>
                <a:cs typeface="Microsoft YaHei" pitchFamily="34" charset="-120"/>
              </a:rPr>
              <a:t>· skills=[] · tools=[]</a:t>
            </a:r>
            <a:endParaRPr lang="en-US" sz="1330" dirty="0"/>
          </a:p>
          <a:p>
            <a:pPr indent="0" marL="0">
              <a:buNone/>
            </a:pPr>
            <a:r>
              <a:rPr lang="en-US" sz="1330" dirty="0">
                <a:solidFill>
                  <a:srgbClr val="CFD9E4"/>
                </a:solidFill>
                <a:latin typeface="Microsoft YaHei" pitchFamily="34" charset="0"/>
                <a:ea typeface="Microsoft YaHei" pitchFamily="34" charset="-122"/>
                <a:cs typeface="Microsoft YaHei" pitchFamily="34" charset="-120"/>
              </a:rPr>
              <a:t>· 两组均使用全新 session</a:t>
            </a:r>
            <a:endParaRPr lang="en-US" sz="1330" dirty="0"/>
          </a:p>
          <a:p>
            <a:pPr indent="0" marL="0">
              <a:buNone/>
            </a:pPr>
            <a:endParaRPr lang="en-US" sz="1330" dirty="0"/>
          </a:p>
          <a:p>
            <a:pPr indent="0" marL="0">
              <a:buNone/>
            </a:pPr>
            <a:r>
              <a:rPr lang="en-US" sz="1330" dirty="0">
                <a:solidFill>
                  <a:srgbClr val="CFD9E4"/>
                </a:solidFill>
                <a:latin typeface="Microsoft YaHei" pitchFamily="34" charset="0"/>
                <a:ea typeface="Microsoft YaHei" pitchFamily="34" charset="-122"/>
                <a:cs typeface="Microsoft YaHei" pitchFamily="34" charset="-120"/>
              </a:rPr>
              <a:t>Memory 组：EPISODIC retrieval enabled</a:t>
            </a:r>
            <a:endParaRPr lang="en-US" sz="1330" dirty="0"/>
          </a:p>
          <a:p>
            <a:pPr indent="0" marL="0">
              <a:buNone/>
            </a:pPr>
            <a:r>
              <a:rPr lang="en-US" sz="1330" dirty="0">
                <a:solidFill>
                  <a:srgbClr val="CFD9E4"/>
                </a:solidFill>
                <a:latin typeface="Microsoft YaHei" pitchFamily="34" charset="0"/>
                <a:ea typeface="Microsoft YaHei" pitchFamily="34" charset="-122"/>
                <a:cs typeface="Microsoft YaHei" pitchFamily="34" charset="-120"/>
              </a:rPr>
              <a:t>No Memory 组：Memory disabled</a:t>
            </a:r>
            <a:endParaRPr lang="en-US" sz="1330" dirty="0"/>
          </a:p>
        </p:txBody>
      </p:sp>
      <p:sp>
        <p:nvSpPr>
          <p:cNvPr id="16" name="Shape 13"/>
          <p:cNvSpPr/>
          <p:nvPr/>
        </p:nvSpPr>
        <p:spPr>
          <a:xfrm>
            <a:off x="566928" y="5440680"/>
            <a:ext cx="11064240" cy="777240"/>
          </a:xfrm>
          <a:prstGeom prst="roundRect">
            <a:avLst>
              <a:gd name="adj" fmla="val 9412"/>
            </a:avLst>
          </a:prstGeom>
          <a:solidFill>
            <a:srgbClr val="0B1220"/>
          </a:solidFill>
          <a:ln w="10160">
            <a:solidFill>
              <a:srgbClr val="00E500"/>
            </a:solidFill>
            <a:prstDash val="solid"/>
          </a:ln>
        </p:spPr>
      </p:sp>
      <p:sp>
        <p:nvSpPr>
          <p:cNvPr id="17" name="Text 14"/>
          <p:cNvSpPr/>
          <p:nvPr/>
        </p:nvSpPr>
        <p:spPr>
          <a:xfrm>
            <a:off x="822960" y="5440680"/>
            <a:ext cx="10552176" cy="777240"/>
          </a:xfrm>
          <a:prstGeom prst="rect">
            <a:avLst/>
          </a:prstGeom>
          <a:noFill/>
          <a:ln/>
        </p:spPr>
        <p:txBody>
          <a:bodyPr wrap="square" lIns="0" tIns="0" rIns="0" bIns="0" rtlCol="0" anchor="ctr"/>
          <a:lstStyle/>
          <a:p>
            <a:pPr algn="ctr" indent="0" marL="0">
              <a:buNone/>
            </a:pPr>
            <a:r>
              <a:rPr lang="en-US" sz="1650" b="1" dirty="0">
                <a:solidFill>
                  <a:srgbClr val="00E500"/>
                </a:solidFill>
                <a:latin typeface="Amazon Ember Display" pitchFamily="34" charset="0"/>
                <a:ea typeface="Amazon Ember Display" pitchFamily="34" charset="-122"/>
                <a:cs typeface="Amazon Ember Display" pitchFamily="34" charset="-120"/>
              </a:rPr>
              <a:t>执行主体：Harness Agent　|　实验变量：Memory System 是否检索并注入 source actor records</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3 · KEY RESULT</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15</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重点结果：31 vs 11</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两组都由 Harness Agent 输出；Memory 组在推理前接收了 Memory System 检索并注入的 records。</a:t>
            </a:r>
            <a:endParaRPr lang="en-US" sz="1400" dirty="0"/>
          </a:p>
        </p:txBody>
      </p:sp>
      <p:sp>
        <p:nvSpPr>
          <p:cNvPr id="8" name="Shape 5"/>
          <p:cNvSpPr/>
          <p:nvPr/>
        </p:nvSpPr>
        <p:spPr>
          <a:xfrm>
            <a:off x="566928" y="1627632"/>
            <a:ext cx="4434840" cy="1234440"/>
          </a:xfrm>
          <a:prstGeom prst="roundRect">
            <a:avLst>
              <a:gd name="adj" fmla="val 5926"/>
            </a:avLst>
          </a:prstGeom>
          <a:solidFill>
            <a:srgbClr val="0B1220"/>
          </a:solidFill>
          <a:ln w="10160">
            <a:solidFill>
              <a:srgbClr val="00E500"/>
            </a:solidFill>
            <a:prstDash val="solid"/>
          </a:ln>
        </p:spPr>
      </p:sp>
      <p:sp>
        <p:nvSpPr>
          <p:cNvPr id="9" name="Text 6"/>
          <p:cNvSpPr/>
          <p:nvPr/>
        </p:nvSpPr>
        <p:spPr>
          <a:xfrm>
            <a:off x="658368" y="1773936"/>
            <a:ext cx="4251960" cy="585216"/>
          </a:xfrm>
          <a:prstGeom prst="rect">
            <a:avLst/>
          </a:prstGeom>
          <a:noFill/>
          <a:ln/>
        </p:spPr>
        <p:txBody>
          <a:bodyPr wrap="square" lIns="0" tIns="0" rIns="0" bIns="0" rtlCol="0" anchor="ctr"/>
          <a:lstStyle/>
          <a:p>
            <a:pPr algn="ctr" indent="0" marL="0">
              <a:buNone/>
            </a:pPr>
            <a:r>
              <a:rPr lang="en-US" sz="3800" b="1" dirty="0">
                <a:solidFill>
                  <a:srgbClr val="00E500"/>
                </a:solidFill>
                <a:latin typeface="Amazon Ember Display" pitchFamily="34" charset="0"/>
                <a:ea typeface="Amazon Ember Display" pitchFamily="34" charset="-122"/>
                <a:cs typeface="Amazon Ember Display" pitchFamily="34" charset="-120"/>
              </a:rPr>
              <a:t>31 条</a:t>
            </a:r>
            <a:endParaRPr lang="en-US" sz="3800" dirty="0"/>
          </a:p>
        </p:txBody>
      </p:sp>
      <p:sp>
        <p:nvSpPr>
          <p:cNvPr id="10" name="Text 7"/>
          <p:cNvSpPr/>
          <p:nvPr/>
        </p:nvSpPr>
        <p:spPr>
          <a:xfrm>
            <a:off x="658368" y="2432304"/>
            <a:ext cx="4251960" cy="256032"/>
          </a:xfrm>
          <a:prstGeom prst="rect">
            <a:avLst/>
          </a:prstGeom>
          <a:noFill/>
          <a:ln/>
        </p:spPr>
        <p:txBody>
          <a:bodyPr wrap="square" lIns="0" tIns="0" rIns="0" bIns="0" rtlCol="0" anchor="ctr"/>
          <a:lstStyle/>
          <a:p>
            <a:pPr algn="ctr" indent="0" marL="0">
              <a:buNone/>
            </a:pPr>
            <a:r>
              <a:rPr lang="en-US" sz="1250" dirty="0">
                <a:solidFill>
                  <a:srgbClr val="CFD9E4"/>
                </a:solidFill>
                <a:latin typeface="Microsoft YaHei" pitchFamily="34" charset="0"/>
                <a:ea typeface="Microsoft YaHei" pitchFamily="34" charset="-122"/>
                <a:cs typeface="Microsoft YaHei" pitchFamily="34" charset="-120"/>
              </a:rPr>
              <a:t>Memory enabled</a:t>
            </a:r>
            <a:endParaRPr lang="en-US" sz="1250" dirty="0"/>
          </a:p>
        </p:txBody>
      </p:sp>
      <p:sp>
        <p:nvSpPr>
          <p:cNvPr id="11" name="Text 8"/>
          <p:cNvSpPr/>
          <p:nvPr/>
        </p:nvSpPr>
        <p:spPr>
          <a:xfrm>
            <a:off x="5184648" y="1901952"/>
            <a:ext cx="1234440" cy="530352"/>
          </a:xfrm>
          <a:prstGeom prst="rect">
            <a:avLst/>
          </a:prstGeom>
          <a:noFill/>
          <a:ln/>
        </p:spPr>
        <p:txBody>
          <a:bodyPr wrap="square" lIns="0" tIns="0" rIns="0" bIns="0" rtlCol="0" anchor="ctr"/>
          <a:lstStyle/>
          <a:p>
            <a:pPr algn="ctr" indent="0" marL="0">
              <a:buNone/>
            </a:pPr>
            <a:r>
              <a:rPr lang="en-US" sz="2400" b="1" dirty="0">
                <a:solidFill>
                  <a:srgbClr val="FFFFFF"/>
                </a:solidFill>
                <a:latin typeface="Amazon Ember Display" pitchFamily="34" charset="0"/>
                <a:ea typeface="Amazon Ember Display" pitchFamily="34" charset="-122"/>
                <a:cs typeface="Amazon Ember Display" pitchFamily="34" charset="-120"/>
              </a:rPr>
              <a:t>VS</a:t>
            </a:r>
            <a:endParaRPr lang="en-US" sz="2400" dirty="0"/>
          </a:p>
        </p:txBody>
      </p:sp>
      <p:sp>
        <p:nvSpPr>
          <p:cNvPr id="12" name="Shape 9"/>
          <p:cNvSpPr/>
          <p:nvPr/>
        </p:nvSpPr>
        <p:spPr>
          <a:xfrm>
            <a:off x="6583680" y="1627632"/>
            <a:ext cx="4434840" cy="1234440"/>
          </a:xfrm>
          <a:prstGeom prst="roundRect">
            <a:avLst>
              <a:gd name="adj" fmla="val 5926"/>
            </a:avLst>
          </a:prstGeom>
          <a:solidFill>
            <a:srgbClr val="0B1220"/>
          </a:solidFill>
          <a:ln w="10160">
            <a:solidFill>
              <a:srgbClr val="42B4FF"/>
            </a:solidFill>
            <a:prstDash val="solid"/>
          </a:ln>
        </p:spPr>
      </p:sp>
      <p:sp>
        <p:nvSpPr>
          <p:cNvPr id="13" name="Text 10"/>
          <p:cNvSpPr/>
          <p:nvPr/>
        </p:nvSpPr>
        <p:spPr>
          <a:xfrm>
            <a:off x="6675120" y="1773936"/>
            <a:ext cx="4251960" cy="585216"/>
          </a:xfrm>
          <a:prstGeom prst="rect">
            <a:avLst/>
          </a:prstGeom>
          <a:noFill/>
          <a:ln/>
        </p:spPr>
        <p:txBody>
          <a:bodyPr wrap="square" lIns="0" tIns="0" rIns="0" bIns="0" rtlCol="0" anchor="ctr"/>
          <a:lstStyle/>
          <a:p>
            <a:pPr algn="ctr" indent="0" marL="0">
              <a:buNone/>
            </a:pPr>
            <a:r>
              <a:rPr lang="en-US" sz="3800" b="1" dirty="0">
                <a:solidFill>
                  <a:srgbClr val="42B4FF"/>
                </a:solidFill>
                <a:latin typeface="Amazon Ember Display" pitchFamily="34" charset="0"/>
                <a:ea typeface="Amazon Ember Display" pitchFamily="34" charset="-122"/>
                <a:cs typeface="Amazon Ember Display" pitchFamily="34" charset="-120"/>
              </a:rPr>
              <a:t>11 条</a:t>
            </a:r>
            <a:endParaRPr lang="en-US" sz="3800" dirty="0"/>
          </a:p>
        </p:txBody>
      </p:sp>
      <p:sp>
        <p:nvSpPr>
          <p:cNvPr id="14" name="Text 11"/>
          <p:cNvSpPr/>
          <p:nvPr/>
        </p:nvSpPr>
        <p:spPr>
          <a:xfrm>
            <a:off x="6675120" y="2432304"/>
            <a:ext cx="4251960" cy="256032"/>
          </a:xfrm>
          <a:prstGeom prst="rect">
            <a:avLst/>
          </a:prstGeom>
          <a:noFill/>
          <a:ln/>
        </p:spPr>
        <p:txBody>
          <a:bodyPr wrap="square" lIns="0" tIns="0" rIns="0" bIns="0" rtlCol="0" anchor="ctr"/>
          <a:lstStyle/>
          <a:p>
            <a:pPr algn="ctr" indent="0" marL="0">
              <a:buNone/>
            </a:pPr>
            <a:r>
              <a:rPr lang="en-US" sz="1250" dirty="0">
                <a:solidFill>
                  <a:srgbClr val="CFD9E4"/>
                </a:solidFill>
                <a:latin typeface="Microsoft YaHei" pitchFamily="34" charset="0"/>
                <a:ea typeface="Microsoft YaHei" pitchFamily="34" charset="-122"/>
                <a:cs typeface="Microsoft YaHei" pitchFamily="34" charset="-120"/>
              </a:rPr>
              <a:t>Memory disabled</a:t>
            </a:r>
            <a:endParaRPr lang="en-US" sz="1250" dirty="0"/>
          </a:p>
        </p:txBody>
      </p:sp>
      <p:sp>
        <p:nvSpPr>
          <p:cNvPr id="15" name="Shape 12"/>
          <p:cNvSpPr/>
          <p:nvPr/>
        </p:nvSpPr>
        <p:spPr>
          <a:xfrm>
            <a:off x="566928" y="3090672"/>
            <a:ext cx="11064240" cy="987552"/>
          </a:xfrm>
          <a:prstGeom prst="roundRect">
            <a:avLst>
              <a:gd name="adj" fmla="val 7407"/>
            </a:avLst>
          </a:prstGeom>
          <a:solidFill>
            <a:srgbClr val="12331F"/>
          </a:solidFill>
          <a:ln w="10160">
            <a:solidFill>
              <a:srgbClr val="00E500"/>
            </a:solidFill>
            <a:prstDash val="solid"/>
          </a:ln>
        </p:spPr>
      </p:sp>
      <p:sp>
        <p:nvSpPr>
          <p:cNvPr id="16" name="Text 13"/>
          <p:cNvSpPr/>
          <p:nvPr/>
        </p:nvSpPr>
        <p:spPr>
          <a:xfrm>
            <a:off x="886968" y="3090672"/>
            <a:ext cx="10424160" cy="987552"/>
          </a:xfrm>
          <a:prstGeom prst="rect">
            <a:avLst/>
          </a:prstGeom>
          <a:noFill/>
          <a:ln/>
        </p:spPr>
        <p:txBody>
          <a:bodyPr wrap="square" lIns="0" tIns="0" rIns="0" bIns="0" rtlCol="0" anchor="ctr"/>
          <a:lstStyle/>
          <a:p>
            <a:pPr algn="ctr" indent="0" marL="0">
              <a:buNone/>
            </a:pPr>
            <a:r>
              <a:rPr lang="en-US" sz="1900" b="1" dirty="0">
                <a:solidFill>
                  <a:srgbClr val="00E500"/>
                </a:solidFill>
                <a:latin typeface="Amazon Ember Display" pitchFamily="34" charset="0"/>
                <a:ea typeface="Amazon Ember Display" pitchFamily="34" charset="-122"/>
                <a:cs typeface="Amazon Ember Display" pitchFamily="34" charset="-120"/>
              </a:rPr>
              <a:t>多出的 20 条主要来自两张 BOM：Memory 让 Agent 把零部件表和组件表系统展开。</a:t>
            </a:r>
            <a:endParaRPr lang="en-US" sz="1900" dirty="0"/>
          </a:p>
        </p:txBody>
      </p:sp>
      <p:sp>
        <p:nvSpPr>
          <p:cNvPr id="17" name="Shape 14"/>
          <p:cNvSpPr/>
          <p:nvPr/>
        </p:nvSpPr>
        <p:spPr>
          <a:xfrm>
            <a:off x="566928" y="4315968"/>
            <a:ext cx="5358384" cy="1234440"/>
          </a:xfrm>
          <a:prstGeom prst="roundRect">
            <a:avLst>
              <a:gd name="adj" fmla="val 5926"/>
            </a:avLst>
          </a:prstGeom>
          <a:solidFill>
            <a:srgbClr val="1C2740"/>
          </a:solidFill>
          <a:ln w="10160">
            <a:solidFill>
              <a:srgbClr val="2E3B57"/>
            </a:solidFill>
            <a:prstDash val="solid"/>
          </a:ln>
        </p:spPr>
      </p:sp>
      <p:sp>
        <p:nvSpPr>
          <p:cNvPr id="18" name="Text 15"/>
          <p:cNvSpPr/>
          <p:nvPr/>
        </p:nvSpPr>
        <p:spPr>
          <a:xfrm>
            <a:off x="768096" y="4453128"/>
            <a:ext cx="4956048"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MEMORY 组新增示例</a:t>
            </a:r>
            <a:endParaRPr lang="en-US" sz="1150" dirty="0"/>
          </a:p>
        </p:txBody>
      </p:sp>
      <p:sp>
        <p:nvSpPr>
          <p:cNvPr id="19" name="Text 16"/>
          <p:cNvSpPr/>
          <p:nvPr/>
        </p:nvSpPr>
        <p:spPr>
          <a:xfrm>
            <a:off x="768096" y="4800600"/>
            <a:ext cx="4956048"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零部件表</a:t>
            </a:r>
            <a:endParaRPr lang="en-US" sz="1500" dirty="0"/>
          </a:p>
        </p:txBody>
      </p:sp>
      <p:sp>
        <p:nvSpPr>
          <p:cNvPr id="20" name="Text 17"/>
          <p:cNvSpPr/>
          <p:nvPr/>
        </p:nvSpPr>
        <p:spPr>
          <a:xfrm>
            <a:off x="768096" y="5257800"/>
            <a:ext cx="4956048" cy="164592"/>
          </a:xfrm>
          <a:prstGeom prst="rect">
            <a:avLst/>
          </a:prstGeom>
          <a:noFill/>
          <a:ln/>
        </p:spPr>
        <p:txBody>
          <a:bodyPr wrap="square" lIns="0" tIns="0" rIns="0" bIns="0" rtlCol="0" anchor="t"/>
          <a:lstStyle/>
          <a:p>
            <a:pPr indent="0" marL="0">
              <a:buNone/>
            </a:pPr>
            <a:r>
              <a:rPr lang="en-US" sz="1320" dirty="0">
                <a:solidFill>
                  <a:srgbClr val="CFD9E4"/>
                </a:solidFill>
                <a:latin typeface="Microsoft YaHei" pitchFamily="34" charset="0"/>
                <a:ea typeface="Microsoft YaHei" pitchFamily="34" charset="-122"/>
                <a:cs typeface="Microsoft YaHei" pitchFamily="34" charset="-120"/>
              </a:rPr>
              <a:t>机座 · 前端盖 · 转子 · 轴承</a:t>
            </a:r>
            <a:endParaRPr lang="en-US" sz="1320" dirty="0"/>
          </a:p>
        </p:txBody>
      </p:sp>
      <p:sp>
        <p:nvSpPr>
          <p:cNvPr id="21" name="Shape 18"/>
          <p:cNvSpPr/>
          <p:nvPr/>
        </p:nvSpPr>
        <p:spPr>
          <a:xfrm>
            <a:off x="6272784" y="4315968"/>
            <a:ext cx="5358384" cy="1234440"/>
          </a:xfrm>
          <a:prstGeom prst="roundRect">
            <a:avLst>
              <a:gd name="adj" fmla="val 5926"/>
            </a:avLst>
          </a:prstGeom>
          <a:solidFill>
            <a:srgbClr val="1C2740"/>
          </a:solidFill>
          <a:ln w="10160">
            <a:solidFill>
              <a:srgbClr val="2E3B57"/>
            </a:solidFill>
            <a:prstDash val="solid"/>
          </a:ln>
        </p:spPr>
      </p:sp>
      <p:sp>
        <p:nvSpPr>
          <p:cNvPr id="22" name="Text 19"/>
          <p:cNvSpPr/>
          <p:nvPr/>
        </p:nvSpPr>
        <p:spPr>
          <a:xfrm>
            <a:off x="6473952" y="4453128"/>
            <a:ext cx="4956048"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MEMORY 组新增示例</a:t>
            </a:r>
            <a:endParaRPr lang="en-US" sz="1150" dirty="0"/>
          </a:p>
        </p:txBody>
      </p:sp>
      <p:sp>
        <p:nvSpPr>
          <p:cNvPr id="23" name="Text 20"/>
          <p:cNvSpPr/>
          <p:nvPr/>
        </p:nvSpPr>
        <p:spPr>
          <a:xfrm>
            <a:off x="6473952" y="4800600"/>
            <a:ext cx="4956048"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组件表</a:t>
            </a:r>
            <a:endParaRPr lang="en-US" sz="1500" dirty="0"/>
          </a:p>
        </p:txBody>
      </p:sp>
      <p:sp>
        <p:nvSpPr>
          <p:cNvPr id="24" name="Text 21"/>
          <p:cNvSpPr/>
          <p:nvPr/>
        </p:nvSpPr>
        <p:spPr>
          <a:xfrm>
            <a:off x="6473952" y="5257800"/>
            <a:ext cx="4956048" cy="164592"/>
          </a:xfrm>
          <a:prstGeom prst="rect">
            <a:avLst/>
          </a:prstGeom>
          <a:noFill/>
          <a:ln/>
        </p:spPr>
        <p:txBody>
          <a:bodyPr wrap="square" lIns="0" tIns="0" rIns="0" bIns="0" rtlCol="0" anchor="t"/>
          <a:lstStyle/>
          <a:p>
            <a:pPr indent="0" marL="0">
              <a:buNone/>
            </a:pPr>
            <a:r>
              <a:rPr lang="en-US" sz="1320" dirty="0">
                <a:solidFill>
                  <a:srgbClr val="CFD9E4"/>
                </a:solidFill>
                <a:latin typeface="Microsoft YaHei" pitchFamily="34" charset="0"/>
                <a:ea typeface="Microsoft YaHei" pitchFamily="34" charset="-122"/>
                <a:cs typeface="Microsoft YaHei" pitchFamily="34" charset="-120"/>
              </a:rPr>
              <a:t>壳体组件 · 法兰盘组件 · 散热器组件</a:t>
            </a:r>
            <a:endParaRPr lang="en-US" sz="1320" dirty="0"/>
          </a:p>
        </p:txBody>
      </p:sp>
      <p:sp>
        <p:nvSpPr>
          <p:cNvPr id="25" name="Shape 22"/>
          <p:cNvSpPr/>
          <p:nvPr/>
        </p:nvSpPr>
        <p:spPr>
          <a:xfrm>
            <a:off x="566928" y="5623560"/>
            <a:ext cx="11064240" cy="777240"/>
          </a:xfrm>
          <a:prstGeom prst="roundRect">
            <a:avLst>
              <a:gd name="adj" fmla="val 9412"/>
            </a:avLst>
          </a:prstGeom>
          <a:solidFill>
            <a:srgbClr val="0B1220"/>
          </a:solidFill>
          <a:ln w="10160">
            <a:solidFill>
              <a:srgbClr val="FF6A3D"/>
            </a:solidFill>
            <a:prstDash val="solid"/>
          </a:ln>
        </p:spPr>
      </p:sp>
      <p:sp>
        <p:nvSpPr>
          <p:cNvPr id="26" name="Text 23"/>
          <p:cNvSpPr/>
          <p:nvPr/>
        </p:nvSpPr>
        <p:spPr>
          <a:xfrm>
            <a:off x="822960" y="5623560"/>
            <a:ext cx="10552176" cy="777240"/>
          </a:xfrm>
          <a:prstGeom prst="rect">
            <a:avLst/>
          </a:prstGeom>
          <a:noFill/>
          <a:ln/>
        </p:spPr>
        <p:txBody>
          <a:bodyPr wrap="square" lIns="0" tIns="0" rIns="0" bIns="0" rtlCol="0" anchor="ctr"/>
          <a:lstStyle/>
          <a:p>
            <a:pPr algn="ctr" indent="0" marL="0">
              <a:buNone/>
            </a:pPr>
            <a:r>
              <a:rPr lang="en-US" sz="1650" b="1" dirty="0">
                <a:solidFill>
                  <a:srgbClr val="FF6A3D"/>
                </a:solidFill>
                <a:latin typeface="Amazon Ember Display" pitchFamily="34" charset="0"/>
                <a:ea typeface="Amazon Ember Display" pitchFamily="34" charset="-122"/>
                <a:cs typeface="Amazon Ember Display" pitchFamily="34" charset="-120"/>
              </a:rPr>
              <a:t>人眼检查：新增条目基本有原文依据；结论是覆盖关注点扩大，不是“质量提升 3 倍”。</a:t>
            </a:r>
            <a:endParaRPr lang="en-US" sz="1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SYNTHESIS</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16</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三个实验合起来，结论才完整</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抽象自省、Memory 生成和留出验证是三项独立实验，不是一个连续的“抽取方法二”。</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64208"/>
          <a:ext cx="11064240" cy="3566160"/>
        </p:xfrm>
        <a:graphic>
          <a:graphicData uri="http://schemas.openxmlformats.org/drawingml/2006/table">
            <a:tbl>
              <a:tblPr/>
              <a:tblGrid>
                <a:gridCol w="1691640"/>
                <a:gridCol w="3063240"/>
                <a:gridCol w="3154680"/>
                <a:gridCol w="3154680"/>
              </a:tblGrid>
              <a:tr h="420624">
                <a:tc>
                  <a:txBody>
                    <a:bodyPr/>
                    <a:lstStyle/>
                    <a:p>
                      <a:pPr indent="0" marL="0">
                        <a:buNone/>
                      </a:pPr>
                      <a:r>
                        <a:rPr lang="en-US" sz="1250" b="1" dirty="0">
                          <a:solidFill>
                            <a:srgbClr val="FFFFFF"/>
                          </a:solidFill>
                          <a:latin typeface="Microsoft YaHei" pitchFamily="34" charset="0"/>
                          <a:ea typeface="Microsoft YaHei" pitchFamily="34" charset="-122"/>
                          <a:cs typeface="Microsoft YaHei" pitchFamily="34" charset="-120"/>
                        </a:rPr>
                        <a:t>实验</a:t>
                      </a:r>
                      <a:endParaRPr lang="en-US" sz="1250" dirty="0">
                        <a:latin typeface="Microsoft YaHei" charset="0"/>
                        <a:ea typeface="Microsoft YaHei" charset="0"/>
                        <a:cs typeface="Microsoft YaHei" charset="0"/>
                      </a:endParaRPr>
                    </a:p>
                  </a:txBody>
                  <a:tcPr marL="91440" marR="91440" marT="45720" marB="45720">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073E5"/>
                    </a:solidFill>
                  </a:tcPr>
                </a:tc>
                <a:tc>
                  <a:txBody>
                    <a:bodyPr/>
                    <a:lstStyle/>
                    <a:p>
                      <a:pPr indent="0" marL="0">
                        <a:buNone/>
                      </a:pPr>
                      <a:r>
                        <a:rPr lang="en-US" sz="1250" b="1" dirty="0">
                          <a:solidFill>
                            <a:srgbClr val="FFFFFF"/>
                          </a:solidFill>
                          <a:latin typeface="Microsoft YaHei" pitchFamily="34" charset="0"/>
                          <a:ea typeface="Microsoft YaHei" pitchFamily="34" charset="-122"/>
                          <a:cs typeface="Microsoft YaHei" pitchFamily="34" charset="-120"/>
                        </a:rPr>
                        <a:t>实验一 · 学习信号</a:t>
                      </a:r>
                      <a:endParaRPr lang="en-US" sz="1250" dirty="0">
                        <a:latin typeface="Microsoft YaHei" charset="0"/>
                        <a:ea typeface="Microsoft YaHei" charset="0"/>
                        <a:cs typeface="Microsoft YaHei" charset="0"/>
                      </a:endParaRPr>
                    </a:p>
                  </a:txBody>
                  <a:tcPr marL="91440" marR="91440" marT="45720" marB="45720">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073E5"/>
                    </a:solidFill>
                  </a:tcPr>
                </a:tc>
                <a:tc>
                  <a:txBody>
                    <a:bodyPr/>
                    <a:lstStyle/>
                    <a:p>
                      <a:pPr indent="0" marL="0">
                        <a:buNone/>
                      </a:pPr>
                      <a:r>
                        <a:rPr lang="en-US" sz="1250" b="1" dirty="0">
                          <a:solidFill>
                            <a:srgbClr val="FFFFFF"/>
                          </a:solidFill>
                          <a:latin typeface="Microsoft YaHei" pitchFamily="34" charset="0"/>
                          <a:ea typeface="Microsoft YaHei" pitchFamily="34" charset="-122"/>
                          <a:cs typeface="Microsoft YaHei" pitchFamily="34" charset="-120"/>
                        </a:rPr>
                        <a:t>实验二 · Memory 生成</a:t>
                      </a:r>
                      <a:endParaRPr lang="en-US" sz="1250" dirty="0">
                        <a:latin typeface="Microsoft YaHei" charset="0"/>
                        <a:ea typeface="Microsoft YaHei" charset="0"/>
                        <a:cs typeface="Microsoft YaHei" charset="0"/>
                      </a:endParaRPr>
                    </a:p>
                  </a:txBody>
                  <a:tcPr marL="91440" marR="91440" marT="45720" marB="45720">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073E5"/>
                    </a:solidFill>
                  </a:tcPr>
                </a:tc>
                <a:tc>
                  <a:txBody>
                    <a:bodyPr/>
                    <a:lstStyle/>
                    <a:p>
                      <a:pPr indent="0" marL="0">
                        <a:buNone/>
                      </a:pPr>
                      <a:r>
                        <a:rPr lang="en-US" sz="1250" b="1" dirty="0">
                          <a:solidFill>
                            <a:srgbClr val="FFFFFF"/>
                          </a:solidFill>
                          <a:latin typeface="Microsoft YaHei" pitchFamily="34" charset="0"/>
                          <a:ea typeface="Microsoft YaHei" pitchFamily="34" charset="-122"/>
                          <a:cs typeface="Microsoft YaHei" pitchFamily="34" charset="-120"/>
                        </a:rPr>
                        <a:t>实验三 · 留出验证</a:t>
                      </a:r>
                      <a:endParaRPr lang="en-US" sz="1250" dirty="0">
                        <a:latin typeface="Microsoft YaHei" charset="0"/>
                        <a:ea typeface="Microsoft YaHei" charset="0"/>
                        <a:cs typeface="Microsoft YaHei" charset="0"/>
                      </a:endParaRPr>
                    </a:p>
                  </a:txBody>
                  <a:tcPr marL="91440" marR="91440" marT="45720" marB="45720">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073E5"/>
                    </a:solidFill>
                  </a:tcPr>
                </a:tc>
              </a:tr>
              <a:tr h="457200">
                <a:tc>
                  <a:txBody>
                    <a:bodyPr/>
                    <a:lstStyle/>
                    <a:p>
                      <a:pPr indent="0" marL="0">
                        <a:buNone/>
                      </a:pPr>
                      <a:r>
                        <a:rPr lang="en-US" sz="1220" b="1" dirty="0">
                          <a:solidFill>
                            <a:srgbClr val="FFFFFF"/>
                          </a:solidFill>
                          <a:latin typeface="Microsoft YaHei" pitchFamily="34" charset="0"/>
                          <a:ea typeface="Microsoft YaHei" pitchFamily="34" charset="-122"/>
                          <a:cs typeface="Microsoft YaHei" pitchFamily="34" charset="-120"/>
                        </a:rPr>
                        <a:t>核心问题</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220" dirty="0">
                          <a:solidFill>
                            <a:srgbClr val="CFD9E4"/>
                          </a:solidFill>
                          <a:latin typeface="Microsoft YaHei" pitchFamily="34" charset="0"/>
                          <a:ea typeface="Microsoft YaHei" pitchFamily="34" charset="-122"/>
                          <a:cs typeface="Microsoft YaHei" pitchFamily="34" charset="-120"/>
                        </a:rPr>
                        <a:t>只看输出能学到什么？</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35181C"/>
                    </a:solidFill>
                  </a:tcPr>
                </a:tc>
                <a:tc>
                  <a:txBody>
                    <a:bodyPr/>
                    <a:lstStyle/>
                    <a:p>
                      <a:pPr indent="0" marL="0">
                        <a:buNone/>
                      </a:pPr>
                      <a:r>
                        <a:rPr lang="en-US" sz="1220" dirty="0">
                          <a:solidFill>
                            <a:srgbClr val="CFD9E4"/>
                          </a:solidFill>
                          <a:latin typeface="Microsoft YaHei" pitchFamily="34" charset="0"/>
                          <a:ea typeface="Microsoft YaHei" pitchFamily="34" charset="-122"/>
                          <a:cs typeface="Microsoft YaHei" pitchFamily="34" charset="-120"/>
                        </a:rPr>
                        <a:t>怎样产生可提炼轨迹？</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220" dirty="0">
                          <a:solidFill>
                            <a:srgbClr val="CFD9E4"/>
                          </a:solidFill>
                          <a:latin typeface="Microsoft YaHei" pitchFamily="34" charset="0"/>
                          <a:ea typeface="Microsoft YaHei" pitchFamily="34" charset="-122"/>
                          <a:cs typeface="Microsoft YaHei" pitchFamily="34" charset="-120"/>
                        </a:rPr>
                        <a:t>Memory 是否改变下一任务？</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r h="457200">
                <a:tc>
                  <a:txBody>
                    <a:bodyPr/>
                    <a:lstStyle/>
                    <a:p>
                      <a:pPr indent="0" marL="0">
                        <a:buNone/>
                      </a:pPr>
                      <a:r>
                        <a:rPr lang="en-US" sz="1220" b="1" dirty="0">
                          <a:solidFill>
                            <a:srgbClr val="FFFFFF"/>
                          </a:solidFill>
                          <a:latin typeface="Microsoft YaHei" pitchFamily="34" charset="0"/>
                          <a:ea typeface="Microsoft YaHei" pitchFamily="34" charset="-122"/>
                          <a:cs typeface="Microsoft YaHei" pitchFamily="34" charset="-120"/>
                        </a:rPr>
                        <a:t>执行主体</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220" dirty="0">
                          <a:solidFill>
                            <a:srgbClr val="CFD9E4"/>
                          </a:solidFill>
                          <a:latin typeface="Microsoft YaHei" pitchFamily="34" charset="0"/>
                          <a:ea typeface="Microsoft YaHei" pitchFamily="34" charset="-122"/>
                          <a:cs typeface="Microsoft YaHei" pitchFamily="34" charset="-120"/>
                        </a:rPr>
                        <a:t>应用侧 LLM 反思/合并</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35181C"/>
                    </a:solidFill>
                  </a:tcPr>
                </a:tc>
                <a:tc>
                  <a:txBody>
                    <a:bodyPr/>
                    <a:lstStyle/>
                    <a:p>
                      <a:pPr indent="0" marL="0">
                        <a:buNone/>
                      </a:pPr>
                      <a:r>
                        <a:rPr lang="en-US" sz="1220" dirty="0">
                          <a:solidFill>
                            <a:srgbClr val="CFD9E4"/>
                          </a:solidFill>
                          <a:latin typeface="Microsoft YaHei" pitchFamily="34" charset="0"/>
                          <a:ea typeface="Microsoft YaHei" pitchFamily="34" charset="-122"/>
                          <a:cs typeface="Microsoft YaHei" pitchFamily="34" charset="-120"/>
                        </a:rPr>
                        <a:t>Harness Agent + Memory System</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220" dirty="0">
                          <a:solidFill>
                            <a:srgbClr val="CFD9E4"/>
                          </a:solidFill>
                          <a:latin typeface="Microsoft YaHei" pitchFamily="34" charset="0"/>
                          <a:ea typeface="Microsoft YaHei" pitchFamily="34" charset="-122"/>
                          <a:cs typeface="Microsoft YaHei" pitchFamily="34" charset="-120"/>
                        </a:rPr>
                        <a:t>Harness Agent；Memory 开关</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r h="457200">
                <a:tc>
                  <a:txBody>
                    <a:bodyPr/>
                    <a:lstStyle/>
                    <a:p>
                      <a:pPr indent="0" marL="0">
                        <a:buNone/>
                      </a:pPr>
                      <a:r>
                        <a:rPr lang="en-US" sz="1220" b="1" dirty="0">
                          <a:solidFill>
                            <a:srgbClr val="FFFFFF"/>
                          </a:solidFill>
                          <a:latin typeface="Microsoft YaHei" pitchFamily="34" charset="0"/>
                          <a:ea typeface="Microsoft YaHei" pitchFamily="34" charset="-122"/>
                          <a:cs typeface="Microsoft YaHei" pitchFamily="34" charset="-120"/>
                        </a:rPr>
                        <a:t>输入/变量</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220" dirty="0">
                          <a:solidFill>
                            <a:srgbClr val="CFD9E4"/>
                          </a:solidFill>
                          <a:latin typeface="Microsoft YaHei" pitchFamily="34" charset="0"/>
                          <a:ea typeface="Microsoft YaHei" pitchFamily="34" charset="-122"/>
                          <a:cs typeface="Microsoft YaHei" pitchFamily="34" charset="-120"/>
                        </a:rPr>
                        <a:t>只有已抽取结果</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35181C"/>
                    </a:solidFill>
                  </a:tcPr>
                </a:tc>
                <a:tc>
                  <a:txBody>
                    <a:bodyPr/>
                    <a:lstStyle/>
                    <a:p>
                      <a:pPr indent="0" marL="0">
                        <a:buNone/>
                      </a:pPr>
                      <a:r>
                        <a:rPr lang="en-US" sz="1220" dirty="0">
                          <a:solidFill>
                            <a:srgbClr val="CFD9E4"/>
                          </a:solidFill>
                          <a:latin typeface="Microsoft YaHei" pitchFamily="34" charset="0"/>
                          <a:ea typeface="Microsoft YaHei" pitchFamily="34" charset="-122"/>
                          <a:cs typeface="Microsoft YaHei" pitchFamily="34" charset="-120"/>
                        </a:rPr>
                        <a:t>原文 + 草稿 + self_review</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220" dirty="0">
                          <a:solidFill>
                            <a:srgbClr val="CFD9E4"/>
                          </a:solidFill>
                          <a:latin typeface="Microsoft YaHei" pitchFamily="34" charset="0"/>
                          <a:ea typeface="Microsoft YaHei" pitchFamily="34" charset="-122"/>
                          <a:cs typeface="Microsoft YaHei" pitchFamily="34" charset="-120"/>
                        </a:rPr>
                        <a:t>同配置；只改变 Memory</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r h="475488">
                <a:tc>
                  <a:txBody>
                    <a:bodyPr/>
                    <a:lstStyle/>
                    <a:p>
                      <a:pPr indent="0" marL="0">
                        <a:buNone/>
                      </a:pPr>
                      <a:r>
                        <a:rPr lang="en-US" sz="1220" b="1" dirty="0">
                          <a:solidFill>
                            <a:srgbClr val="FFFFFF"/>
                          </a:solidFill>
                          <a:latin typeface="Microsoft YaHei" pitchFamily="34" charset="0"/>
                          <a:ea typeface="Microsoft YaHei" pitchFamily="34" charset="-122"/>
                          <a:cs typeface="Microsoft YaHei" pitchFamily="34" charset="-120"/>
                        </a:rPr>
                        <a:t>实际产物</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220" dirty="0">
                          <a:solidFill>
                            <a:srgbClr val="CFD9E4"/>
                          </a:solidFill>
                          <a:latin typeface="Microsoft YaHei" pitchFamily="34" charset="0"/>
                          <a:ea typeface="Microsoft YaHei" pitchFamily="34" charset="-122"/>
                          <a:cs typeface="Microsoft YaHei" pitchFamily="34" charset="-120"/>
                        </a:rPr>
                        <a:t>15 条 canonical rules</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35181C"/>
                    </a:solidFill>
                  </a:tcPr>
                </a:tc>
                <a:tc>
                  <a:txBody>
                    <a:bodyPr/>
                    <a:lstStyle/>
                    <a:p>
                      <a:pPr indent="0" marL="0">
                        <a:buNone/>
                      </a:pPr>
                      <a:r>
                        <a:rPr lang="en-US" sz="1220" dirty="0">
                          <a:solidFill>
                            <a:srgbClr val="CFD9E4"/>
                          </a:solidFill>
                          <a:latin typeface="Microsoft YaHei" pitchFamily="34" charset="0"/>
                          <a:ea typeface="Microsoft YaHei" pitchFamily="34" charset="-122"/>
                          <a:cs typeface="Microsoft YaHei" pitchFamily="34" charset="-120"/>
                        </a:rPr>
                        <a:t>1 episode + 2 reflections</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220" b="1" dirty="0">
                          <a:solidFill>
                            <a:srgbClr val="00E500"/>
                          </a:solidFill>
                          <a:latin typeface="Microsoft YaHei" pitchFamily="34" charset="0"/>
                          <a:ea typeface="Microsoft YaHei" pitchFamily="34" charset="-122"/>
                          <a:cs typeface="Microsoft YaHei" pitchFamily="34" charset="-120"/>
                        </a:rPr>
                        <a:t>31 条 vs 11 条</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r h="493776">
                <a:tc>
                  <a:txBody>
                    <a:bodyPr/>
                    <a:lstStyle/>
                    <a:p>
                      <a:pPr indent="0" marL="0">
                        <a:buNone/>
                      </a:pPr>
                      <a:r>
                        <a:rPr lang="en-US" sz="1220" b="1" dirty="0">
                          <a:solidFill>
                            <a:srgbClr val="FFFFFF"/>
                          </a:solidFill>
                          <a:latin typeface="Microsoft YaHei" pitchFamily="34" charset="0"/>
                          <a:ea typeface="Microsoft YaHei" pitchFamily="34" charset="-122"/>
                          <a:cs typeface="Microsoft YaHei" pitchFamily="34" charset="-120"/>
                        </a:rPr>
                        <a:t>观察</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220" b="1" dirty="0">
                          <a:solidFill>
                            <a:srgbClr val="FF6A3D"/>
                          </a:solidFill>
                          <a:latin typeface="Microsoft YaHei" pitchFamily="34" charset="0"/>
                          <a:ea typeface="Microsoft YaHei" pitchFamily="34" charset="-122"/>
                          <a:cs typeface="Microsoft YaHei" pitchFamily="34" charset="-120"/>
                        </a:rPr>
                        <a:t>90→102，主要拆分变细</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35181C"/>
                    </a:solidFill>
                  </a:tcPr>
                </a:tc>
                <a:tc>
                  <a:txBody>
                    <a:bodyPr/>
                    <a:lstStyle/>
                    <a:p>
                      <a:pPr indent="0" marL="0">
                        <a:buNone/>
                      </a:pPr>
                      <a:r>
                        <a:rPr lang="en-US" sz="1220" dirty="0">
                          <a:solidFill>
                            <a:srgbClr val="CFD9E4"/>
                          </a:solidFill>
                          <a:latin typeface="Microsoft YaHei" pitchFamily="34" charset="0"/>
                          <a:ea typeface="Microsoft YaHei" pitchFamily="34" charset="-122"/>
                          <a:cs typeface="Microsoft YaHei" pitchFamily="34" charset="-120"/>
                        </a:rPr>
                        <a:t>形成覆盖/遗漏处理方法</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220" b="1" dirty="0">
                          <a:solidFill>
                            <a:srgbClr val="00E500"/>
                          </a:solidFill>
                          <a:latin typeface="Microsoft YaHei" pitchFamily="34" charset="0"/>
                          <a:ea typeface="Microsoft YaHei" pitchFamily="34" charset="-122"/>
                          <a:cs typeface="Microsoft YaHei" pitchFamily="34" charset="-120"/>
                        </a:rPr>
                        <a:t>两张 BOM 被系统展开</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r h="457200">
                <a:tc>
                  <a:txBody>
                    <a:bodyPr/>
                    <a:lstStyle/>
                    <a:p>
                      <a:pPr indent="0" marL="0">
                        <a:buNone/>
                      </a:pPr>
                      <a:r>
                        <a:rPr lang="en-US" sz="1220" b="1" dirty="0">
                          <a:solidFill>
                            <a:srgbClr val="FFFFFF"/>
                          </a:solidFill>
                          <a:latin typeface="Microsoft YaHei" pitchFamily="34" charset="0"/>
                          <a:ea typeface="Microsoft YaHei" pitchFamily="34" charset="-122"/>
                          <a:cs typeface="Microsoft YaHei" pitchFamily="34" charset="-120"/>
                        </a:rPr>
                        <a:t>结论边界</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220" dirty="0">
                          <a:solidFill>
                            <a:srgbClr val="CFD9E4"/>
                          </a:solidFill>
                          <a:latin typeface="Microsoft YaHei" pitchFamily="34" charset="0"/>
                          <a:ea typeface="Microsoft YaHei" pitchFamily="34" charset="-122"/>
                          <a:cs typeface="Microsoft YaHei" pitchFamily="34" charset="-120"/>
                        </a:rPr>
                        <a:t>看不见整块遗漏</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35181C"/>
                    </a:solidFill>
                  </a:tcPr>
                </a:tc>
                <a:tc>
                  <a:txBody>
                    <a:bodyPr/>
                    <a:lstStyle/>
                    <a:p>
                      <a:pPr indent="0" marL="0">
                        <a:buNone/>
                      </a:pPr>
                      <a:r>
                        <a:rPr lang="en-US" sz="1220" dirty="0">
                          <a:solidFill>
                            <a:srgbClr val="CFD9E4"/>
                          </a:solidFill>
                          <a:latin typeface="Microsoft YaHei" pitchFamily="34" charset="0"/>
                          <a:ea typeface="Microsoft YaHei" pitchFamily="34" charset="-122"/>
                          <a:cs typeface="Microsoft YaHei" pitchFamily="34" charset="-120"/>
                        </a:rPr>
                        <a:t>证明托管 Memory 可生成</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220" dirty="0">
                          <a:solidFill>
                            <a:srgbClr val="CFD9E4"/>
                          </a:solidFill>
                          <a:latin typeface="Microsoft YaHei" pitchFamily="34" charset="0"/>
                          <a:ea typeface="Microsoft YaHei" pitchFamily="34" charset="-122"/>
                          <a:cs typeface="Microsoft YaHei" pitchFamily="34" charset="-120"/>
                        </a:rPr>
                        <a:t>证明关注点发生变化</a:t>
                      </a:r>
                      <a:endParaRPr lang="en-US" sz="122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bl>
          </a:graphicData>
        </a:graphic>
      </p:graphicFrame>
      <p:sp>
        <p:nvSpPr>
          <p:cNvPr id="9" name="Shape 5"/>
          <p:cNvSpPr/>
          <p:nvPr/>
        </p:nvSpPr>
        <p:spPr>
          <a:xfrm>
            <a:off x="566928" y="5440680"/>
            <a:ext cx="11064240" cy="777240"/>
          </a:xfrm>
          <a:prstGeom prst="roundRect">
            <a:avLst>
              <a:gd name="adj" fmla="val 9412"/>
            </a:avLst>
          </a:prstGeom>
          <a:solidFill>
            <a:srgbClr val="0B1220"/>
          </a:solidFill>
          <a:ln w="10160">
            <a:solidFill>
              <a:srgbClr val="42B4FF"/>
            </a:solidFill>
            <a:prstDash val="solid"/>
          </a:ln>
        </p:spPr>
      </p:sp>
      <p:sp>
        <p:nvSpPr>
          <p:cNvPr id="10" name="Text 6"/>
          <p:cNvSpPr/>
          <p:nvPr/>
        </p:nvSpPr>
        <p:spPr>
          <a:xfrm>
            <a:off x="822960" y="5440680"/>
            <a:ext cx="10552176" cy="777240"/>
          </a:xfrm>
          <a:prstGeom prst="rect">
            <a:avLst/>
          </a:prstGeom>
          <a:noFill/>
          <a:ln/>
        </p:spPr>
        <p:txBody>
          <a:bodyPr wrap="square" lIns="0" tIns="0" rIns="0" bIns="0" rtlCol="0" anchor="ctr"/>
          <a:lstStyle/>
          <a:p>
            <a:pPr algn="ctr" indent="0" marL="0">
              <a:buNone/>
            </a:pPr>
            <a:r>
              <a:rPr lang="en-US" sz="1650" b="1" dirty="0">
                <a:solidFill>
                  <a:srgbClr val="42B4FF"/>
                </a:solidFill>
                <a:latin typeface="Amazon Ember Display" pitchFamily="34" charset="0"/>
                <a:ea typeface="Amazon Ember Display" pitchFamily="34" charset="-122"/>
                <a:cs typeface="Amazon Ember Display" pitchFamily="34" charset="-120"/>
              </a:rPr>
              <a:t>统一结论：原文驱动的 Review 产生了可复用 Memory，并在留出文档上把 BOM 覆盖从零散变为系统展开。</a:t>
            </a:r>
            <a:endParaRPr lang="en-US" sz="1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BEST PRACTICES</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17</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结构化数据抽取的 Memory 最佳实践</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把 Memory 设计成可验证的学习回路，而不是无限累积的历史上下文。</a:t>
            </a:r>
            <a:endParaRPr lang="en-US" sz="1400" dirty="0"/>
          </a:p>
        </p:txBody>
      </p:sp>
      <p:sp>
        <p:nvSpPr>
          <p:cNvPr id="8" name="Shape 5"/>
          <p:cNvSpPr/>
          <p:nvPr/>
        </p:nvSpPr>
        <p:spPr>
          <a:xfrm>
            <a:off x="566928" y="1600200"/>
            <a:ext cx="5394960" cy="868680"/>
          </a:xfrm>
          <a:prstGeom prst="roundRect">
            <a:avLst>
              <a:gd name="adj" fmla="val 8421"/>
            </a:avLst>
          </a:prstGeom>
          <a:solidFill>
            <a:srgbClr val="1C2740"/>
          </a:solidFill>
          <a:ln w="10160">
            <a:solidFill>
              <a:srgbClr val="2E3B57"/>
            </a:solidFill>
            <a:prstDash val="solid"/>
          </a:ln>
        </p:spPr>
      </p:sp>
      <p:sp>
        <p:nvSpPr>
          <p:cNvPr id="9" name="Text 6"/>
          <p:cNvSpPr/>
          <p:nvPr/>
        </p:nvSpPr>
        <p:spPr>
          <a:xfrm>
            <a:off x="731520" y="1773936"/>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1</a:t>
            </a:r>
            <a:endParaRPr lang="en-US" sz="1500" dirty="0"/>
          </a:p>
        </p:txBody>
      </p:sp>
      <p:sp>
        <p:nvSpPr>
          <p:cNvPr id="10" name="Text 7"/>
          <p:cNvSpPr/>
          <p:nvPr/>
        </p:nvSpPr>
        <p:spPr>
          <a:xfrm>
            <a:off x="1316736" y="1719072"/>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Harness Agent · Review 看原文</a:t>
            </a:r>
            <a:endParaRPr lang="en-US" sz="1450" dirty="0"/>
          </a:p>
        </p:txBody>
      </p:sp>
      <p:sp>
        <p:nvSpPr>
          <p:cNvPr id="11" name="Text 8"/>
          <p:cNvSpPr/>
          <p:nvPr/>
        </p:nvSpPr>
        <p:spPr>
          <a:xfrm>
            <a:off x="1316736" y="2039112"/>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不要只对输出做抽象总结。</a:t>
            </a:r>
            <a:endParaRPr lang="en-US" sz="1170" dirty="0"/>
          </a:p>
        </p:txBody>
      </p:sp>
      <p:sp>
        <p:nvSpPr>
          <p:cNvPr id="12" name="Shape 9"/>
          <p:cNvSpPr/>
          <p:nvPr/>
        </p:nvSpPr>
        <p:spPr>
          <a:xfrm>
            <a:off x="6236208" y="1600200"/>
            <a:ext cx="5394960" cy="868680"/>
          </a:xfrm>
          <a:prstGeom prst="roundRect">
            <a:avLst>
              <a:gd name="adj" fmla="val 8421"/>
            </a:avLst>
          </a:prstGeom>
          <a:solidFill>
            <a:srgbClr val="1C2740"/>
          </a:solidFill>
          <a:ln w="10160">
            <a:solidFill>
              <a:srgbClr val="2E3B57"/>
            </a:solidFill>
            <a:prstDash val="solid"/>
          </a:ln>
        </p:spPr>
      </p:sp>
      <p:sp>
        <p:nvSpPr>
          <p:cNvPr id="13" name="Text 10"/>
          <p:cNvSpPr/>
          <p:nvPr/>
        </p:nvSpPr>
        <p:spPr>
          <a:xfrm>
            <a:off x="6400800" y="1773936"/>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2</a:t>
            </a:r>
            <a:endParaRPr lang="en-US" sz="1500" dirty="0"/>
          </a:p>
        </p:txBody>
      </p:sp>
      <p:sp>
        <p:nvSpPr>
          <p:cNvPr id="14" name="Text 11"/>
          <p:cNvSpPr/>
          <p:nvPr/>
        </p:nvSpPr>
        <p:spPr>
          <a:xfrm>
            <a:off x="6986016" y="1719072"/>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Harness Agent · 输出 Artifact</a:t>
            </a:r>
            <a:endParaRPr lang="en-US" sz="1450" dirty="0"/>
          </a:p>
        </p:txBody>
      </p:sp>
      <p:sp>
        <p:nvSpPr>
          <p:cNvPr id="15" name="Text 12"/>
          <p:cNvSpPr/>
          <p:nvPr/>
        </p:nvSpPr>
        <p:spPr>
          <a:xfrm>
            <a:off x="6986016" y="2039112"/>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固定 coverage / omissions / format / granularity。</a:t>
            </a:r>
            <a:endParaRPr lang="en-US" sz="1170" dirty="0"/>
          </a:p>
        </p:txBody>
      </p:sp>
      <p:sp>
        <p:nvSpPr>
          <p:cNvPr id="16" name="Shape 13"/>
          <p:cNvSpPr/>
          <p:nvPr/>
        </p:nvSpPr>
        <p:spPr>
          <a:xfrm>
            <a:off x="566928" y="2633472"/>
            <a:ext cx="5394960" cy="868680"/>
          </a:xfrm>
          <a:prstGeom prst="roundRect">
            <a:avLst>
              <a:gd name="adj" fmla="val 8421"/>
            </a:avLst>
          </a:prstGeom>
          <a:solidFill>
            <a:srgbClr val="1C2740"/>
          </a:solidFill>
          <a:ln w="10160">
            <a:solidFill>
              <a:srgbClr val="2E3B57"/>
            </a:solidFill>
            <a:prstDash val="solid"/>
          </a:ln>
        </p:spPr>
      </p:sp>
      <p:sp>
        <p:nvSpPr>
          <p:cNvPr id="17" name="Text 14"/>
          <p:cNvSpPr/>
          <p:nvPr/>
        </p:nvSpPr>
        <p:spPr>
          <a:xfrm>
            <a:off x="731520" y="2807208"/>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3</a:t>
            </a:r>
            <a:endParaRPr lang="en-US" sz="1500" dirty="0"/>
          </a:p>
        </p:txBody>
      </p:sp>
      <p:sp>
        <p:nvSpPr>
          <p:cNvPr id="18" name="Text 15"/>
          <p:cNvSpPr/>
          <p:nvPr/>
        </p:nvSpPr>
        <p:spPr>
          <a:xfrm>
            <a:off x="1316736" y="2752344"/>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Harness Agent · 产出动作</a:t>
            </a:r>
            <a:endParaRPr lang="en-US" sz="1450" dirty="0"/>
          </a:p>
        </p:txBody>
      </p:sp>
      <p:sp>
        <p:nvSpPr>
          <p:cNvPr id="19" name="Text 16"/>
          <p:cNvSpPr/>
          <p:nvPr/>
        </p:nvSpPr>
        <p:spPr>
          <a:xfrm>
            <a:off x="1316736" y="3072384"/>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生成明确、可执行的 next_actions。</a:t>
            </a:r>
            <a:endParaRPr lang="en-US" sz="1170" dirty="0"/>
          </a:p>
        </p:txBody>
      </p:sp>
      <p:sp>
        <p:nvSpPr>
          <p:cNvPr id="20" name="Shape 17"/>
          <p:cNvSpPr/>
          <p:nvPr/>
        </p:nvSpPr>
        <p:spPr>
          <a:xfrm>
            <a:off x="6236208" y="2633472"/>
            <a:ext cx="5394960" cy="868680"/>
          </a:xfrm>
          <a:prstGeom prst="roundRect">
            <a:avLst>
              <a:gd name="adj" fmla="val 8421"/>
            </a:avLst>
          </a:prstGeom>
          <a:solidFill>
            <a:srgbClr val="1C2740"/>
          </a:solidFill>
          <a:ln w="10160">
            <a:solidFill>
              <a:srgbClr val="2E3B57"/>
            </a:solidFill>
            <a:prstDash val="solid"/>
          </a:ln>
        </p:spPr>
      </p:sp>
      <p:sp>
        <p:nvSpPr>
          <p:cNvPr id="21" name="Text 18"/>
          <p:cNvSpPr/>
          <p:nvPr/>
        </p:nvSpPr>
        <p:spPr>
          <a:xfrm>
            <a:off x="6400800" y="2807208"/>
            <a:ext cx="438912" cy="438912"/>
          </a:xfrm>
          <a:prstGeom prst="ellipse">
            <a:avLst/>
          </a:prstGeom>
          <a:solidFill>
            <a:srgbClr val="FF6A3D"/>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4</a:t>
            </a:r>
            <a:endParaRPr lang="en-US" sz="1500" dirty="0"/>
          </a:p>
        </p:txBody>
      </p:sp>
      <p:sp>
        <p:nvSpPr>
          <p:cNvPr id="22" name="Text 19"/>
          <p:cNvSpPr/>
          <p:nvPr/>
        </p:nvSpPr>
        <p:spPr>
          <a:xfrm>
            <a:off x="6986016" y="2752344"/>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任务设计 · 区分问题</a:t>
            </a:r>
            <a:endParaRPr lang="en-US" sz="1450" dirty="0"/>
          </a:p>
        </p:txBody>
      </p:sp>
      <p:sp>
        <p:nvSpPr>
          <p:cNvPr id="23" name="Text 20"/>
          <p:cNvSpPr/>
          <p:nvPr/>
        </p:nvSpPr>
        <p:spPr>
          <a:xfrm>
            <a:off x="6986016" y="3072384"/>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源覆盖可自审；任务边界需要规范或 Reviewer。</a:t>
            </a:r>
            <a:endParaRPr lang="en-US" sz="1170" dirty="0"/>
          </a:p>
        </p:txBody>
      </p:sp>
      <p:sp>
        <p:nvSpPr>
          <p:cNvPr id="24" name="Shape 21"/>
          <p:cNvSpPr/>
          <p:nvPr/>
        </p:nvSpPr>
        <p:spPr>
          <a:xfrm>
            <a:off x="566928" y="3666744"/>
            <a:ext cx="5394960" cy="868680"/>
          </a:xfrm>
          <a:prstGeom prst="roundRect">
            <a:avLst>
              <a:gd name="adj" fmla="val 8421"/>
            </a:avLst>
          </a:prstGeom>
          <a:solidFill>
            <a:srgbClr val="1C2740"/>
          </a:solidFill>
          <a:ln w="10160">
            <a:solidFill>
              <a:srgbClr val="2E3B57"/>
            </a:solidFill>
            <a:prstDash val="solid"/>
          </a:ln>
        </p:spPr>
      </p:sp>
      <p:sp>
        <p:nvSpPr>
          <p:cNvPr id="25" name="Text 22"/>
          <p:cNvSpPr/>
          <p:nvPr/>
        </p:nvSpPr>
        <p:spPr>
          <a:xfrm>
            <a:off x="731520" y="3840480"/>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5</a:t>
            </a:r>
            <a:endParaRPr lang="en-US" sz="1500" dirty="0"/>
          </a:p>
        </p:txBody>
      </p:sp>
      <p:sp>
        <p:nvSpPr>
          <p:cNvPr id="26" name="Text 23"/>
          <p:cNvSpPr/>
          <p:nvPr/>
        </p:nvSpPr>
        <p:spPr>
          <a:xfrm>
            <a:off x="1316736" y="3785616"/>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Memory 内容 · 保存方法</a:t>
            </a:r>
            <a:endParaRPr lang="en-US" sz="1450" dirty="0"/>
          </a:p>
        </p:txBody>
      </p:sp>
      <p:sp>
        <p:nvSpPr>
          <p:cNvPr id="27" name="Text 24"/>
          <p:cNvSpPr/>
          <p:nvPr/>
        </p:nvSpPr>
        <p:spPr>
          <a:xfrm>
            <a:off x="1316736" y="4105656"/>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描述何时适用、检查什么、避免什么，不保存答案。</a:t>
            </a:r>
            <a:endParaRPr lang="en-US" sz="1170" dirty="0"/>
          </a:p>
        </p:txBody>
      </p:sp>
      <p:sp>
        <p:nvSpPr>
          <p:cNvPr id="28" name="Shape 25"/>
          <p:cNvSpPr/>
          <p:nvPr/>
        </p:nvSpPr>
        <p:spPr>
          <a:xfrm>
            <a:off x="6236208" y="3666744"/>
            <a:ext cx="5394960" cy="868680"/>
          </a:xfrm>
          <a:prstGeom prst="roundRect">
            <a:avLst>
              <a:gd name="adj" fmla="val 8421"/>
            </a:avLst>
          </a:prstGeom>
          <a:solidFill>
            <a:srgbClr val="1C2740"/>
          </a:solidFill>
          <a:ln w="10160">
            <a:solidFill>
              <a:srgbClr val="2E3B57"/>
            </a:solidFill>
            <a:prstDash val="solid"/>
          </a:ln>
        </p:spPr>
      </p:sp>
      <p:sp>
        <p:nvSpPr>
          <p:cNvPr id="29" name="Text 26"/>
          <p:cNvSpPr/>
          <p:nvPr/>
        </p:nvSpPr>
        <p:spPr>
          <a:xfrm>
            <a:off x="6400800" y="3840480"/>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6</a:t>
            </a:r>
            <a:endParaRPr lang="en-US" sz="1500" dirty="0"/>
          </a:p>
        </p:txBody>
      </p:sp>
      <p:sp>
        <p:nvSpPr>
          <p:cNvPr id="30" name="Text 27"/>
          <p:cNvSpPr/>
          <p:nvPr/>
        </p:nvSpPr>
        <p:spPr>
          <a:xfrm>
            <a:off x="6986016" y="3785616"/>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Memory System · 区分 Records</a:t>
            </a:r>
            <a:endParaRPr lang="en-US" sz="1450" dirty="0"/>
          </a:p>
        </p:txBody>
      </p:sp>
      <p:sp>
        <p:nvSpPr>
          <p:cNvPr id="31" name="Text 28"/>
          <p:cNvSpPr/>
          <p:nvPr/>
        </p:nvSpPr>
        <p:spPr>
          <a:xfrm>
            <a:off x="6986016" y="4105656"/>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Episode 记录一次任务；Reflection 沉淀跨任务方法。</a:t>
            </a:r>
            <a:endParaRPr lang="en-US" sz="1170" dirty="0"/>
          </a:p>
        </p:txBody>
      </p:sp>
      <p:sp>
        <p:nvSpPr>
          <p:cNvPr id="32" name="Shape 29"/>
          <p:cNvSpPr/>
          <p:nvPr/>
        </p:nvSpPr>
        <p:spPr>
          <a:xfrm>
            <a:off x="566928" y="4700016"/>
            <a:ext cx="5394960" cy="868680"/>
          </a:xfrm>
          <a:prstGeom prst="roundRect">
            <a:avLst>
              <a:gd name="adj" fmla="val 8421"/>
            </a:avLst>
          </a:prstGeom>
          <a:solidFill>
            <a:srgbClr val="1C2740"/>
          </a:solidFill>
          <a:ln w="10160">
            <a:solidFill>
              <a:srgbClr val="2E3B57"/>
            </a:solidFill>
            <a:prstDash val="solid"/>
          </a:ln>
        </p:spPr>
      </p:sp>
      <p:sp>
        <p:nvSpPr>
          <p:cNvPr id="33" name="Text 30"/>
          <p:cNvSpPr/>
          <p:nvPr/>
        </p:nvSpPr>
        <p:spPr>
          <a:xfrm>
            <a:off x="731520" y="4873752"/>
            <a:ext cx="438912" cy="438912"/>
          </a:xfrm>
          <a:prstGeom prst="ellipse">
            <a:avLst/>
          </a:prstGeom>
          <a:solidFill>
            <a:srgbClr val="FF6A3D"/>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7</a:t>
            </a:r>
            <a:endParaRPr lang="en-US" sz="1500" dirty="0"/>
          </a:p>
        </p:txBody>
      </p:sp>
      <p:sp>
        <p:nvSpPr>
          <p:cNvPr id="34" name="Text 31"/>
          <p:cNvSpPr/>
          <p:nvPr/>
        </p:nvSpPr>
        <p:spPr>
          <a:xfrm>
            <a:off x="1316736" y="4818888"/>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Harness 配置 · 控制召回</a:t>
            </a:r>
            <a:endParaRPr lang="en-US" sz="1450" dirty="0"/>
          </a:p>
        </p:txBody>
      </p:sp>
      <p:sp>
        <p:nvSpPr>
          <p:cNvPr id="35" name="Text 32"/>
          <p:cNvSpPr/>
          <p:nvPr/>
        </p:nvSpPr>
        <p:spPr>
          <a:xfrm>
            <a:off x="1316736" y="5138928"/>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限制 topK、清理噪声、避免长 episode 撑爆上下文。</a:t>
            </a:r>
            <a:endParaRPr lang="en-US" sz="1170" dirty="0"/>
          </a:p>
        </p:txBody>
      </p:sp>
      <p:sp>
        <p:nvSpPr>
          <p:cNvPr id="36" name="Shape 33"/>
          <p:cNvSpPr/>
          <p:nvPr/>
        </p:nvSpPr>
        <p:spPr>
          <a:xfrm>
            <a:off x="6236208" y="4700016"/>
            <a:ext cx="5394960" cy="868680"/>
          </a:xfrm>
          <a:prstGeom prst="roundRect">
            <a:avLst>
              <a:gd name="adj" fmla="val 8421"/>
            </a:avLst>
          </a:prstGeom>
          <a:solidFill>
            <a:srgbClr val="1C2740"/>
          </a:solidFill>
          <a:ln w="10160">
            <a:solidFill>
              <a:srgbClr val="2E3B57"/>
            </a:solidFill>
            <a:prstDash val="solid"/>
          </a:ln>
        </p:spPr>
      </p:sp>
      <p:sp>
        <p:nvSpPr>
          <p:cNvPr id="37" name="Text 34"/>
          <p:cNvSpPr/>
          <p:nvPr/>
        </p:nvSpPr>
        <p:spPr>
          <a:xfrm>
            <a:off x="6400800" y="4873752"/>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8</a:t>
            </a:r>
            <a:endParaRPr lang="en-US" sz="1500" dirty="0"/>
          </a:p>
        </p:txBody>
      </p:sp>
      <p:sp>
        <p:nvSpPr>
          <p:cNvPr id="38" name="Text 35"/>
          <p:cNvSpPr/>
          <p:nvPr/>
        </p:nvSpPr>
        <p:spPr>
          <a:xfrm>
            <a:off x="6986016" y="4818888"/>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Evaluation · 人工校准</a:t>
            </a:r>
            <a:endParaRPr lang="en-US" sz="1450" dirty="0"/>
          </a:p>
        </p:txBody>
      </p:sp>
      <p:sp>
        <p:nvSpPr>
          <p:cNvPr id="39" name="Text 36"/>
          <p:cNvSpPr/>
          <p:nvPr/>
        </p:nvSpPr>
        <p:spPr>
          <a:xfrm>
            <a:off x="6986016" y="5138928"/>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分别检查忠实性、完整性、粒度与过度抽取。</a:t>
            </a:r>
            <a:endParaRPr lang="en-US" sz="1170" dirty="0"/>
          </a:p>
        </p:txBody>
      </p:sp>
      <p:sp>
        <p:nvSpPr>
          <p:cNvPr id="40" name="Shape 37"/>
          <p:cNvSpPr/>
          <p:nvPr/>
        </p:nvSpPr>
        <p:spPr>
          <a:xfrm>
            <a:off x="1664208" y="5650992"/>
            <a:ext cx="8869680" cy="502920"/>
          </a:xfrm>
          <a:prstGeom prst="roundRect">
            <a:avLst>
              <a:gd name="adj" fmla="val 14545"/>
            </a:avLst>
          </a:prstGeom>
          <a:solidFill>
            <a:srgbClr val="0B1220"/>
          </a:solidFill>
          <a:ln w="10160">
            <a:solidFill>
              <a:srgbClr val="42B4FF"/>
            </a:solidFill>
            <a:prstDash val="solid"/>
          </a:ln>
        </p:spPr>
      </p:sp>
      <p:sp>
        <p:nvSpPr>
          <p:cNvPr id="41" name="Text 38"/>
          <p:cNvSpPr/>
          <p:nvPr/>
        </p:nvSpPr>
        <p:spPr>
          <a:xfrm>
            <a:off x="1920240" y="5650992"/>
            <a:ext cx="8357616" cy="502920"/>
          </a:xfrm>
          <a:prstGeom prst="rect">
            <a:avLst/>
          </a:prstGeom>
          <a:noFill/>
          <a:ln/>
        </p:spPr>
        <p:txBody>
          <a:bodyPr wrap="square" lIns="0" tIns="0" rIns="0" bIns="0" rtlCol="0" anchor="ctr"/>
          <a:lstStyle/>
          <a:p>
            <a:pPr algn="ctr" indent="0" marL="0">
              <a:buNone/>
            </a:pPr>
            <a:r>
              <a:rPr lang="en-US" sz="1550" b="1" dirty="0">
                <a:solidFill>
                  <a:srgbClr val="42B4FF"/>
                </a:solidFill>
                <a:latin typeface="Amazon Ember Display" pitchFamily="34" charset="0"/>
                <a:ea typeface="Amazon Ember Display" pitchFamily="34" charset="-122"/>
                <a:cs typeface="Amazon Ember Display" pitchFamily="34" charset="-120"/>
              </a:rPr>
              <a:t>Memory 的价值不是记住历史答案，而是复用经过 Review 得到的抽取策略。</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mazon Ember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亚马逊云科技</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记忆最佳实践</dc:title>
  <dc:subject>Agent memory best practices for structured data extraction</dc:subject>
  <dc:creator>Amazon Web Services</dc:creator>
  <cp:lastModifiedBy>Amazon Web Services</cp:lastModifiedBy>
  <cp:revision>1</cp:revision>
  <dcterms:created xsi:type="dcterms:W3CDTF">2026-09-11T15:32:29Z</dcterms:created>
  <dcterms:modified xsi:type="dcterms:W3CDTF">2026-09-11T15:32:29Z</dcterms:modified>
</cp:coreProperties>
</file>